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1"/>
  </p:notesMasterIdLst>
  <p:sldIdLst>
    <p:sldId id="256" r:id="rId2"/>
    <p:sldId id="270" r:id="rId3"/>
    <p:sldId id="322" r:id="rId4"/>
    <p:sldId id="323" r:id="rId5"/>
    <p:sldId id="324" r:id="rId6"/>
    <p:sldId id="325" r:id="rId7"/>
    <p:sldId id="444" r:id="rId8"/>
    <p:sldId id="326" r:id="rId9"/>
    <p:sldId id="327" r:id="rId10"/>
    <p:sldId id="328" r:id="rId11"/>
    <p:sldId id="329" r:id="rId12"/>
    <p:sldId id="333" r:id="rId13"/>
    <p:sldId id="334" r:id="rId14"/>
    <p:sldId id="337" r:id="rId15"/>
    <p:sldId id="335" r:id="rId16"/>
    <p:sldId id="338" r:id="rId17"/>
    <p:sldId id="441" r:id="rId18"/>
    <p:sldId id="445" r:id="rId19"/>
    <p:sldId id="339" r:id="rId20"/>
    <p:sldId id="446" r:id="rId21"/>
    <p:sldId id="340" r:id="rId22"/>
    <p:sldId id="341" r:id="rId23"/>
    <p:sldId id="442" r:id="rId24"/>
    <p:sldId id="443" r:id="rId25"/>
    <p:sldId id="266" r:id="rId26"/>
    <p:sldId id="399" r:id="rId27"/>
    <p:sldId id="400" r:id="rId28"/>
    <p:sldId id="401" r:id="rId29"/>
    <p:sldId id="387" r:id="rId30"/>
    <p:sldId id="388" r:id="rId31"/>
    <p:sldId id="447" r:id="rId32"/>
    <p:sldId id="449" r:id="rId33"/>
    <p:sldId id="450" r:id="rId34"/>
    <p:sldId id="439" r:id="rId35"/>
    <p:sldId id="392" r:id="rId36"/>
    <p:sldId id="451" r:id="rId37"/>
    <p:sldId id="452" r:id="rId38"/>
    <p:sldId id="417" r:id="rId39"/>
    <p:sldId id="396" r:id="rId40"/>
    <p:sldId id="435" r:id="rId41"/>
    <p:sldId id="397" r:id="rId42"/>
    <p:sldId id="382" r:id="rId43"/>
    <p:sldId id="438" r:id="rId44"/>
    <p:sldId id="288" r:id="rId45"/>
    <p:sldId id="386" r:id="rId46"/>
    <p:sldId id="436" r:id="rId47"/>
    <p:sldId id="389" r:id="rId48"/>
    <p:sldId id="384" r:id="rId49"/>
    <p:sldId id="43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4472C4"/>
    <a:srgbClr val="FFD966"/>
    <a:srgbClr val="ADB9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C6BA71-5A54-4B5E-A474-2BF7EE76CD2A}" type="datetimeFigureOut">
              <a:rPr kumimoji="1" lang="ja-JP" altLang="en-US" smtClean="0"/>
              <a:t>2026/10/7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2DCB0-0920-4EE1-92EB-0BA6E39797C9}" type="slidenum">
              <a:rPr kumimoji="1" lang="ja-JP" altLang="en-US" smtClean="0"/>
              <a:t>‹#›</a:t>
            </a:fld>
            <a:endParaRPr kumimoji="1" lang="ja-JP" altLang="en-US"/>
          </a:p>
        </p:txBody>
      </p:sp>
    </p:spTree>
    <p:extLst>
      <p:ext uri="{BB962C8B-B14F-4D97-AF65-F5344CB8AC3E}">
        <p14:creationId xmlns:p14="http://schemas.microsoft.com/office/powerpoint/2010/main" val="377575915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852051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406177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4209993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719793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668381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95851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3312549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60232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397978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207362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33348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BC02D7-CBD1-4D33-B166-78A898DF0F76}" type="datetimeFigureOut">
              <a:rPr kumimoji="1" lang="ja-JP" altLang="en-US" smtClean="0"/>
              <a:t>2026/10/7</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3477866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http://www.randpy.tokyo/entry/decision_tree_theory" TargetMode="External"/><Relationship Id="rId2" Type="http://schemas.openxmlformats.org/officeDocument/2006/relationships/hyperlink" Target="https://qiita.com/3000manJPY/items/ef7495960f472ec14377" TargetMode="External"/><Relationship Id="rId1" Type="http://schemas.openxmlformats.org/officeDocument/2006/relationships/slideLayout" Target="../slideLayouts/slideLayout7.xml"/><Relationship Id="rId5" Type="http://schemas.openxmlformats.org/officeDocument/2006/relationships/image" Target="../media/image210.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8" Type="http://schemas.openxmlformats.org/officeDocument/2006/relationships/image" Target="../media/image261.png"/><Relationship Id="rId3" Type="http://schemas.openxmlformats.org/officeDocument/2006/relationships/image" Target="../media/image232.png"/><Relationship Id="rId7" Type="http://schemas.openxmlformats.org/officeDocument/2006/relationships/image" Target="../media/image250.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40.png"/><Relationship Id="rId11" Type="http://schemas.openxmlformats.org/officeDocument/2006/relationships/image" Target="../media/image29.png"/><Relationship Id="rId5" Type="http://schemas.openxmlformats.org/officeDocument/2006/relationships/image" Target="../media/image27.png"/><Relationship Id="rId10" Type="http://schemas.openxmlformats.org/officeDocument/2006/relationships/image" Target="../media/image28.png"/><Relationship Id="rId4" Type="http://schemas.openxmlformats.org/officeDocument/2006/relationships/image" Target="../media/image200.png"/><Relationship Id="rId9" Type="http://schemas.openxmlformats.org/officeDocument/2006/relationships/image" Target="../media/image270.png"/></Relationships>
</file>

<file path=ppt/slides/_rels/slide46.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11.png"/><Relationship Id="rId1" Type="http://schemas.openxmlformats.org/officeDocument/2006/relationships/slideLayout" Target="../slideLayouts/slideLayout7.xml"/><Relationship Id="rId4" Type="http://schemas.openxmlformats.org/officeDocument/2006/relationships/image" Target="../media/image2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60.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0DF4DB4-0544-435C-992C-E0E55AA5E14F}"/>
              </a:ext>
            </a:extLst>
          </p:cNvPr>
          <p:cNvSpPr txBox="1"/>
          <p:nvPr/>
        </p:nvSpPr>
        <p:spPr>
          <a:xfrm>
            <a:off x="1147666" y="2721114"/>
            <a:ext cx="10090138" cy="707886"/>
          </a:xfrm>
          <a:prstGeom prst="rect">
            <a:avLst/>
          </a:prstGeom>
          <a:noFill/>
        </p:spPr>
        <p:txBody>
          <a:bodyPr wrap="square" rtlCol="0">
            <a:spAutoFit/>
          </a:bodyPr>
          <a:lstStyle/>
          <a:p>
            <a:r>
              <a:rPr kumimoji="1" lang="ja-JP" altLang="en-US" sz="4000" b="1" dirty="0">
                <a:latin typeface="メイリオ" panose="020B0604030504040204" pitchFamily="50" charset="-128"/>
                <a:ea typeface="メイリオ" panose="020B0604030504040204" pitchFamily="50" charset="-128"/>
              </a:rPr>
              <a:t>決定木</a:t>
            </a:r>
          </a:p>
        </p:txBody>
      </p:sp>
    </p:spTree>
    <p:extLst>
      <p:ext uri="{BB962C8B-B14F-4D97-AF65-F5344CB8AC3E}">
        <p14:creationId xmlns:p14="http://schemas.microsoft.com/office/powerpoint/2010/main" val="117530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963B72A-86BE-44FE-800E-74AB537BADF0}"/>
              </a:ext>
            </a:extLst>
          </p:cNvPr>
          <p:cNvSpPr txBox="1"/>
          <p:nvPr/>
        </p:nvSpPr>
        <p:spPr>
          <a:xfrm>
            <a:off x="119549" y="420656"/>
            <a:ext cx="6971364" cy="584775"/>
          </a:xfrm>
          <a:prstGeom prst="rect">
            <a:avLst/>
          </a:prstGeom>
          <a:noFill/>
        </p:spPr>
        <p:txBody>
          <a:bodyPr wrap="square" rtlCol="0">
            <a:spAutoFit/>
          </a:bodyPr>
          <a:lstStyle/>
          <a:p>
            <a:pPr algn="ctr"/>
            <a:r>
              <a:rPr kumimoji="1" lang="ja-JP" altLang="en-US" sz="3200" b="1" dirty="0">
                <a:latin typeface="メイリオ" panose="020B0604030504040204" pitchFamily="50" charset="-128"/>
                <a:ea typeface="メイリオ" panose="020B0604030504040204" pitchFamily="50" charset="-128"/>
              </a:rPr>
              <a:t>教師あり機械学習モデルのいろいろ</a:t>
            </a:r>
          </a:p>
        </p:txBody>
      </p:sp>
      <p:sp>
        <p:nvSpPr>
          <p:cNvPr id="3" name="テキスト ボックス 2">
            <a:extLst>
              <a:ext uri="{FF2B5EF4-FFF2-40B4-BE49-F238E27FC236}">
                <a16:creationId xmlns:a16="http://schemas.microsoft.com/office/drawing/2014/main" id="{71F23F4D-067B-4743-9A20-2D3ED1B09D51}"/>
              </a:ext>
            </a:extLst>
          </p:cNvPr>
          <p:cNvSpPr txBox="1"/>
          <p:nvPr/>
        </p:nvSpPr>
        <p:spPr>
          <a:xfrm>
            <a:off x="3509963" y="2159071"/>
            <a:ext cx="5172075" cy="1938992"/>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Naïve Bayes</a:t>
            </a:r>
          </a:p>
          <a:p>
            <a:pPr algn="l"/>
            <a:r>
              <a:rPr kumimoji="1" lang="ja-JP" altLang="en-US" sz="2400" dirty="0">
                <a:latin typeface="メイリオ" panose="020B0604030504040204" pitchFamily="50" charset="-128"/>
                <a:ea typeface="メイリオ" panose="020B0604030504040204" pitchFamily="50" charset="-128"/>
              </a:rPr>
              <a:t>ロジスティック回帰</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決定木・ランダムフォレスト</a:t>
            </a:r>
            <a:endParaRPr kumimoji="1" lang="en-US" altLang="ja-JP" sz="2400" dirty="0">
              <a:latin typeface="メイリオ" panose="020B0604030504040204" pitchFamily="50" charset="-128"/>
              <a:ea typeface="メイリオ" panose="020B0604030504040204" pitchFamily="50" charset="-128"/>
            </a:endParaRPr>
          </a:p>
          <a:p>
            <a:pPr algn="l"/>
            <a:r>
              <a:rPr kumimoji="1" lang="en-US" altLang="ja-JP" sz="2400" dirty="0">
                <a:latin typeface="メイリオ" panose="020B0604030504040204" pitchFamily="50" charset="-128"/>
                <a:ea typeface="メイリオ" panose="020B0604030504040204" pitchFamily="50" charset="-128"/>
              </a:rPr>
              <a:t>Support Vector Machine</a:t>
            </a:r>
          </a:p>
          <a:p>
            <a:pPr algn="l"/>
            <a:r>
              <a:rPr kumimoji="1" lang="ja-JP" altLang="en-US" sz="24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43937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B715C47-EF65-47D1-8D24-24685E35291E}"/>
              </a:ext>
            </a:extLst>
          </p:cNvPr>
          <p:cNvSpPr txBox="1"/>
          <p:nvPr/>
        </p:nvSpPr>
        <p:spPr>
          <a:xfrm>
            <a:off x="510463" y="536986"/>
            <a:ext cx="5386026" cy="1077218"/>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決定木は</a:t>
            </a:r>
            <a:r>
              <a:rPr kumimoji="1" lang="en-US" altLang="ja-JP" sz="3200" b="1" dirty="0">
                <a:latin typeface="メイリオ" panose="020B0604030504040204" pitchFamily="50" charset="-128"/>
                <a:ea typeface="メイリオ" panose="020B0604030504040204" pitchFamily="50" charset="-128"/>
              </a:rPr>
              <a:t>yes/no question</a:t>
            </a:r>
          </a:p>
          <a:p>
            <a:pPr algn="l"/>
            <a:endParaRPr kumimoji="1" lang="ja-JP" altLang="en-US" sz="3200" b="1"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48792841-79B5-443A-8249-951938F5990B}"/>
              </a:ext>
            </a:extLst>
          </p:cNvPr>
          <p:cNvSpPr txBox="1"/>
          <p:nvPr/>
        </p:nvSpPr>
        <p:spPr>
          <a:xfrm>
            <a:off x="729149" y="1210703"/>
            <a:ext cx="6609502"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Yes/no question</a:t>
            </a:r>
            <a:r>
              <a:rPr kumimoji="1" lang="ja-JP" altLang="en-US" sz="2400" dirty="0">
                <a:latin typeface="メイリオ" panose="020B0604030504040204" pitchFamily="50" charset="-128"/>
                <a:ea typeface="メイリオ" panose="020B0604030504040204" pitchFamily="50" charset="-128"/>
              </a:rPr>
              <a:t>を繰り返すと、分類ができる</a:t>
            </a:r>
          </a:p>
        </p:txBody>
      </p:sp>
      <p:sp>
        <p:nvSpPr>
          <p:cNvPr id="2" name="テキスト ボックス 1">
            <a:extLst>
              <a:ext uri="{FF2B5EF4-FFF2-40B4-BE49-F238E27FC236}">
                <a16:creationId xmlns:a16="http://schemas.microsoft.com/office/drawing/2014/main" id="{3F4957C5-6698-EE87-B5E1-F303C4F5CBAC}"/>
              </a:ext>
            </a:extLst>
          </p:cNvPr>
          <p:cNvSpPr txBox="1"/>
          <p:nvPr/>
        </p:nvSpPr>
        <p:spPr>
          <a:xfrm>
            <a:off x="971550" y="2219325"/>
            <a:ext cx="3877985" cy="646331"/>
          </a:xfrm>
          <a:prstGeom prst="rect">
            <a:avLst/>
          </a:prstGeom>
          <a:noFill/>
        </p:spPr>
        <p:txBody>
          <a:bodyPr wrap="none" rtlCol="0">
            <a:spAutoFit/>
          </a:bodyPr>
          <a:lstStyle/>
          <a:p>
            <a:r>
              <a:rPr kumimoji="1" lang="ja-JP" altLang="en-US" sz="3600" dirty="0"/>
              <a:t>□のなかは特徴量</a:t>
            </a:r>
          </a:p>
        </p:txBody>
      </p:sp>
      <p:sp>
        <p:nvSpPr>
          <p:cNvPr id="5" name="テキスト ボックス 4">
            <a:extLst>
              <a:ext uri="{FF2B5EF4-FFF2-40B4-BE49-F238E27FC236}">
                <a16:creationId xmlns:a16="http://schemas.microsoft.com/office/drawing/2014/main" id="{32333AA8-C4FB-EBDA-DBF0-F2F8E88D54F1}"/>
              </a:ext>
            </a:extLst>
          </p:cNvPr>
          <p:cNvSpPr txBox="1"/>
          <p:nvPr/>
        </p:nvSpPr>
        <p:spPr>
          <a:xfrm>
            <a:off x="6238026" y="2639310"/>
            <a:ext cx="141577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翼がある</a:t>
            </a:r>
          </a:p>
        </p:txBody>
      </p:sp>
      <p:sp>
        <p:nvSpPr>
          <p:cNvPr id="7" name="テキスト ボックス 6">
            <a:extLst>
              <a:ext uri="{FF2B5EF4-FFF2-40B4-BE49-F238E27FC236}">
                <a16:creationId xmlns:a16="http://schemas.microsoft.com/office/drawing/2014/main" id="{06F0D729-702F-A499-8110-C415DC747554}"/>
              </a:ext>
            </a:extLst>
          </p:cNvPr>
          <p:cNvSpPr txBox="1"/>
          <p:nvPr/>
        </p:nvSpPr>
        <p:spPr>
          <a:xfrm>
            <a:off x="4562222" y="3810051"/>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飛べる</a:t>
            </a:r>
          </a:p>
        </p:txBody>
      </p:sp>
      <p:sp>
        <p:nvSpPr>
          <p:cNvPr id="8" name="テキスト ボックス 7">
            <a:extLst>
              <a:ext uri="{FF2B5EF4-FFF2-40B4-BE49-F238E27FC236}">
                <a16:creationId xmlns:a16="http://schemas.microsoft.com/office/drawing/2014/main" id="{68365C62-8AD7-622F-A595-AB5709F5C924}"/>
              </a:ext>
            </a:extLst>
          </p:cNvPr>
          <p:cNvSpPr txBox="1"/>
          <p:nvPr/>
        </p:nvSpPr>
        <p:spPr>
          <a:xfrm>
            <a:off x="7868335" y="3810051"/>
            <a:ext cx="172354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ヒレがある</a:t>
            </a:r>
          </a:p>
        </p:txBody>
      </p:sp>
      <p:sp>
        <p:nvSpPr>
          <p:cNvPr id="9" name="テキスト ボックス 8">
            <a:extLst>
              <a:ext uri="{FF2B5EF4-FFF2-40B4-BE49-F238E27FC236}">
                <a16:creationId xmlns:a16="http://schemas.microsoft.com/office/drawing/2014/main" id="{46904EE0-18DC-732B-5ED8-006F6BD26FAE}"/>
              </a:ext>
            </a:extLst>
          </p:cNvPr>
          <p:cNvSpPr txBox="1"/>
          <p:nvPr/>
        </p:nvSpPr>
        <p:spPr>
          <a:xfrm>
            <a:off x="2540049" y="4992651"/>
            <a:ext cx="185339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足の本数</a:t>
            </a:r>
            <a:r>
              <a:rPr kumimoji="1" lang="en-US" altLang="ja-JP" sz="2400" dirty="0">
                <a:latin typeface="メイリオ" panose="020B0604030504040204" pitchFamily="50" charset="-128"/>
                <a:ea typeface="メイリオ" panose="020B0604030504040204" pitchFamily="50" charset="-128"/>
              </a:rPr>
              <a:t>&gt;2</a:t>
            </a:r>
            <a:endParaRPr kumimoji="1" lang="ja-JP" altLang="en-US" sz="2400" dirty="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21BE2418-E81E-0A4B-228D-06A40CEC102F}"/>
              </a:ext>
            </a:extLst>
          </p:cNvPr>
          <p:cNvSpPr/>
          <p:nvPr/>
        </p:nvSpPr>
        <p:spPr>
          <a:xfrm>
            <a:off x="6023488" y="2490638"/>
            <a:ext cx="1844847" cy="6463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B739DAAB-A6EE-D59D-9EFF-E5010DE62624}"/>
              </a:ext>
            </a:extLst>
          </p:cNvPr>
          <p:cNvSpPr/>
          <p:nvPr/>
        </p:nvSpPr>
        <p:spPr>
          <a:xfrm>
            <a:off x="2564872" y="4867455"/>
            <a:ext cx="1844847" cy="6463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4F70D04F-D979-9F47-AC13-FF9126070A87}"/>
              </a:ext>
            </a:extLst>
          </p:cNvPr>
          <p:cNvSpPr/>
          <p:nvPr/>
        </p:nvSpPr>
        <p:spPr>
          <a:xfrm>
            <a:off x="7806197" y="3704973"/>
            <a:ext cx="1844847" cy="6463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903B82C3-75EA-CC05-8B5B-45D68F462E54}"/>
              </a:ext>
            </a:extLst>
          </p:cNvPr>
          <p:cNvSpPr/>
          <p:nvPr/>
        </p:nvSpPr>
        <p:spPr>
          <a:xfrm>
            <a:off x="4193796" y="3704973"/>
            <a:ext cx="1844847" cy="6463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D0A8271B-F2A1-0380-58B1-351F66A59F61}"/>
              </a:ext>
            </a:extLst>
          </p:cNvPr>
          <p:cNvCxnSpPr>
            <a:stCxn id="10" idx="2"/>
            <a:endCxn id="13" idx="0"/>
          </p:cNvCxnSpPr>
          <p:nvPr/>
        </p:nvCxnSpPr>
        <p:spPr>
          <a:xfrm flipH="1">
            <a:off x="5116220" y="3136969"/>
            <a:ext cx="1829692" cy="568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57E4C005-519C-4DF6-756E-19D75810B1E8}"/>
              </a:ext>
            </a:extLst>
          </p:cNvPr>
          <p:cNvCxnSpPr>
            <a:stCxn id="10" idx="2"/>
            <a:endCxn id="12" idx="0"/>
          </p:cNvCxnSpPr>
          <p:nvPr/>
        </p:nvCxnSpPr>
        <p:spPr>
          <a:xfrm>
            <a:off x="6945912" y="3136969"/>
            <a:ext cx="1782709" cy="568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01460B74-891B-F788-C00C-373E09D60F8F}"/>
              </a:ext>
            </a:extLst>
          </p:cNvPr>
          <p:cNvSpPr txBox="1"/>
          <p:nvPr/>
        </p:nvSpPr>
        <p:spPr>
          <a:xfrm>
            <a:off x="5530140" y="5039037"/>
            <a:ext cx="141577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ペンギン</a:t>
            </a:r>
          </a:p>
        </p:txBody>
      </p:sp>
      <p:sp>
        <p:nvSpPr>
          <p:cNvPr id="17" name="テキスト ボックス 16">
            <a:extLst>
              <a:ext uri="{FF2B5EF4-FFF2-40B4-BE49-F238E27FC236}">
                <a16:creationId xmlns:a16="http://schemas.microsoft.com/office/drawing/2014/main" id="{3CF0926A-E733-4DD3-A86E-E63A617867CD}"/>
              </a:ext>
            </a:extLst>
          </p:cNvPr>
          <p:cNvSpPr txBox="1"/>
          <p:nvPr/>
        </p:nvSpPr>
        <p:spPr>
          <a:xfrm>
            <a:off x="1470681" y="6254116"/>
            <a:ext cx="141577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ムササビ</a:t>
            </a:r>
          </a:p>
        </p:txBody>
      </p:sp>
      <p:sp>
        <p:nvSpPr>
          <p:cNvPr id="18" name="テキスト ボックス 17">
            <a:extLst>
              <a:ext uri="{FF2B5EF4-FFF2-40B4-BE49-F238E27FC236}">
                <a16:creationId xmlns:a16="http://schemas.microsoft.com/office/drawing/2014/main" id="{EBAB3E2A-26A3-6DFB-3F84-2FC80AD803C4}"/>
              </a:ext>
            </a:extLst>
          </p:cNvPr>
          <p:cNvSpPr txBox="1"/>
          <p:nvPr/>
        </p:nvSpPr>
        <p:spPr>
          <a:xfrm>
            <a:off x="3949411" y="6257088"/>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タカ</a:t>
            </a:r>
          </a:p>
        </p:txBody>
      </p:sp>
      <p:sp>
        <p:nvSpPr>
          <p:cNvPr id="19" name="テキスト ボックス 18">
            <a:extLst>
              <a:ext uri="{FF2B5EF4-FFF2-40B4-BE49-F238E27FC236}">
                <a16:creationId xmlns:a16="http://schemas.microsoft.com/office/drawing/2014/main" id="{C3CD4BCE-7589-7672-9CF2-ECD70FA232A1}"/>
              </a:ext>
            </a:extLst>
          </p:cNvPr>
          <p:cNvSpPr txBox="1"/>
          <p:nvPr/>
        </p:nvSpPr>
        <p:spPr>
          <a:xfrm>
            <a:off x="7560870" y="500616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イルカ</a:t>
            </a:r>
          </a:p>
        </p:txBody>
      </p:sp>
      <p:sp>
        <p:nvSpPr>
          <p:cNvPr id="20" name="テキスト ボックス 19">
            <a:extLst>
              <a:ext uri="{FF2B5EF4-FFF2-40B4-BE49-F238E27FC236}">
                <a16:creationId xmlns:a16="http://schemas.microsoft.com/office/drawing/2014/main" id="{396F9A25-625D-2D7E-A48E-EB30DEFA7254}"/>
              </a:ext>
            </a:extLst>
          </p:cNvPr>
          <p:cNvSpPr txBox="1"/>
          <p:nvPr/>
        </p:nvSpPr>
        <p:spPr>
          <a:xfrm>
            <a:off x="9724137" y="5006161"/>
            <a:ext cx="49244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熊</a:t>
            </a:r>
          </a:p>
        </p:txBody>
      </p:sp>
      <p:sp>
        <p:nvSpPr>
          <p:cNvPr id="21" name="四角形: 角を丸くする 20">
            <a:extLst>
              <a:ext uri="{FF2B5EF4-FFF2-40B4-BE49-F238E27FC236}">
                <a16:creationId xmlns:a16="http://schemas.microsoft.com/office/drawing/2014/main" id="{87794C53-7891-09FB-9DC8-6632490E176D}"/>
              </a:ext>
            </a:extLst>
          </p:cNvPr>
          <p:cNvSpPr/>
          <p:nvPr/>
        </p:nvSpPr>
        <p:spPr>
          <a:xfrm>
            <a:off x="1386706" y="6173112"/>
            <a:ext cx="1499747" cy="54266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DDA791BA-C59B-0BFE-5D68-3A6B723F0516}"/>
              </a:ext>
            </a:extLst>
          </p:cNvPr>
          <p:cNvSpPr/>
          <p:nvPr/>
        </p:nvSpPr>
        <p:spPr>
          <a:xfrm>
            <a:off x="9375297" y="4925157"/>
            <a:ext cx="1499747" cy="54266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角を丸くする 22">
            <a:extLst>
              <a:ext uri="{FF2B5EF4-FFF2-40B4-BE49-F238E27FC236}">
                <a16:creationId xmlns:a16="http://schemas.microsoft.com/office/drawing/2014/main" id="{981496FB-A140-4FAC-442C-22C12D211AEB}"/>
              </a:ext>
            </a:extLst>
          </p:cNvPr>
          <p:cNvSpPr/>
          <p:nvPr/>
        </p:nvSpPr>
        <p:spPr>
          <a:xfrm>
            <a:off x="7361126" y="4929478"/>
            <a:ext cx="1499747" cy="54266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CBD73178-C9A0-F597-D918-F2926E17FA8B}"/>
              </a:ext>
            </a:extLst>
          </p:cNvPr>
          <p:cNvSpPr/>
          <p:nvPr/>
        </p:nvSpPr>
        <p:spPr>
          <a:xfrm>
            <a:off x="5482786" y="4929478"/>
            <a:ext cx="1499747" cy="54266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0233A811-2282-A6C3-F08A-183BF26568C9}"/>
              </a:ext>
            </a:extLst>
          </p:cNvPr>
          <p:cNvSpPr/>
          <p:nvPr/>
        </p:nvSpPr>
        <p:spPr>
          <a:xfrm>
            <a:off x="3609275" y="6166191"/>
            <a:ext cx="1499747" cy="54266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矢印コネクタ 25">
            <a:extLst>
              <a:ext uri="{FF2B5EF4-FFF2-40B4-BE49-F238E27FC236}">
                <a16:creationId xmlns:a16="http://schemas.microsoft.com/office/drawing/2014/main" id="{7F535FED-2CCE-E4A8-F769-238A4AA4E61D}"/>
              </a:ext>
            </a:extLst>
          </p:cNvPr>
          <p:cNvCxnSpPr>
            <a:stCxn id="13" idx="2"/>
            <a:endCxn id="11" idx="0"/>
          </p:cNvCxnSpPr>
          <p:nvPr/>
        </p:nvCxnSpPr>
        <p:spPr>
          <a:xfrm flipH="1">
            <a:off x="3487296" y="4351304"/>
            <a:ext cx="1628924" cy="516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A755181-0C5F-B7AD-0532-70CC0C0E2181}"/>
              </a:ext>
            </a:extLst>
          </p:cNvPr>
          <p:cNvCxnSpPr>
            <a:stCxn id="11" idx="2"/>
            <a:endCxn id="21" idx="0"/>
          </p:cNvCxnSpPr>
          <p:nvPr/>
        </p:nvCxnSpPr>
        <p:spPr>
          <a:xfrm flipH="1">
            <a:off x="2136580" y="5513786"/>
            <a:ext cx="1350716" cy="659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11E89BBB-24AD-9896-3385-E24EB3C3A6A8}"/>
              </a:ext>
            </a:extLst>
          </p:cNvPr>
          <p:cNvCxnSpPr>
            <a:stCxn id="11" idx="2"/>
            <a:endCxn id="25" idx="0"/>
          </p:cNvCxnSpPr>
          <p:nvPr/>
        </p:nvCxnSpPr>
        <p:spPr>
          <a:xfrm>
            <a:off x="3487296" y="5513786"/>
            <a:ext cx="871853" cy="652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AFDDE8DE-EC22-403F-9595-B80C5C02AF52}"/>
              </a:ext>
            </a:extLst>
          </p:cNvPr>
          <p:cNvCxnSpPr>
            <a:stCxn id="13" idx="2"/>
            <a:endCxn id="24" idx="0"/>
          </p:cNvCxnSpPr>
          <p:nvPr/>
        </p:nvCxnSpPr>
        <p:spPr>
          <a:xfrm>
            <a:off x="5116220" y="4351304"/>
            <a:ext cx="1116440" cy="578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9B2A5B51-D252-93F6-75B3-F9DF14547751}"/>
              </a:ext>
            </a:extLst>
          </p:cNvPr>
          <p:cNvCxnSpPr>
            <a:stCxn id="12" idx="2"/>
            <a:endCxn id="23" idx="0"/>
          </p:cNvCxnSpPr>
          <p:nvPr/>
        </p:nvCxnSpPr>
        <p:spPr>
          <a:xfrm flipH="1">
            <a:off x="8111000" y="4351304"/>
            <a:ext cx="617621" cy="578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469089DB-1AA7-D452-08D7-2714F371E3A2}"/>
              </a:ext>
            </a:extLst>
          </p:cNvPr>
          <p:cNvCxnSpPr>
            <a:stCxn id="12" idx="2"/>
            <a:endCxn id="22" idx="0"/>
          </p:cNvCxnSpPr>
          <p:nvPr/>
        </p:nvCxnSpPr>
        <p:spPr>
          <a:xfrm>
            <a:off x="8728621" y="4351304"/>
            <a:ext cx="1396550" cy="573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B3907422-5987-375F-E29F-ACA9827042C2}"/>
              </a:ext>
            </a:extLst>
          </p:cNvPr>
          <p:cNvSpPr txBox="1"/>
          <p:nvPr/>
        </p:nvSpPr>
        <p:spPr>
          <a:xfrm>
            <a:off x="5482786" y="3232557"/>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094E0746-42D3-4DCD-F108-5DF769F154A7}"/>
              </a:ext>
            </a:extLst>
          </p:cNvPr>
          <p:cNvSpPr txBox="1"/>
          <p:nvPr/>
        </p:nvSpPr>
        <p:spPr>
          <a:xfrm>
            <a:off x="7589510" y="3229302"/>
            <a:ext cx="104297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 </a:t>
            </a:r>
            <a:endParaRPr kumimoji="1" lang="ja-JP" altLang="en-US" sz="2400" dirty="0">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4C4D8AFB-C2EF-F140-E3C0-77985DC29960}"/>
              </a:ext>
            </a:extLst>
          </p:cNvPr>
          <p:cNvSpPr txBox="1"/>
          <p:nvPr/>
        </p:nvSpPr>
        <p:spPr>
          <a:xfrm>
            <a:off x="3547760" y="4391784"/>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35" name="テキスト ボックス 34">
            <a:extLst>
              <a:ext uri="{FF2B5EF4-FFF2-40B4-BE49-F238E27FC236}">
                <a16:creationId xmlns:a16="http://schemas.microsoft.com/office/drawing/2014/main" id="{E875D3D3-ABEC-90F5-6081-AC38BE2FE787}"/>
              </a:ext>
            </a:extLst>
          </p:cNvPr>
          <p:cNvSpPr txBox="1"/>
          <p:nvPr/>
        </p:nvSpPr>
        <p:spPr>
          <a:xfrm>
            <a:off x="5654484" y="4388529"/>
            <a:ext cx="104297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 </a:t>
            </a:r>
            <a:endParaRPr kumimoji="1" lang="ja-JP" altLang="en-US" sz="2400"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D169B9E2-BA87-60E8-8012-CAE3B24624AD}"/>
              </a:ext>
            </a:extLst>
          </p:cNvPr>
          <p:cNvSpPr txBox="1"/>
          <p:nvPr/>
        </p:nvSpPr>
        <p:spPr>
          <a:xfrm>
            <a:off x="7546694" y="4444682"/>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37" name="テキスト ボックス 36">
            <a:extLst>
              <a:ext uri="{FF2B5EF4-FFF2-40B4-BE49-F238E27FC236}">
                <a16:creationId xmlns:a16="http://schemas.microsoft.com/office/drawing/2014/main" id="{E83AD04E-454A-4E84-3106-98D96192EC96}"/>
              </a:ext>
            </a:extLst>
          </p:cNvPr>
          <p:cNvSpPr txBox="1"/>
          <p:nvPr/>
        </p:nvSpPr>
        <p:spPr>
          <a:xfrm>
            <a:off x="9653418" y="4441427"/>
            <a:ext cx="104297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 </a:t>
            </a:r>
            <a:endParaRPr kumimoji="1" lang="ja-JP" altLang="en-US" sz="2400"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287DB68E-6B44-3A37-5B2A-BF9D657999B5}"/>
              </a:ext>
            </a:extLst>
          </p:cNvPr>
          <p:cNvSpPr txBox="1"/>
          <p:nvPr/>
        </p:nvSpPr>
        <p:spPr>
          <a:xfrm>
            <a:off x="1932902" y="5651977"/>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B743C2E3-4479-A86D-F2FB-25B23B1DA02C}"/>
              </a:ext>
            </a:extLst>
          </p:cNvPr>
          <p:cNvSpPr txBox="1"/>
          <p:nvPr/>
        </p:nvSpPr>
        <p:spPr>
          <a:xfrm>
            <a:off x="4039626" y="5648722"/>
            <a:ext cx="104297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 </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441400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9AA5099-ACA8-490F-B0DD-9A22A766F7F9}"/>
              </a:ext>
            </a:extLst>
          </p:cNvPr>
          <p:cNvSpPr txBox="1"/>
          <p:nvPr/>
        </p:nvSpPr>
        <p:spPr>
          <a:xfrm>
            <a:off x="223402" y="276399"/>
            <a:ext cx="8802410" cy="1077218"/>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ツリーをデータセット（特徴量、教師ラベル）</a:t>
            </a:r>
            <a:endParaRPr kumimoji="1" lang="en-US" altLang="ja-JP" sz="3200" b="1" dirty="0">
              <a:latin typeface="メイリオ" panose="020B0604030504040204" pitchFamily="50" charset="-128"/>
              <a:ea typeface="メイリオ" panose="020B0604030504040204" pitchFamily="50" charset="-128"/>
            </a:endParaRPr>
          </a:p>
          <a:p>
            <a:pPr algn="l"/>
            <a:r>
              <a:rPr kumimoji="1" lang="ja-JP" altLang="en-US" sz="3200" b="1" dirty="0">
                <a:latin typeface="メイリオ" panose="020B0604030504040204" pitchFamily="50" charset="-128"/>
                <a:ea typeface="メイリオ" panose="020B0604030504040204" pitchFamily="50" charset="-128"/>
              </a:rPr>
              <a:t>で表現する</a:t>
            </a:r>
          </a:p>
        </p:txBody>
      </p:sp>
      <p:graphicFrame>
        <p:nvGraphicFramePr>
          <p:cNvPr id="3" name="表 2">
            <a:extLst>
              <a:ext uri="{FF2B5EF4-FFF2-40B4-BE49-F238E27FC236}">
                <a16:creationId xmlns:a16="http://schemas.microsoft.com/office/drawing/2014/main" id="{BFAA03F0-67D9-434E-ADCF-1391E7185172}"/>
              </a:ext>
            </a:extLst>
          </p:cNvPr>
          <p:cNvGraphicFramePr>
            <a:graphicFrameLocks noGrp="1"/>
          </p:cNvGraphicFramePr>
          <p:nvPr>
            <p:extLst>
              <p:ext uri="{D42A27DB-BD31-4B8C-83A1-F6EECF244321}">
                <p14:modId xmlns:p14="http://schemas.microsoft.com/office/powerpoint/2010/main" val="1503477176"/>
              </p:ext>
            </p:extLst>
          </p:nvPr>
        </p:nvGraphicFramePr>
        <p:xfrm>
          <a:off x="3755923" y="2350729"/>
          <a:ext cx="6096000" cy="185420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13556045"/>
                    </a:ext>
                  </a:extLst>
                </a:gridCol>
                <a:gridCol w="2032000">
                  <a:extLst>
                    <a:ext uri="{9D8B030D-6E8A-4147-A177-3AD203B41FA5}">
                      <a16:colId xmlns:a16="http://schemas.microsoft.com/office/drawing/2014/main" val="4273878612"/>
                    </a:ext>
                  </a:extLst>
                </a:gridCol>
                <a:gridCol w="2032000">
                  <a:extLst>
                    <a:ext uri="{9D8B030D-6E8A-4147-A177-3AD203B41FA5}">
                      <a16:colId xmlns:a16="http://schemas.microsoft.com/office/drawing/2014/main" val="2145268504"/>
                    </a:ext>
                  </a:extLst>
                </a:gridCol>
              </a:tblGrid>
              <a:tr h="370840">
                <a:tc>
                  <a:txBody>
                    <a:bodyPr/>
                    <a:lstStyle/>
                    <a:p>
                      <a:pPr algn="ctr"/>
                      <a:r>
                        <a:rPr kumimoji="1" lang="ja-JP" altLang="en-US" dirty="0"/>
                        <a:t>羽毛</a:t>
                      </a:r>
                    </a:p>
                  </a:txBody>
                  <a:tcPr/>
                </a:tc>
                <a:tc>
                  <a:txBody>
                    <a:bodyPr/>
                    <a:lstStyle/>
                    <a:p>
                      <a:pPr algn="ctr"/>
                      <a:r>
                        <a:rPr kumimoji="1" lang="ja-JP" altLang="en-US" dirty="0"/>
                        <a:t>飛ぶ</a:t>
                      </a:r>
                    </a:p>
                  </a:txBody>
                  <a:tcPr/>
                </a:tc>
                <a:tc>
                  <a:txBody>
                    <a:bodyPr/>
                    <a:lstStyle/>
                    <a:p>
                      <a:pPr algn="ctr"/>
                      <a:r>
                        <a:rPr kumimoji="1" lang="ja-JP" altLang="en-US" dirty="0"/>
                        <a:t>ヒレ</a:t>
                      </a:r>
                    </a:p>
                  </a:txBody>
                  <a:tcPr/>
                </a:tc>
                <a:extLst>
                  <a:ext uri="{0D108BD9-81ED-4DB2-BD59-A6C34878D82A}">
                    <a16:rowId xmlns:a16="http://schemas.microsoft.com/office/drawing/2014/main" val="4012486555"/>
                  </a:ext>
                </a:extLst>
              </a:tr>
              <a:tr h="370840">
                <a:tc>
                  <a:txBody>
                    <a:bodyPr/>
                    <a:lstStyle/>
                    <a:p>
                      <a:pPr algn="ctr"/>
                      <a:r>
                        <a:rPr kumimoji="1" lang="en-US" altLang="ja-JP" dirty="0"/>
                        <a:t>1</a:t>
                      </a:r>
                      <a:endParaRPr kumimoji="1" lang="ja-JP" altLang="en-US" dirty="0"/>
                    </a:p>
                  </a:txBody>
                  <a:tcPr/>
                </a:tc>
                <a:tc>
                  <a:txBody>
                    <a:bodyPr/>
                    <a:lstStyle/>
                    <a:p>
                      <a:pPr algn="ctr"/>
                      <a:r>
                        <a:rPr kumimoji="1" lang="en-US" altLang="ja-JP" dirty="0"/>
                        <a:t>1</a:t>
                      </a:r>
                      <a:endParaRPr kumimoji="1" lang="ja-JP" altLang="en-US" dirty="0"/>
                    </a:p>
                  </a:txBody>
                  <a:tcPr/>
                </a:tc>
                <a:tc>
                  <a:txBody>
                    <a:bodyPr/>
                    <a:lstStyle/>
                    <a:p>
                      <a:pPr algn="ctr"/>
                      <a:r>
                        <a:rPr kumimoji="1" lang="en-US" altLang="ja-JP" dirty="0"/>
                        <a:t>-</a:t>
                      </a:r>
                      <a:endParaRPr kumimoji="1" lang="ja-JP" altLang="en-US" dirty="0"/>
                    </a:p>
                  </a:txBody>
                  <a:tcPr/>
                </a:tc>
                <a:extLst>
                  <a:ext uri="{0D108BD9-81ED-4DB2-BD59-A6C34878D82A}">
                    <a16:rowId xmlns:a16="http://schemas.microsoft.com/office/drawing/2014/main" val="3295987856"/>
                  </a:ext>
                </a:extLst>
              </a:tr>
              <a:tr h="370840">
                <a:tc>
                  <a:txBody>
                    <a:bodyPr/>
                    <a:lstStyle/>
                    <a:p>
                      <a:pPr algn="ctr"/>
                      <a:r>
                        <a:rPr kumimoji="1" lang="en-US" altLang="ja-JP" dirty="0"/>
                        <a:t>1</a:t>
                      </a:r>
                      <a:endParaRPr kumimoji="1" lang="ja-JP" altLang="en-US" dirty="0"/>
                    </a:p>
                  </a:txBody>
                  <a:tcPr/>
                </a:tc>
                <a:tc>
                  <a:txBody>
                    <a:bodyPr/>
                    <a:lstStyle/>
                    <a:p>
                      <a:pPr algn="ctr"/>
                      <a:r>
                        <a:rPr kumimoji="1" lang="en-US" altLang="ja-JP" dirty="0"/>
                        <a:t>0</a:t>
                      </a:r>
                      <a:endParaRPr kumimoji="1" lang="ja-JP" altLang="en-US" dirty="0"/>
                    </a:p>
                  </a:txBody>
                  <a:tcPr/>
                </a:tc>
                <a:tc>
                  <a:txBody>
                    <a:bodyPr/>
                    <a:lstStyle/>
                    <a:p>
                      <a:pPr algn="ctr"/>
                      <a:r>
                        <a:rPr kumimoji="1" lang="en-US" altLang="ja-JP" dirty="0"/>
                        <a:t>-</a:t>
                      </a:r>
                      <a:endParaRPr kumimoji="1" lang="ja-JP" altLang="en-US" dirty="0"/>
                    </a:p>
                  </a:txBody>
                  <a:tcPr/>
                </a:tc>
                <a:extLst>
                  <a:ext uri="{0D108BD9-81ED-4DB2-BD59-A6C34878D82A}">
                    <a16:rowId xmlns:a16="http://schemas.microsoft.com/office/drawing/2014/main" val="958314499"/>
                  </a:ext>
                </a:extLst>
              </a:tr>
              <a:tr h="370840">
                <a:tc>
                  <a:txBody>
                    <a:bodyPr/>
                    <a:lstStyle/>
                    <a:p>
                      <a:pPr algn="ctr"/>
                      <a:r>
                        <a:rPr kumimoji="1" lang="en-US" altLang="ja-JP" dirty="0"/>
                        <a:t>0</a:t>
                      </a:r>
                      <a:endParaRPr kumimoji="1" lang="ja-JP" altLang="en-US" dirty="0"/>
                    </a:p>
                  </a:txBody>
                  <a:tcPr/>
                </a:tc>
                <a:tc>
                  <a:txBody>
                    <a:bodyPr/>
                    <a:lstStyle/>
                    <a:p>
                      <a:pPr algn="ctr"/>
                      <a:r>
                        <a:rPr kumimoji="1" lang="en-US" altLang="ja-JP" dirty="0"/>
                        <a:t>-</a:t>
                      </a:r>
                      <a:endParaRPr kumimoji="1" lang="ja-JP" altLang="en-US" dirty="0"/>
                    </a:p>
                  </a:txBody>
                  <a:tcPr/>
                </a:tc>
                <a:tc>
                  <a:txBody>
                    <a:bodyPr/>
                    <a:lstStyle/>
                    <a:p>
                      <a:pPr algn="ctr"/>
                      <a:r>
                        <a:rPr kumimoji="1" lang="en-US" altLang="ja-JP" dirty="0"/>
                        <a:t>1</a:t>
                      </a:r>
                      <a:endParaRPr kumimoji="1" lang="ja-JP" altLang="en-US" dirty="0"/>
                    </a:p>
                  </a:txBody>
                  <a:tcPr/>
                </a:tc>
                <a:extLst>
                  <a:ext uri="{0D108BD9-81ED-4DB2-BD59-A6C34878D82A}">
                    <a16:rowId xmlns:a16="http://schemas.microsoft.com/office/drawing/2014/main" val="3309350184"/>
                  </a:ext>
                </a:extLst>
              </a:tr>
              <a:tr h="370840">
                <a:tc>
                  <a:txBody>
                    <a:bodyPr/>
                    <a:lstStyle/>
                    <a:p>
                      <a:pPr algn="ctr"/>
                      <a:r>
                        <a:rPr kumimoji="1" lang="en-US" altLang="ja-JP" dirty="0"/>
                        <a:t>0</a:t>
                      </a:r>
                      <a:endParaRPr kumimoji="1" lang="ja-JP" altLang="en-US" dirty="0"/>
                    </a:p>
                  </a:txBody>
                  <a:tcPr/>
                </a:tc>
                <a:tc>
                  <a:txBody>
                    <a:bodyPr/>
                    <a:lstStyle/>
                    <a:p>
                      <a:pPr algn="ctr"/>
                      <a:r>
                        <a:rPr kumimoji="1" lang="en-US" altLang="ja-JP" dirty="0"/>
                        <a:t>-</a:t>
                      </a:r>
                      <a:endParaRPr kumimoji="1" lang="ja-JP" altLang="en-US" dirty="0"/>
                    </a:p>
                  </a:txBody>
                  <a:tcPr/>
                </a:tc>
                <a:tc>
                  <a:txBody>
                    <a:bodyPr/>
                    <a:lstStyle/>
                    <a:p>
                      <a:pPr algn="ctr"/>
                      <a:r>
                        <a:rPr kumimoji="1" lang="en-US" altLang="ja-JP" dirty="0"/>
                        <a:t>0</a:t>
                      </a:r>
                      <a:endParaRPr kumimoji="1" lang="ja-JP" altLang="en-US" dirty="0"/>
                    </a:p>
                  </a:txBody>
                  <a:tcPr/>
                </a:tc>
                <a:extLst>
                  <a:ext uri="{0D108BD9-81ED-4DB2-BD59-A6C34878D82A}">
                    <a16:rowId xmlns:a16="http://schemas.microsoft.com/office/drawing/2014/main" val="2025184780"/>
                  </a:ext>
                </a:extLst>
              </a:tr>
            </a:tbl>
          </a:graphicData>
        </a:graphic>
      </p:graphicFrame>
      <p:graphicFrame>
        <p:nvGraphicFramePr>
          <p:cNvPr id="4" name="表 3">
            <a:extLst>
              <a:ext uri="{FF2B5EF4-FFF2-40B4-BE49-F238E27FC236}">
                <a16:creationId xmlns:a16="http://schemas.microsoft.com/office/drawing/2014/main" id="{E7F9A330-E87B-44C4-8F33-485C43BED1C8}"/>
              </a:ext>
            </a:extLst>
          </p:cNvPr>
          <p:cNvGraphicFramePr>
            <a:graphicFrameLocks noGrp="1"/>
          </p:cNvGraphicFramePr>
          <p:nvPr>
            <p:extLst>
              <p:ext uri="{D42A27DB-BD31-4B8C-83A1-F6EECF244321}">
                <p14:modId xmlns:p14="http://schemas.microsoft.com/office/powerpoint/2010/main" val="3277968065"/>
              </p:ext>
            </p:extLst>
          </p:nvPr>
        </p:nvGraphicFramePr>
        <p:xfrm>
          <a:off x="1750142" y="2721569"/>
          <a:ext cx="1730477" cy="1483360"/>
        </p:xfrm>
        <a:graphic>
          <a:graphicData uri="http://schemas.openxmlformats.org/drawingml/2006/table">
            <a:tbl>
              <a:tblPr firstRow="1" bandRow="1">
                <a:tableStyleId>{5940675A-B579-460E-94D1-54222C63F5DA}</a:tableStyleId>
              </a:tblPr>
              <a:tblGrid>
                <a:gridCol w="1730477">
                  <a:extLst>
                    <a:ext uri="{9D8B030D-6E8A-4147-A177-3AD203B41FA5}">
                      <a16:colId xmlns:a16="http://schemas.microsoft.com/office/drawing/2014/main" val="4110401884"/>
                    </a:ext>
                  </a:extLst>
                </a:gridCol>
              </a:tblGrid>
              <a:tr h="370840">
                <a:tc>
                  <a:txBody>
                    <a:bodyPr/>
                    <a:lstStyle/>
                    <a:p>
                      <a:r>
                        <a:rPr kumimoji="1" lang="ja-JP" altLang="en-US" dirty="0"/>
                        <a:t>鷹</a:t>
                      </a:r>
                    </a:p>
                  </a:txBody>
                  <a:tcPr/>
                </a:tc>
                <a:extLst>
                  <a:ext uri="{0D108BD9-81ED-4DB2-BD59-A6C34878D82A}">
                    <a16:rowId xmlns:a16="http://schemas.microsoft.com/office/drawing/2014/main" val="3283611829"/>
                  </a:ext>
                </a:extLst>
              </a:tr>
              <a:tr h="370840">
                <a:tc>
                  <a:txBody>
                    <a:bodyPr/>
                    <a:lstStyle/>
                    <a:p>
                      <a:r>
                        <a:rPr kumimoji="1" lang="ja-JP" altLang="en-US" dirty="0"/>
                        <a:t>ペンギン</a:t>
                      </a:r>
                    </a:p>
                  </a:txBody>
                  <a:tcPr/>
                </a:tc>
                <a:extLst>
                  <a:ext uri="{0D108BD9-81ED-4DB2-BD59-A6C34878D82A}">
                    <a16:rowId xmlns:a16="http://schemas.microsoft.com/office/drawing/2014/main" val="2625805159"/>
                  </a:ext>
                </a:extLst>
              </a:tr>
              <a:tr h="370840">
                <a:tc>
                  <a:txBody>
                    <a:bodyPr/>
                    <a:lstStyle/>
                    <a:p>
                      <a:r>
                        <a:rPr kumimoji="1" lang="ja-JP" altLang="en-US" dirty="0"/>
                        <a:t>イルカ</a:t>
                      </a:r>
                    </a:p>
                  </a:txBody>
                  <a:tcPr/>
                </a:tc>
                <a:extLst>
                  <a:ext uri="{0D108BD9-81ED-4DB2-BD59-A6C34878D82A}">
                    <a16:rowId xmlns:a16="http://schemas.microsoft.com/office/drawing/2014/main" val="598389854"/>
                  </a:ext>
                </a:extLst>
              </a:tr>
              <a:tr h="370840">
                <a:tc>
                  <a:txBody>
                    <a:bodyPr/>
                    <a:lstStyle/>
                    <a:p>
                      <a:r>
                        <a:rPr kumimoji="1" lang="ja-JP" altLang="en-US" dirty="0"/>
                        <a:t>熊</a:t>
                      </a:r>
                    </a:p>
                  </a:txBody>
                  <a:tcPr/>
                </a:tc>
                <a:extLst>
                  <a:ext uri="{0D108BD9-81ED-4DB2-BD59-A6C34878D82A}">
                    <a16:rowId xmlns:a16="http://schemas.microsoft.com/office/drawing/2014/main" val="2213714994"/>
                  </a:ext>
                </a:extLst>
              </a:tr>
            </a:tbl>
          </a:graphicData>
        </a:graphic>
      </p:graphicFrame>
      <p:sp>
        <p:nvSpPr>
          <p:cNvPr id="5" name="テキスト ボックス 4">
            <a:extLst>
              <a:ext uri="{FF2B5EF4-FFF2-40B4-BE49-F238E27FC236}">
                <a16:creationId xmlns:a16="http://schemas.microsoft.com/office/drawing/2014/main" id="{BF117C0A-9123-4C99-9A7D-9E37BA626647}"/>
              </a:ext>
            </a:extLst>
          </p:cNvPr>
          <p:cNvSpPr txBox="1"/>
          <p:nvPr/>
        </p:nvSpPr>
        <p:spPr>
          <a:xfrm>
            <a:off x="3480618" y="1445206"/>
            <a:ext cx="480131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教師あり機械学習として扱えそう</a:t>
            </a:r>
          </a:p>
        </p:txBody>
      </p:sp>
      <p:sp>
        <p:nvSpPr>
          <p:cNvPr id="6" name="テキスト ボックス 5">
            <a:extLst>
              <a:ext uri="{FF2B5EF4-FFF2-40B4-BE49-F238E27FC236}">
                <a16:creationId xmlns:a16="http://schemas.microsoft.com/office/drawing/2014/main" id="{9B0E1E25-F42C-42DB-8125-44FF3F763C82}"/>
              </a:ext>
            </a:extLst>
          </p:cNvPr>
          <p:cNvSpPr txBox="1"/>
          <p:nvPr/>
        </p:nvSpPr>
        <p:spPr>
          <a:xfrm>
            <a:off x="2547945" y="4767974"/>
            <a:ext cx="7096110"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特徴量の値が</a:t>
            </a:r>
            <a:r>
              <a:rPr kumimoji="1" lang="en-US" altLang="ja-JP" sz="2400" dirty="0">
                <a:latin typeface="メイリオ" panose="020B0604030504040204" pitchFamily="50" charset="-128"/>
                <a:ea typeface="メイリオ" panose="020B0604030504040204" pitchFamily="50" charset="-128"/>
              </a:rPr>
              <a:t>1,0</a:t>
            </a:r>
            <a:r>
              <a:rPr kumimoji="1" lang="ja-JP" altLang="en-US" sz="2400" dirty="0">
                <a:latin typeface="メイリオ" panose="020B0604030504040204" pitchFamily="50" charset="-128"/>
                <a:ea typeface="メイリオ" panose="020B0604030504040204" pitchFamily="50" charset="-128"/>
              </a:rPr>
              <a:t>なら</a:t>
            </a:r>
            <a:r>
              <a:rPr kumimoji="1" lang="en-US" altLang="ja-JP" sz="2400" dirty="0">
                <a:latin typeface="メイリオ" panose="020B0604030504040204" pitchFamily="50" charset="-128"/>
                <a:ea typeface="メイリオ" panose="020B0604030504040204" pitchFamily="50" charset="-128"/>
              </a:rPr>
              <a:t>yes/no question</a:t>
            </a:r>
            <a:r>
              <a:rPr kumimoji="1" lang="ja-JP" altLang="en-US" sz="2400" dirty="0">
                <a:latin typeface="メイリオ" panose="020B0604030504040204" pitchFamily="50" charset="-128"/>
                <a:ea typeface="メイリオ" panose="020B0604030504040204" pitchFamily="50" charset="-128"/>
              </a:rPr>
              <a:t>機械学習で</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判別できそう</a:t>
            </a:r>
            <a:endParaRPr kumimoji="1" lang="en-US" altLang="ja-JP" sz="24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F9012E57-365B-40CB-9D92-985CF64A7717}"/>
              </a:ext>
            </a:extLst>
          </p:cNvPr>
          <p:cNvSpPr txBox="1"/>
          <p:nvPr/>
        </p:nvSpPr>
        <p:spPr>
          <a:xfrm>
            <a:off x="2156460" y="6199135"/>
            <a:ext cx="7879080"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特徴量が、いろいろな値を取る（連続値含む）場合は？</a:t>
            </a:r>
          </a:p>
        </p:txBody>
      </p:sp>
      <p:sp>
        <p:nvSpPr>
          <p:cNvPr id="8" name="矢印: 下 7">
            <a:extLst>
              <a:ext uri="{FF2B5EF4-FFF2-40B4-BE49-F238E27FC236}">
                <a16:creationId xmlns:a16="http://schemas.microsoft.com/office/drawing/2014/main" id="{6B294AAF-05A1-4F09-BDB3-C5616E533BA5}"/>
              </a:ext>
            </a:extLst>
          </p:cNvPr>
          <p:cNvSpPr/>
          <p:nvPr/>
        </p:nvSpPr>
        <p:spPr>
          <a:xfrm>
            <a:off x="5102088" y="5598971"/>
            <a:ext cx="1769165" cy="4440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78460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4FF747D5-000C-5318-08C3-63E661A1370B}"/>
              </a:ext>
            </a:extLst>
          </p:cNvPr>
          <p:cNvPicPr>
            <a:picLocks noChangeAspect="1"/>
          </p:cNvPicPr>
          <p:nvPr/>
        </p:nvPicPr>
        <p:blipFill>
          <a:blip r:embed="rId2"/>
          <a:stretch>
            <a:fillRect/>
          </a:stretch>
        </p:blipFill>
        <p:spPr>
          <a:xfrm>
            <a:off x="2625002" y="1783701"/>
            <a:ext cx="6118355" cy="4386218"/>
          </a:xfrm>
          <a:prstGeom prst="rect">
            <a:avLst/>
          </a:prstGeom>
        </p:spPr>
      </p:pic>
      <p:sp>
        <p:nvSpPr>
          <p:cNvPr id="2" name="テキスト ボックス 1">
            <a:extLst>
              <a:ext uri="{FF2B5EF4-FFF2-40B4-BE49-F238E27FC236}">
                <a16:creationId xmlns:a16="http://schemas.microsoft.com/office/drawing/2014/main" id="{087001B2-2143-4306-BCC0-7C1CC570D205}"/>
              </a:ext>
            </a:extLst>
          </p:cNvPr>
          <p:cNvSpPr txBox="1"/>
          <p:nvPr/>
        </p:nvSpPr>
        <p:spPr>
          <a:xfrm>
            <a:off x="242596" y="245808"/>
            <a:ext cx="10559828" cy="584775"/>
          </a:xfrm>
          <a:prstGeom prst="rect">
            <a:avLst/>
          </a:prstGeom>
          <a:noFill/>
        </p:spPr>
        <p:txBody>
          <a:bodyPr wrap="square" rtlCol="0">
            <a:spAutoFit/>
          </a:bodyPr>
          <a:lstStyle/>
          <a:p>
            <a:pPr algn="l"/>
            <a:r>
              <a:rPr kumimoji="1" lang="en-US" altLang="ja-JP" sz="3200" b="1" dirty="0">
                <a:latin typeface="メイリオ" panose="020B0604030504040204" pitchFamily="50" charset="-128"/>
                <a:ea typeface="メイリオ" panose="020B0604030504040204" pitchFamily="50" charset="-128"/>
              </a:rPr>
              <a:t>Yes/no question </a:t>
            </a:r>
            <a:r>
              <a:rPr kumimoji="1" lang="ja-JP" altLang="en-US" sz="3200" b="1" dirty="0">
                <a:latin typeface="メイリオ" panose="020B0604030504040204" pitchFamily="50" charset="-128"/>
                <a:ea typeface="メイリオ" panose="020B0604030504040204" pitchFamily="50" charset="-128"/>
              </a:rPr>
              <a:t>判別を連続な</a:t>
            </a:r>
            <a:r>
              <a:rPr kumimoji="1" lang="en-US" altLang="ja-JP" sz="3200" b="1" dirty="0">
                <a:latin typeface="メイリオ" panose="020B0604030504040204" pitchFamily="50" charset="-128"/>
                <a:ea typeface="メイリオ" panose="020B0604030504040204" pitchFamily="50" charset="-128"/>
              </a:rPr>
              <a:t>2</a:t>
            </a:r>
            <a:r>
              <a:rPr kumimoji="1" lang="ja-JP" altLang="en-US" sz="3200" b="1" dirty="0">
                <a:latin typeface="メイリオ" panose="020B0604030504040204" pitchFamily="50" charset="-128"/>
                <a:ea typeface="メイリオ" panose="020B0604030504040204" pitchFamily="50" charset="-128"/>
              </a:rPr>
              <a:t>次元特徴量で考える</a:t>
            </a:r>
          </a:p>
        </p:txBody>
      </p:sp>
      <p:sp>
        <p:nvSpPr>
          <p:cNvPr id="6" name="テキスト ボックス 5">
            <a:extLst>
              <a:ext uri="{FF2B5EF4-FFF2-40B4-BE49-F238E27FC236}">
                <a16:creationId xmlns:a16="http://schemas.microsoft.com/office/drawing/2014/main" id="{24D2BA83-77C3-42D5-9E39-0C7C86893C4D}"/>
              </a:ext>
            </a:extLst>
          </p:cNvPr>
          <p:cNvSpPr txBox="1"/>
          <p:nvPr/>
        </p:nvSpPr>
        <p:spPr>
          <a:xfrm>
            <a:off x="384855" y="830583"/>
            <a:ext cx="10774557" cy="461665"/>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次元の特徴量から〇△を判別する</a:t>
            </a:r>
            <a:endParaRPr kumimoji="1" lang="en-US" altLang="ja-JP" sz="2400" dirty="0">
              <a:latin typeface="メイリオ" panose="020B0604030504040204" pitchFamily="50" charset="-128"/>
              <a:ea typeface="メイリオ" panose="020B0604030504040204" pitchFamily="50" charset="-128"/>
            </a:endParaRPr>
          </a:p>
        </p:txBody>
      </p:sp>
      <p:pic>
        <p:nvPicPr>
          <p:cNvPr id="8" name="Picture 2" descr="Jupyter Notebookの後継？Jupyter Labをつかってみた - いっきのblog">
            <a:extLst>
              <a:ext uri="{FF2B5EF4-FFF2-40B4-BE49-F238E27FC236}">
                <a16:creationId xmlns:a16="http://schemas.microsoft.com/office/drawing/2014/main" id="{9A29DBA0-C48B-468C-B973-62F832903D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7258" y="830583"/>
            <a:ext cx="1047321" cy="1144746"/>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3CEAE300-2610-0C6E-FAA0-09EF882D1CFD}"/>
              </a:ext>
            </a:extLst>
          </p:cNvPr>
          <p:cNvSpPr txBox="1"/>
          <p:nvPr/>
        </p:nvSpPr>
        <p:spPr>
          <a:xfrm>
            <a:off x="8563037" y="5939086"/>
            <a:ext cx="58221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X0</a:t>
            </a:r>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5E5E5FDC-ECAD-00EB-5AD8-D69095A0BB3D}"/>
              </a:ext>
            </a:extLst>
          </p:cNvPr>
          <p:cNvSpPr txBox="1"/>
          <p:nvPr/>
        </p:nvSpPr>
        <p:spPr>
          <a:xfrm>
            <a:off x="2425959" y="1783701"/>
            <a:ext cx="58221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X1</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46631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48470A8-65AF-4933-A980-A19F5B7D6CCA}"/>
              </a:ext>
            </a:extLst>
          </p:cNvPr>
          <p:cNvSpPr/>
          <p:nvPr/>
        </p:nvSpPr>
        <p:spPr>
          <a:xfrm>
            <a:off x="3483542" y="2343018"/>
            <a:ext cx="4572000" cy="1815882"/>
          </a:xfrm>
          <a:prstGeom prst="rect">
            <a:avLst/>
          </a:prstGeom>
        </p:spPr>
        <p:txBody>
          <a:bodyPr>
            <a:spAutoFit/>
          </a:bodyPr>
          <a:lstStyle/>
          <a:p>
            <a:r>
              <a:rPr lang="ja-JP" altLang="en-US" sz="2800" dirty="0"/>
              <a:t>[[ 1.87756309  0.56839425]</a:t>
            </a:r>
          </a:p>
          <a:p>
            <a:r>
              <a:rPr lang="ja-JP" altLang="en-US" sz="2800" dirty="0"/>
              <a:t> [ 0.36877983 -0.34894509]</a:t>
            </a:r>
          </a:p>
          <a:p>
            <a:r>
              <a:rPr lang="ja-JP" altLang="en-US" sz="2800" dirty="0"/>
              <a:t> [ 0.96515318  0.10921819]</a:t>
            </a:r>
          </a:p>
          <a:p>
            <a:r>
              <a:rPr lang="ja-JP" altLang="en-US" sz="2800" dirty="0"/>
              <a:t> [ 0.48599685  0.20291313]</a:t>
            </a:r>
          </a:p>
        </p:txBody>
      </p:sp>
      <p:sp>
        <p:nvSpPr>
          <p:cNvPr id="4" name="正方形/長方形 3">
            <a:extLst>
              <a:ext uri="{FF2B5EF4-FFF2-40B4-BE49-F238E27FC236}">
                <a16:creationId xmlns:a16="http://schemas.microsoft.com/office/drawing/2014/main" id="{F1EBD5E4-09DC-478C-AC87-DFDC03BAF318}"/>
              </a:ext>
            </a:extLst>
          </p:cNvPr>
          <p:cNvSpPr/>
          <p:nvPr/>
        </p:nvSpPr>
        <p:spPr>
          <a:xfrm>
            <a:off x="2799054" y="2343018"/>
            <a:ext cx="218909" cy="1815882"/>
          </a:xfrm>
          <a:prstGeom prst="rect">
            <a:avLst/>
          </a:prstGeom>
        </p:spPr>
        <p:txBody>
          <a:bodyPr wrap="square">
            <a:spAutoFit/>
          </a:bodyPr>
          <a:lstStyle/>
          <a:p>
            <a:r>
              <a:rPr lang="ja-JP" altLang="en-US" sz="2800" dirty="0"/>
              <a:t>1 1 0 1</a:t>
            </a:r>
          </a:p>
        </p:txBody>
      </p:sp>
      <p:sp>
        <p:nvSpPr>
          <p:cNvPr id="7" name="テキスト ボックス 6">
            <a:extLst>
              <a:ext uri="{FF2B5EF4-FFF2-40B4-BE49-F238E27FC236}">
                <a16:creationId xmlns:a16="http://schemas.microsoft.com/office/drawing/2014/main" id="{E6A08005-0913-4B8A-A98D-1062DBCB3002}"/>
              </a:ext>
            </a:extLst>
          </p:cNvPr>
          <p:cNvSpPr txBox="1"/>
          <p:nvPr/>
        </p:nvSpPr>
        <p:spPr>
          <a:xfrm>
            <a:off x="452749" y="414620"/>
            <a:ext cx="3877985"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データセットを確認</a:t>
            </a:r>
          </a:p>
        </p:txBody>
      </p:sp>
      <p:sp>
        <p:nvSpPr>
          <p:cNvPr id="10" name="テキスト ボックス 9">
            <a:extLst>
              <a:ext uri="{FF2B5EF4-FFF2-40B4-BE49-F238E27FC236}">
                <a16:creationId xmlns:a16="http://schemas.microsoft.com/office/drawing/2014/main" id="{C473B5C8-D672-42C3-966B-9818338F6FBD}"/>
              </a:ext>
            </a:extLst>
          </p:cNvPr>
          <p:cNvSpPr txBox="1"/>
          <p:nvPr/>
        </p:nvSpPr>
        <p:spPr>
          <a:xfrm>
            <a:off x="687231" y="1602441"/>
            <a:ext cx="2563522"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教師ラベル</a:t>
            </a:r>
            <a:r>
              <a:rPr kumimoji="1" lang="en-US" altLang="ja-JP" sz="2400" dirty="0">
                <a:latin typeface="メイリオ" panose="020B0604030504040204" pitchFamily="50" charset="-128"/>
                <a:ea typeface="メイリオ" panose="020B0604030504040204" pitchFamily="50" charset="-128"/>
              </a:rPr>
              <a:t>0 : </a:t>
            </a:r>
            <a:r>
              <a:rPr kumimoji="1" lang="ja-JP" altLang="en-US" sz="2400" dirty="0">
                <a:latin typeface="メイリオ" panose="020B0604030504040204" pitchFamily="50" charset="-128"/>
                <a:ea typeface="メイリオ" panose="020B0604030504040204" pitchFamily="50" charset="-128"/>
              </a:rPr>
              <a:t>〇</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教師ラベル</a:t>
            </a:r>
            <a:r>
              <a:rPr kumimoji="1" lang="en-US" altLang="ja-JP" sz="2400" dirty="0">
                <a:latin typeface="メイリオ" panose="020B0604030504040204" pitchFamily="50" charset="-128"/>
                <a:ea typeface="メイリオ" panose="020B0604030504040204" pitchFamily="50" charset="-128"/>
              </a:rPr>
              <a:t>1 : </a:t>
            </a:r>
            <a:r>
              <a:rPr kumimoji="1" lang="ja-JP" altLang="en-US" sz="2400" dirty="0">
                <a:latin typeface="メイリオ" panose="020B0604030504040204" pitchFamily="50" charset="-128"/>
                <a:ea typeface="メイリオ" panose="020B0604030504040204" pitchFamily="50" charset="-128"/>
              </a:rPr>
              <a:t>△</a:t>
            </a:r>
          </a:p>
        </p:txBody>
      </p:sp>
      <p:sp>
        <p:nvSpPr>
          <p:cNvPr id="5" name="テキスト ボックス 4">
            <a:extLst>
              <a:ext uri="{FF2B5EF4-FFF2-40B4-BE49-F238E27FC236}">
                <a16:creationId xmlns:a16="http://schemas.microsoft.com/office/drawing/2014/main" id="{DB342879-9F2B-4D09-9046-4E7CC455D128}"/>
              </a:ext>
            </a:extLst>
          </p:cNvPr>
          <p:cNvSpPr txBox="1"/>
          <p:nvPr/>
        </p:nvSpPr>
        <p:spPr>
          <a:xfrm>
            <a:off x="3580686" y="6207935"/>
            <a:ext cx="480131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教師ラベルは離散なので分類問題</a:t>
            </a:r>
          </a:p>
        </p:txBody>
      </p:sp>
      <p:sp>
        <p:nvSpPr>
          <p:cNvPr id="6" name="テキスト ボックス 5">
            <a:extLst>
              <a:ext uri="{FF2B5EF4-FFF2-40B4-BE49-F238E27FC236}">
                <a16:creationId xmlns:a16="http://schemas.microsoft.com/office/drawing/2014/main" id="{65FEE9B6-F46C-1FA1-DE2F-55FC0AF5C2B2}"/>
              </a:ext>
            </a:extLst>
          </p:cNvPr>
          <p:cNvSpPr txBox="1"/>
          <p:nvPr/>
        </p:nvSpPr>
        <p:spPr>
          <a:xfrm>
            <a:off x="4833258" y="1602441"/>
            <a:ext cx="1415772" cy="584775"/>
          </a:xfrm>
          <a:prstGeom prst="rect">
            <a:avLst/>
          </a:prstGeom>
          <a:noFill/>
        </p:spPr>
        <p:txBody>
          <a:bodyPr wrap="none" rtlCol="0">
            <a:spAutoFit/>
          </a:bodyPr>
          <a:lstStyle/>
          <a:p>
            <a:r>
              <a:rPr kumimoji="1" lang="ja-JP" altLang="en-US" sz="3200" dirty="0">
                <a:latin typeface="メイリオ" panose="020B0604030504040204" pitchFamily="50" charset="-128"/>
                <a:ea typeface="メイリオ" panose="020B0604030504040204" pitchFamily="50" charset="-128"/>
              </a:rPr>
              <a:t>特徴量</a:t>
            </a:r>
          </a:p>
        </p:txBody>
      </p:sp>
      <p:sp>
        <p:nvSpPr>
          <p:cNvPr id="2" name="テキスト ボックス 1">
            <a:extLst>
              <a:ext uri="{FF2B5EF4-FFF2-40B4-BE49-F238E27FC236}">
                <a16:creationId xmlns:a16="http://schemas.microsoft.com/office/drawing/2014/main" id="{7B3D65F2-04C3-4393-2BD0-90F502D53F94}"/>
              </a:ext>
            </a:extLst>
          </p:cNvPr>
          <p:cNvSpPr txBox="1"/>
          <p:nvPr/>
        </p:nvSpPr>
        <p:spPr>
          <a:xfrm>
            <a:off x="6423503" y="2034285"/>
            <a:ext cx="58221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X1</a:t>
            </a:r>
            <a:endParaRPr kumimoji="1" lang="ja-JP" altLang="en-US"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B9B7A4B1-C2E9-A82C-4E69-48047DD24794}"/>
              </a:ext>
            </a:extLst>
          </p:cNvPr>
          <p:cNvSpPr txBox="1"/>
          <p:nvPr/>
        </p:nvSpPr>
        <p:spPr>
          <a:xfrm>
            <a:off x="4309362" y="2038138"/>
            <a:ext cx="58221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X0</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176483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7E47FF5-2FAD-6B9C-98F3-E3E9C758E491}"/>
              </a:ext>
            </a:extLst>
          </p:cNvPr>
          <p:cNvSpPr txBox="1"/>
          <p:nvPr/>
        </p:nvSpPr>
        <p:spPr>
          <a:xfrm>
            <a:off x="603849" y="3062378"/>
            <a:ext cx="203132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決定木の学習</a:t>
            </a:r>
          </a:p>
        </p:txBody>
      </p:sp>
    </p:spTree>
    <p:extLst>
      <p:ext uri="{BB962C8B-B14F-4D97-AF65-F5344CB8AC3E}">
        <p14:creationId xmlns:p14="http://schemas.microsoft.com/office/powerpoint/2010/main" val="3129875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図 36">
            <a:extLst>
              <a:ext uri="{FF2B5EF4-FFF2-40B4-BE49-F238E27FC236}">
                <a16:creationId xmlns:a16="http://schemas.microsoft.com/office/drawing/2014/main" id="{C45B82DD-D98C-1A3B-436D-4085F3897948}"/>
              </a:ext>
            </a:extLst>
          </p:cNvPr>
          <p:cNvPicPr>
            <a:picLocks noChangeAspect="1"/>
          </p:cNvPicPr>
          <p:nvPr/>
        </p:nvPicPr>
        <p:blipFill>
          <a:blip r:embed="rId2"/>
          <a:stretch>
            <a:fillRect/>
          </a:stretch>
        </p:blipFill>
        <p:spPr>
          <a:xfrm>
            <a:off x="1483669" y="2630406"/>
            <a:ext cx="5562886" cy="3988005"/>
          </a:xfrm>
          <a:prstGeom prst="rect">
            <a:avLst/>
          </a:prstGeom>
        </p:spPr>
      </p:pic>
      <p:sp>
        <p:nvSpPr>
          <p:cNvPr id="3" name="テキスト ボックス 2">
            <a:extLst>
              <a:ext uri="{FF2B5EF4-FFF2-40B4-BE49-F238E27FC236}">
                <a16:creationId xmlns:a16="http://schemas.microsoft.com/office/drawing/2014/main" id="{0F45B0A3-E747-462F-BF52-36A578BD9E86}"/>
              </a:ext>
            </a:extLst>
          </p:cNvPr>
          <p:cNvSpPr txBox="1"/>
          <p:nvPr/>
        </p:nvSpPr>
        <p:spPr>
          <a:xfrm>
            <a:off x="214604" y="274088"/>
            <a:ext cx="9898093" cy="1077218"/>
          </a:xfrm>
          <a:prstGeom prst="rect">
            <a:avLst/>
          </a:prstGeom>
          <a:noFill/>
        </p:spPr>
        <p:txBody>
          <a:bodyPr wrap="square" rtlCol="0">
            <a:spAutoFit/>
          </a:bodyPr>
          <a:lstStyle/>
          <a:p>
            <a:pPr algn="l"/>
            <a:r>
              <a:rPr kumimoji="1" lang="en-US" altLang="ja-JP" sz="3200" b="1" dirty="0">
                <a:latin typeface="メイリオ" panose="020B0604030504040204" pitchFamily="50" charset="-128"/>
                <a:ea typeface="メイリオ" panose="020B0604030504040204" pitchFamily="50" charset="-128"/>
              </a:rPr>
              <a:t>2</a:t>
            </a:r>
            <a:r>
              <a:rPr kumimoji="1" lang="ja-JP" altLang="en-US" sz="3200" b="1" dirty="0">
                <a:latin typeface="メイリオ" panose="020B0604030504040204" pitchFamily="50" charset="-128"/>
                <a:ea typeface="メイリオ" panose="020B0604030504040204" pitchFamily="50" charset="-128"/>
              </a:rPr>
              <a:t>次元特徴量から</a:t>
            </a:r>
            <a:r>
              <a:rPr kumimoji="1" lang="ja-JP" altLang="en-US" sz="3200" b="1" dirty="0" err="1">
                <a:latin typeface="メイリオ" panose="020B0604030504040204" pitchFamily="50" charset="-128"/>
                <a:ea typeface="メイリオ" panose="020B0604030504040204" pitchFamily="50" charset="-128"/>
              </a:rPr>
              <a:t>〇</a:t>
            </a:r>
            <a:r>
              <a:rPr kumimoji="1" lang="ja-JP" altLang="en-US" sz="3200" b="1" dirty="0">
                <a:latin typeface="メイリオ" panose="020B0604030504040204" pitchFamily="50" charset="-128"/>
                <a:ea typeface="メイリオ" panose="020B0604030504040204" pitchFamily="50" charset="-128"/>
              </a:rPr>
              <a:t>△判別する問題を </a:t>
            </a:r>
            <a:r>
              <a:rPr kumimoji="1" lang="en-US" altLang="ja-JP" sz="3200" b="1" dirty="0">
                <a:latin typeface="メイリオ" panose="020B0604030504040204" pitchFamily="50" charset="-128"/>
                <a:ea typeface="メイリオ" panose="020B0604030504040204" pitchFamily="50" charset="-128"/>
              </a:rPr>
              <a:t>yes/no question</a:t>
            </a:r>
            <a:r>
              <a:rPr kumimoji="1" lang="ja-JP" altLang="en-US" sz="3200" b="1" dirty="0">
                <a:latin typeface="メイリオ" panose="020B0604030504040204" pitchFamily="50" charset="-128"/>
                <a:ea typeface="メイリオ" panose="020B0604030504040204" pitchFamily="50" charset="-128"/>
              </a:rPr>
              <a:t>で捉える</a:t>
            </a:r>
          </a:p>
        </p:txBody>
      </p:sp>
      <p:sp>
        <p:nvSpPr>
          <p:cNvPr id="4" name="テキスト ボックス 3">
            <a:extLst>
              <a:ext uri="{FF2B5EF4-FFF2-40B4-BE49-F238E27FC236}">
                <a16:creationId xmlns:a16="http://schemas.microsoft.com/office/drawing/2014/main" id="{6402FB38-C6FC-4F01-A011-9FAA2B20136C}"/>
              </a:ext>
            </a:extLst>
          </p:cNvPr>
          <p:cNvSpPr txBox="1"/>
          <p:nvPr/>
        </p:nvSpPr>
        <p:spPr>
          <a:xfrm>
            <a:off x="359304" y="1454743"/>
            <a:ext cx="10818770"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横線</a:t>
            </a:r>
            <a:r>
              <a:rPr kumimoji="1" lang="en-US" altLang="ja-JP" sz="2400" dirty="0">
                <a:latin typeface="メイリオ" panose="020B0604030504040204" pitchFamily="50" charset="-128"/>
                <a:ea typeface="メイリオ" panose="020B0604030504040204" pitchFamily="50" charset="-128"/>
              </a:rPr>
              <a:t>(x1=a)</a:t>
            </a:r>
            <a:r>
              <a:rPr kumimoji="1" lang="ja-JP" altLang="en-US" sz="2400" dirty="0">
                <a:latin typeface="メイリオ" panose="020B0604030504040204" pitchFamily="50" charset="-128"/>
                <a:ea typeface="メイリオ" panose="020B0604030504040204" pitchFamily="50" charset="-128"/>
              </a:rPr>
              <a:t>か縦線</a:t>
            </a:r>
            <a:r>
              <a:rPr kumimoji="1" lang="en-US" altLang="ja-JP" sz="2400" dirty="0">
                <a:latin typeface="メイリオ" panose="020B0604030504040204" pitchFamily="50" charset="-128"/>
                <a:ea typeface="メイリオ" panose="020B0604030504040204" pitchFamily="50" charset="-128"/>
              </a:rPr>
              <a:t>(x0=b)</a:t>
            </a:r>
            <a:r>
              <a:rPr kumimoji="1" lang="ja-JP" altLang="en-US" sz="2400" dirty="0">
                <a:latin typeface="メイリオ" panose="020B0604030504040204" pitchFamily="50" charset="-128"/>
                <a:ea typeface="メイリオ" panose="020B0604030504040204" pitchFamily="50" charset="-128"/>
              </a:rPr>
              <a:t>を引くと平面を上下（左右）に分離できる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yes/no </a:t>
            </a:r>
            <a:r>
              <a:rPr kumimoji="1" lang="ja-JP" altLang="en-US" sz="2400" dirty="0">
                <a:latin typeface="メイリオ" panose="020B0604030504040204" pitchFamily="50" charset="-128"/>
                <a:ea typeface="メイリオ" panose="020B0604030504040204" pitchFamily="50" charset="-128"/>
              </a:rPr>
              <a:t>の代わりに閾値（線）との大小関係でツリーを作ることができる</a:t>
            </a:r>
          </a:p>
        </p:txBody>
      </p:sp>
      <p:grpSp>
        <p:nvGrpSpPr>
          <p:cNvPr id="8" name="グループ化 7">
            <a:extLst>
              <a:ext uri="{FF2B5EF4-FFF2-40B4-BE49-F238E27FC236}">
                <a16:creationId xmlns:a16="http://schemas.microsoft.com/office/drawing/2014/main" id="{495C7DAE-6B50-4C2E-9BAF-4186CD7D57BA}"/>
              </a:ext>
            </a:extLst>
          </p:cNvPr>
          <p:cNvGrpSpPr/>
          <p:nvPr/>
        </p:nvGrpSpPr>
        <p:grpSpPr>
          <a:xfrm>
            <a:off x="1703616" y="4339802"/>
            <a:ext cx="5169129" cy="461665"/>
            <a:chOff x="1900265" y="4339802"/>
            <a:chExt cx="5169129" cy="461665"/>
          </a:xfrm>
        </p:grpSpPr>
        <p:cxnSp>
          <p:nvCxnSpPr>
            <p:cNvPr id="6" name="直線コネクタ 5">
              <a:extLst>
                <a:ext uri="{FF2B5EF4-FFF2-40B4-BE49-F238E27FC236}">
                  <a16:creationId xmlns:a16="http://schemas.microsoft.com/office/drawing/2014/main" id="{23C6BF95-09AD-43E8-B185-6461F558C122}"/>
                </a:ext>
              </a:extLst>
            </p:cNvPr>
            <p:cNvCxnSpPr/>
            <p:nvPr/>
          </p:nvCxnSpPr>
          <p:spPr>
            <a:xfrm>
              <a:off x="2340077" y="4570635"/>
              <a:ext cx="472931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60F24F30-45CB-4814-9073-D15D4B924C73}"/>
                </a:ext>
              </a:extLst>
            </p:cNvPr>
            <p:cNvSpPr txBox="1"/>
            <p:nvPr/>
          </p:nvSpPr>
          <p:spPr>
            <a:xfrm>
              <a:off x="1900265" y="4339802"/>
              <a:ext cx="36260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a</a:t>
              </a:r>
              <a:endParaRPr kumimoji="1" lang="ja-JP" altLang="en-US" sz="2400" dirty="0">
                <a:latin typeface="メイリオ" panose="020B0604030504040204" pitchFamily="50" charset="-128"/>
                <a:ea typeface="メイリオ" panose="020B0604030504040204" pitchFamily="50" charset="-128"/>
              </a:endParaRPr>
            </a:p>
          </p:txBody>
        </p:sp>
      </p:grpSp>
      <p:grpSp>
        <p:nvGrpSpPr>
          <p:cNvPr id="12" name="グループ化 11">
            <a:extLst>
              <a:ext uri="{FF2B5EF4-FFF2-40B4-BE49-F238E27FC236}">
                <a16:creationId xmlns:a16="http://schemas.microsoft.com/office/drawing/2014/main" id="{6795EBEB-0635-4896-AA37-7E3BDE15E3C6}"/>
              </a:ext>
            </a:extLst>
          </p:cNvPr>
          <p:cNvGrpSpPr/>
          <p:nvPr/>
        </p:nvGrpSpPr>
        <p:grpSpPr>
          <a:xfrm>
            <a:off x="4189241" y="2399574"/>
            <a:ext cx="372218" cy="3883238"/>
            <a:chOff x="4385891" y="2399575"/>
            <a:chExt cx="372218" cy="3883238"/>
          </a:xfrm>
        </p:grpSpPr>
        <p:cxnSp>
          <p:nvCxnSpPr>
            <p:cNvPr id="10" name="直線コネクタ 9">
              <a:extLst>
                <a:ext uri="{FF2B5EF4-FFF2-40B4-BE49-F238E27FC236}">
                  <a16:creationId xmlns:a16="http://schemas.microsoft.com/office/drawing/2014/main" id="{00D59EE3-F56D-4D9B-BF58-F2DEB27320A8}"/>
                </a:ext>
              </a:extLst>
            </p:cNvPr>
            <p:cNvCxnSpPr/>
            <p:nvPr/>
          </p:nvCxnSpPr>
          <p:spPr>
            <a:xfrm flipV="1">
              <a:off x="4572000" y="2821858"/>
              <a:ext cx="0" cy="346095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9711FD2A-DCB2-4782-B565-9E008AC058D5}"/>
                </a:ext>
              </a:extLst>
            </p:cNvPr>
            <p:cNvSpPr txBox="1"/>
            <p:nvPr/>
          </p:nvSpPr>
          <p:spPr>
            <a:xfrm>
              <a:off x="4385891" y="2399575"/>
              <a:ext cx="37221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b</a:t>
              </a:r>
              <a:endParaRPr kumimoji="1" lang="ja-JP" altLang="en-US" sz="2400" dirty="0">
                <a:latin typeface="メイリオ" panose="020B0604030504040204" pitchFamily="50" charset="-128"/>
                <a:ea typeface="メイリオ" panose="020B0604030504040204" pitchFamily="50" charset="-128"/>
              </a:endParaRPr>
            </a:p>
          </p:txBody>
        </p:sp>
      </p:grpSp>
      <p:sp>
        <p:nvSpPr>
          <p:cNvPr id="23" name="フローチャート: 組合せ 22">
            <a:extLst>
              <a:ext uri="{FF2B5EF4-FFF2-40B4-BE49-F238E27FC236}">
                <a16:creationId xmlns:a16="http://schemas.microsoft.com/office/drawing/2014/main" id="{ED4D5275-0459-4F20-8E27-BDCA08E5C96D}"/>
              </a:ext>
            </a:extLst>
          </p:cNvPr>
          <p:cNvSpPr/>
          <p:nvPr/>
        </p:nvSpPr>
        <p:spPr>
          <a:xfrm rot="16200000">
            <a:off x="5919561" y="4325278"/>
            <a:ext cx="2349910" cy="285135"/>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6F3DB6B1-3C40-4BFF-B3AE-4B574F025CA3}"/>
              </a:ext>
            </a:extLst>
          </p:cNvPr>
          <p:cNvGrpSpPr/>
          <p:nvPr/>
        </p:nvGrpSpPr>
        <p:grpSpPr>
          <a:xfrm>
            <a:off x="7286759" y="2841522"/>
            <a:ext cx="3382652" cy="3116827"/>
            <a:chOff x="5762759" y="2841521"/>
            <a:chExt cx="3382652" cy="3116827"/>
          </a:xfrm>
        </p:grpSpPr>
        <p:sp>
          <p:nvSpPr>
            <p:cNvPr id="13" name="テキスト ボックス 12">
              <a:extLst>
                <a:ext uri="{FF2B5EF4-FFF2-40B4-BE49-F238E27FC236}">
                  <a16:creationId xmlns:a16="http://schemas.microsoft.com/office/drawing/2014/main" id="{BFFC2173-0008-4D9E-9DEE-A0FC106BB8A0}"/>
                </a:ext>
              </a:extLst>
            </p:cNvPr>
            <p:cNvSpPr txBox="1"/>
            <p:nvPr/>
          </p:nvSpPr>
          <p:spPr>
            <a:xfrm>
              <a:off x="5900766" y="2950179"/>
              <a:ext cx="3140219" cy="707886"/>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線の上下を</a:t>
              </a:r>
              <a:r>
                <a:rPr kumimoji="1" lang="en-US" altLang="ja-JP" sz="2000" dirty="0">
                  <a:latin typeface="メイリオ" panose="020B0604030504040204" pitchFamily="50" charset="-128"/>
                  <a:ea typeface="メイリオ" panose="020B0604030504040204" pitchFamily="50" charset="-128"/>
                </a:rPr>
                <a:t>yes no </a:t>
              </a:r>
              <a:r>
                <a:rPr kumimoji="1" lang="ja-JP" altLang="en-US" sz="2000" dirty="0">
                  <a:latin typeface="メイリオ" panose="020B0604030504040204" pitchFamily="50" charset="-128"/>
                  <a:ea typeface="メイリオ" panose="020B0604030504040204" pitchFamily="50" charset="-128"/>
                </a:rPr>
                <a:t>ツリー</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であらわせる</a:t>
              </a:r>
            </a:p>
          </p:txBody>
        </p:sp>
        <p:sp>
          <p:nvSpPr>
            <p:cNvPr id="14" name="テキスト ボックス 13">
              <a:extLst>
                <a:ext uri="{FF2B5EF4-FFF2-40B4-BE49-F238E27FC236}">
                  <a16:creationId xmlns:a16="http://schemas.microsoft.com/office/drawing/2014/main" id="{BD457796-8734-4284-9313-787C81AC5B6B}"/>
                </a:ext>
              </a:extLst>
            </p:cNvPr>
            <p:cNvSpPr txBox="1"/>
            <p:nvPr/>
          </p:nvSpPr>
          <p:spPr>
            <a:xfrm>
              <a:off x="6670806" y="3672559"/>
              <a:ext cx="1358064" cy="461665"/>
            </a:xfrm>
            <a:prstGeom prst="rect">
              <a:avLst/>
            </a:prstGeom>
            <a:noFill/>
            <a:ln>
              <a:solidFill>
                <a:schemeClr val="tx1"/>
              </a:solidFill>
            </a:ln>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X1&lt;= a</a:t>
              </a:r>
              <a:endParaRPr kumimoji="1" lang="ja-JP" altLang="en-US" sz="24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2813A07C-16F6-46B1-A9E2-EB0F91DFD9E3}"/>
                </a:ext>
              </a:extLst>
            </p:cNvPr>
            <p:cNvSpPr txBox="1"/>
            <p:nvPr/>
          </p:nvSpPr>
          <p:spPr>
            <a:xfrm>
              <a:off x="5900766" y="488663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大体△</a:t>
              </a:r>
            </a:p>
          </p:txBody>
        </p:sp>
        <p:sp>
          <p:nvSpPr>
            <p:cNvPr id="16" name="テキスト ボックス 15">
              <a:extLst>
                <a:ext uri="{FF2B5EF4-FFF2-40B4-BE49-F238E27FC236}">
                  <a16:creationId xmlns:a16="http://schemas.microsoft.com/office/drawing/2014/main" id="{92E1A313-0706-4EFB-AEF1-011F81FB6E96}"/>
                </a:ext>
              </a:extLst>
            </p:cNvPr>
            <p:cNvSpPr txBox="1"/>
            <p:nvPr/>
          </p:nvSpPr>
          <p:spPr>
            <a:xfrm>
              <a:off x="7932989" y="488663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大体〇</a:t>
              </a:r>
            </a:p>
          </p:txBody>
        </p:sp>
        <p:cxnSp>
          <p:nvCxnSpPr>
            <p:cNvPr id="18" name="直線矢印コネクタ 17">
              <a:extLst>
                <a:ext uri="{FF2B5EF4-FFF2-40B4-BE49-F238E27FC236}">
                  <a16:creationId xmlns:a16="http://schemas.microsoft.com/office/drawing/2014/main" id="{540F3A88-8F6B-4028-8A7C-9C064372C818}"/>
                </a:ext>
              </a:extLst>
            </p:cNvPr>
            <p:cNvCxnSpPr>
              <a:cxnSpLocks/>
              <a:stCxn id="14" idx="2"/>
              <a:endCxn id="15" idx="0"/>
            </p:cNvCxnSpPr>
            <p:nvPr/>
          </p:nvCxnSpPr>
          <p:spPr>
            <a:xfrm flipH="1">
              <a:off x="6454764" y="4134224"/>
              <a:ext cx="895074" cy="752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EE438790-91D2-426C-994E-D49179FCCD8E}"/>
                </a:ext>
              </a:extLst>
            </p:cNvPr>
            <p:cNvCxnSpPr>
              <a:stCxn id="14" idx="2"/>
              <a:endCxn id="16" idx="0"/>
            </p:cNvCxnSpPr>
            <p:nvPr/>
          </p:nvCxnSpPr>
          <p:spPr>
            <a:xfrm>
              <a:off x="7349838" y="4134224"/>
              <a:ext cx="1137149" cy="752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0D1D8A61-E599-4BC9-9F00-EB5623A48112}"/>
                </a:ext>
              </a:extLst>
            </p:cNvPr>
            <p:cNvSpPr txBox="1"/>
            <p:nvPr/>
          </p:nvSpPr>
          <p:spPr>
            <a:xfrm>
              <a:off x="5762759" y="4242731"/>
              <a:ext cx="159588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r>
                <a:rPr kumimoji="1" lang="ja-JP" altLang="en-US" sz="2400" dirty="0">
                  <a:latin typeface="メイリオ" panose="020B0604030504040204" pitchFamily="50" charset="-128"/>
                  <a:ea typeface="メイリオ" panose="020B0604030504040204" pitchFamily="50" charset="-128"/>
                </a:rPr>
                <a:t>下）</a:t>
              </a:r>
            </a:p>
          </p:txBody>
        </p:sp>
        <p:sp>
          <p:nvSpPr>
            <p:cNvPr id="22" name="テキスト ボックス 21">
              <a:extLst>
                <a:ext uri="{FF2B5EF4-FFF2-40B4-BE49-F238E27FC236}">
                  <a16:creationId xmlns:a16="http://schemas.microsoft.com/office/drawing/2014/main" id="{1ADF281D-A12E-4EDB-BBA1-2D5E3A601A27}"/>
                </a:ext>
              </a:extLst>
            </p:cNvPr>
            <p:cNvSpPr txBox="1"/>
            <p:nvPr/>
          </p:nvSpPr>
          <p:spPr>
            <a:xfrm>
              <a:off x="7456422" y="4242731"/>
              <a:ext cx="168898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a:t>
              </a:r>
              <a:r>
                <a:rPr kumimoji="1" lang="ja-JP" altLang="en-US" sz="2400" dirty="0">
                  <a:latin typeface="メイリオ" panose="020B0604030504040204" pitchFamily="50" charset="-128"/>
                  <a:ea typeface="メイリオ" panose="020B0604030504040204" pitchFamily="50" charset="-128"/>
                </a:rPr>
                <a:t>上）</a:t>
              </a:r>
            </a:p>
          </p:txBody>
        </p:sp>
        <p:sp>
          <p:nvSpPr>
            <p:cNvPr id="24" name="正方形/長方形 23">
              <a:extLst>
                <a:ext uri="{FF2B5EF4-FFF2-40B4-BE49-F238E27FC236}">
                  <a16:creationId xmlns:a16="http://schemas.microsoft.com/office/drawing/2014/main" id="{0DA6336C-4042-4402-B3E2-BC3742F2EC85}"/>
                </a:ext>
              </a:extLst>
            </p:cNvPr>
            <p:cNvSpPr/>
            <p:nvPr/>
          </p:nvSpPr>
          <p:spPr>
            <a:xfrm>
              <a:off x="5762759" y="2841521"/>
              <a:ext cx="3278226" cy="31168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7" name="グループ化 26">
            <a:extLst>
              <a:ext uri="{FF2B5EF4-FFF2-40B4-BE49-F238E27FC236}">
                <a16:creationId xmlns:a16="http://schemas.microsoft.com/office/drawing/2014/main" id="{263EF69A-F3E2-43DC-B922-C6E878C92145}"/>
              </a:ext>
            </a:extLst>
          </p:cNvPr>
          <p:cNvGrpSpPr/>
          <p:nvPr/>
        </p:nvGrpSpPr>
        <p:grpSpPr>
          <a:xfrm>
            <a:off x="7182512" y="2818951"/>
            <a:ext cx="3382652" cy="3116827"/>
            <a:chOff x="5762759" y="2536850"/>
            <a:chExt cx="3382652" cy="3116827"/>
          </a:xfrm>
        </p:grpSpPr>
        <p:sp>
          <p:nvSpPr>
            <p:cNvPr id="28" name="テキスト ボックス 27">
              <a:extLst>
                <a:ext uri="{FF2B5EF4-FFF2-40B4-BE49-F238E27FC236}">
                  <a16:creationId xmlns:a16="http://schemas.microsoft.com/office/drawing/2014/main" id="{0EE7019F-7C36-4FF6-B3EE-C7C208B7870E}"/>
                </a:ext>
              </a:extLst>
            </p:cNvPr>
            <p:cNvSpPr txBox="1"/>
            <p:nvPr/>
          </p:nvSpPr>
          <p:spPr>
            <a:xfrm>
              <a:off x="5872161" y="2981277"/>
              <a:ext cx="3140219" cy="707886"/>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線の左右を</a:t>
              </a:r>
              <a:r>
                <a:rPr kumimoji="1" lang="en-US" altLang="ja-JP" sz="2000" dirty="0">
                  <a:latin typeface="メイリオ" panose="020B0604030504040204" pitchFamily="50" charset="-128"/>
                  <a:ea typeface="メイリオ" panose="020B0604030504040204" pitchFamily="50" charset="-128"/>
                </a:rPr>
                <a:t>yes no </a:t>
              </a:r>
              <a:r>
                <a:rPr kumimoji="1" lang="ja-JP" altLang="en-US" sz="2000" dirty="0">
                  <a:latin typeface="メイリオ" panose="020B0604030504040204" pitchFamily="50" charset="-128"/>
                  <a:ea typeface="メイリオ" panose="020B0604030504040204" pitchFamily="50" charset="-128"/>
                </a:rPr>
                <a:t>ツリー</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であらわせる</a:t>
              </a:r>
            </a:p>
          </p:txBody>
        </p:sp>
        <p:sp>
          <p:nvSpPr>
            <p:cNvPr id="29" name="テキスト ボックス 28">
              <a:extLst>
                <a:ext uri="{FF2B5EF4-FFF2-40B4-BE49-F238E27FC236}">
                  <a16:creationId xmlns:a16="http://schemas.microsoft.com/office/drawing/2014/main" id="{9AAF7FCD-B01A-48F9-8FA2-86B0FCE6D710}"/>
                </a:ext>
              </a:extLst>
            </p:cNvPr>
            <p:cNvSpPr txBox="1"/>
            <p:nvPr/>
          </p:nvSpPr>
          <p:spPr>
            <a:xfrm>
              <a:off x="6670806" y="3672559"/>
              <a:ext cx="1367682" cy="461665"/>
            </a:xfrm>
            <a:prstGeom prst="rect">
              <a:avLst/>
            </a:prstGeom>
            <a:noFill/>
            <a:ln>
              <a:solidFill>
                <a:schemeClr val="tx1"/>
              </a:solidFill>
            </a:ln>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X0&lt;= b</a:t>
              </a:r>
              <a:endParaRPr kumimoji="1" lang="ja-JP" altLang="en-US" sz="2400"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3DE95A90-8F76-4F90-9AFD-E08BD7DE79DB}"/>
                </a:ext>
              </a:extLst>
            </p:cNvPr>
            <p:cNvSpPr txBox="1"/>
            <p:nvPr/>
          </p:nvSpPr>
          <p:spPr>
            <a:xfrm>
              <a:off x="5900766" y="488663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大体〇</a:t>
              </a:r>
            </a:p>
          </p:txBody>
        </p:sp>
        <p:sp>
          <p:nvSpPr>
            <p:cNvPr id="31" name="テキスト ボックス 30">
              <a:extLst>
                <a:ext uri="{FF2B5EF4-FFF2-40B4-BE49-F238E27FC236}">
                  <a16:creationId xmlns:a16="http://schemas.microsoft.com/office/drawing/2014/main" id="{1802D31E-E646-403F-959E-DD8D12336F43}"/>
                </a:ext>
              </a:extLst>
            </p:cNvPr>
            <p:cNvSpPr txBox="1"/>
            <p:nvPr/>
          </p:nvSpPr>
          <p:spPr>
            <a:xfrm>
              <a:off x="7932989" y="488663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大体△</a:t>
              </a:r>
            </a:p>
          </p:txBody>
        </p:sp>
        <p:cxnSp>
          <p:nvCxnSpPr>
            <p:cNvPr id="32" name="直線矢印コネクタ 31">
              <a:extLst>
                <a:ext uri="{FF2B5EF4-FFF2-40B4-BE49-F238E27FC236}">
                  <a16:creationId xmlns:a16="http://schemas.microsoft.com/office/drawing/2014/main" id="{87306360-E896-4043-BA0B-D3BAD27E03CB}"/>
                </a:ext>
              </a:extLst>
            </p:cNvPr>
            <p:cNvCxnSpPr>
              <a:cxnSpLocks/>
              <a:stCxn id="29" idx="2"/>
              <a:endCxn id="30" idx="0"/>
            </p:cNvCxnSpPr>
            <p:nvPr/>
          </p:nvCxnSpPr>
          <p:spPr>
            <a:xfrm flipH="1">
              <a:off x="6454764" y="4134224"/>
              <a:ext cx="899883" cy="752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404AA4F8-BB5D-4E6E-8E27-EA2CE459A123}"/>
                </a:ext>
              </a:extLst>
            </p:cNvPr>
            <p:cNvCxnSpPr>
              <a:stCxn id="29" idx="2"/>
              <a:endCxn id="31" idx="0"/>
            </p:cNvCxnSpPr>
            <p:nvPr/>
          </p:nvCxnSpPr>
          <p:spPr>
            <a:xfrm>
              <a:off x="7354647" y="4134224"/>
              <a:ext cx="1132340" cy="752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3F690C2B-14AF-4465-8556-83E1AD685271}"/>
                </a:ext>
              </a:extLst>
            </p:cNvPr>
            <p:cNvSpPr txBox="1"/>
            <p:nvPr/>
          </p:nvSpPr>
          <p:spPr>
            <a:xfrm>
              <a:off x="5762759" y="4242731"/>
              <a:ext cx="159588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r>
                <a:rPr kumimoji="1" lang="ja-JP" altLang="en-US" sz="2400" dirty="0">
                  <a:latin typeface="メイリオ" panose="020B0604030504040204" pitchFamily="50" charset="-128"/>
                  <a:ea typeface="メイリオ" panose="020B0604030504040204" pitchFamily="50" charset="-128"/>
                </a:rPr>
                <a:t>左）</a:t>
              </a:r>
            </a:p>
          </p:txBody>
        </p:sp>
        <p:sp>
          <p:nvSpPr>
            <p:cNvPr id="35" name="テキスト ボックス 34">
              <a:extLst>
                <a:ext uri="{FF2B5EF4-FFF2-40B4-BE49-F238E27FC236}">
                  <a16:creationId xmlns:a16="http://schemas.microsoft.com/office/drawing/2014/main" id="{0F300979-C3EC-496A-BF50-4A82DAB5DD3C}"/>
                </a:ext>
              </a:extLst>
            </p:cNvPr>
            <p:cNvSpPr txBox="1"/>
            <p:nvPr/>
          </p:nvSpPr>
          <p:spPr>
            <a:xfrm>
              <a:off x="7456422" y="4242731"/>
              <a:ext cx="168898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a:t>
              </a:r>
              <a:r>
                <a:rPr kumimoji="1" lang="ja-JP" altLang="en-US" sz="2400" dirty="0">
                  <a:latin typeface="メイリオ" panose="020B0604030504040204" pitchFamily="50" charset="-128"/>
                  <a:ea typeface="メイリオ" panose="020B0604030504040204" pitchFamily="50" charset="-128"/>
                </a:rPr>
                <a:t>右）</a:t>
              </a:r>
            </a:p>
          </p:txBody>
        </p:sp>
        <p:sp>
          <p:nvSpPr>
            <p:cNvPr id="36" name="正方形/長方形 35">
              <a:extLst>
                <a:ext uri="{FF2B5EF4-FFF2-40B4-BE49-F238E27FC236}">
                  <a16:creationId xmlns:a16="http://schemas.microsoft.com/office/drawing/2014/main" id="{D08D72E9-296B-4C31-B2D9-E445FFF719BE}"/>
                </a:ext>
              </a:extLst>
            </p:cNvPr>
            <p:cNvSpPr/>
            <p:nvPr/>
          </p:nvSpPr>
          <p:spPr>
            <a:xfrm>
              <a:off x="5858640" y="2536850"/>
              <a:ext cx="3278226" cy="31168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テキスト ボックス 1">
            <a:extLst>
              <a:ext uri="{FF2B5EF4-FFF2-40B4-BE49-F238E27FC236}">
                <a16:creationId xmlns:a16="http://schemas.microsoft.com/office/drawing/2014/main" id="{94D7B386-7489-8829-A10A-D84581FF470C}"/>
              </a:ext>
            </a:extLst>
          </p:cNvPr>
          <p:cNvSpPr txBox="1"/>
          <p:nvPr/>
        </p:nvSpPr>
        <p:spPr>
          <a:xfrm>
            <a:off x="6847623" y="6007260"/>
            <a:ext cx="522900" cy="523220"/>
          </a:xfrm>
          <a:prstGeom prst="rect">
            <a:avLst/>
          </a:prstGeom>
          <a:noFill/>
        </p:spPr>
        <p:txBody>
          <a:bodyPr wrap="none" rtlCol="0">
            <a:spAutoFit/>
          </a:bodyPr>
          <a:lstStyle/>
          <a:p>
            <a:r>
              <a:rPr kumimoji="1" lang="en-US" altLang="ja-JP" sz="2800" dirty="0"/>
              <a:t>x0</a:t>
            </a:r>
            <a:endParaRPr kumimoji="1" lang="ja-JP" altLang="en-US" sz="2800" dirty="0"/>
          </a:p>
        </p:txBody>
      </p:sp>
      <p:sp>
        <p:nvSpPr>
          <p:cNvPr id="9" name="テキスト ボックス 8">
            <a:extLst>
              <a:ext uri="{FF2B5EF4-FFF2-40B4-BE49-F238E27FC236}">
                <a16:creationId xmlns:a16="http://schemas.microsoft.com/office/drawing/2014/main" id="{35101022-BE64-E2D6-B321-719328AFB314}"/>
              </a:ext>
            </a:extLst>
          </p:cNvPr>
          <p:cNvSpPr txBox="1"/>
          <p:nvPr/>
        </p:nvSpPr>
        <p:spPr>
          <a:xfrm>
            <a:off x="1362784" y="2560247"/>
            <a:ext cx="522900" cy="523220"/>
          </a:xfrm>
          <a:prstGeom prst="rect">
            <a:avLst/>
          </a:prstGeom>
          <a:noFill/>
        </p:spPr>
        <p:txBody>
          <a:bodyPr wrap="none" rtlCol="0">
            <a:spAutoFit/>
          </a:bodyPr>
          <a:lstStyle/>
          <a:p>
            <a:r>
              <a:rPr kumimoji="1" lang="en-US" altLang="ja-JP" sz="2800" dirty="0"/>
              <a:t>x1</a:t>
            </a:r>
            <a:endParaRPr kumimoji="1" lang="ja-JP" altLang="en-US" sz="2800" dirty="0"/>
          </a:p>
        </p:txBody>
      </p:sp>
    </p:spTree>
    <p:extLst>
      <p:ext uri="{BB962C8B-B14F-4D97-AF65-F5344CB8AC3E}">
        <p14:creationId xmlns:p14="http://schemas.microsoft.com/office/powerpoint/2010/main" val="352731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xit" presetSubtype="0" fill="hold" nodeType="withEffect">
                                  <p:stCondLst>
                                    <p:cond delay="0"/>
                                  </p:stCondLst>
                                  <p:childTnLst>
                                    <p:animEffect transition="out" filter="fade">
                                      <p:cBhvr>
                                        <p:cTn id="24" dur="500"/>
                                        <p:tgtEl>
                                          <p:spTgt spid="26"/>
                                        </p:tgtEl>
                                      </p:cBhvr>
                                    </p:animEffect>
                                    <p:set>
                                      <p:cBhvr>
                                        <p:cTn id="25" dur="1" fill="hold">
                                          <p:stCondLst>
                                            <p:cond delay="499"/>
                                          </p:stCondLst>
                                        </p:cTn>
                                        <p:tgtEl>
                                          <p:spTgt spid="26"/>
                                        </p:tgtEl>
                                        <p:attrNameLst>
                                          <p:attrName>style.visibility</p:attrName>
                                        </p:attrNameLst>
                                      </p:cBhvr>
                                      <p:to>
                                        <p:strVal val="hidden"/>
                                      </p:to>
                                    </p:se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23A6C6A3-4352-43CB-B284-CF4BC9812304}"/>
              </a:ext>
            </a:extLst>
          </p:cNvPr>
          <p:cNvSpPr txBox="1"/>
          <p:nvPr/>
        </p:nvSpPr>
        <p:spPr>
          <a:xfrm>
            <a:off x="376637" y="338385"/>
            <a:ext cx="6340197"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縦線、横線どっちを先に引くか？</a:t>
            </a:r>
          </a:p>
        </p:txBody>
      </p:sp>
      <p:sp>
        <p:nvSpPr>
          <p:cNvPr id="13" name="テキスト ボックス 12">
            <a:extLst>
              <a:ext uri="{FF2B5EF4-FFF2-40B4-BE49-F238E27FC236}">
                <a16:creationId xmlns:a16="http://schemas.microsoft.com/office/drawing/2014/main" id="{4F5B9AC6-DEA6-415B-96CD-51D56DF091C1}"/>
              </a:ext>
            </a:extLst>
          </p:cNvPr>
          <p:cNvSpPr txBox="1"/>
          <p:nvPr/>
        </p:nvSpPr>
        <p:spPr>
          <a:xfrm>
            <a:off x="684413" y="1052697"/>
            <a:ext cx="572464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一番すっきり</a:t>
            </a:r>
            <a:r>
              <a:rPr kumimoji="1" lang="ja-JP" altLang="en-US" sz="2400" dirty="0" err="1">
                <a:latin typeface="メイリオ" panose="020B0604030504040204" pitchFamily="50" charset="-128"/>
                <a:ea typeface="メイリオ" panose="020B0604030504040204" pitchFamily="50" charset="-128"/>
              </a:rPr>
              <a:t>〇</a:t>
            </a:r>
            <a:r>
              <a:rPr kumimoji="1" lang="ja-JP" altLang="en-US" sz="2400" dirty="0">
                <a:latin typeface="メイリオ" panose="020B0604030504040204" pitchFamily="50" charset="-128"/>
                <a:ea typeface="メイリオ" panose="020B0604030504040204" pitchFamily="50" charset="-128"/>
              </a:rPr>
              <a:t>△を分離できる線を探す</a:t>
            </a:r>
          </a:p>
        </p:txBody>
      </p:sp>
      <p:sp>
        <p:nvSpPr>
          <p:cNvPr id="14" name="テキスト ボックス 13">
            <a:extLst>
              <a:ext uri="{FF2B5EF4-FFF2-40B4-BE49-F238E27FC236}">
                <a16:creationId xmlns:a16="http://schemas.microsoft.com/office/drawing/2014/main" id="{F66CFFC7-3FC8-4CE9-841D-0B87B2AB147A}"/>
              </a:ext>
            </a:extLst>
          </p:cNvPr>
          <p:cNvSpPr txBox="1"/>
          <p:nvPr/>
        </p:nvSpPr>
        <p:spPr>
          <a:xfrm>
            <a:off x="2090259" y="2132988"/>
            <a:ext cx="5262979" cy="646331"/>
          </a:xfrm>
          <a:prstGeom prst="rect">
            <a:avLst/>
          </a:prstGeom>
          <a:noFill/>
        </p:spPr>
        <p:txBody>
          <a:bodyPr wrap="none" rtlCol="0">
            <a:spAutoFit/>
          </a:bodyPr>
          <a:lstStyle/>
          <a:p>
            <a:pPr algn="l"/>
            <a:r>
              <a:rPr kumimoji="1" lang="ja-JP" altLang="en-US" sz="3600" dirty="0">
                <a:latin typeface="メイリオ" panose="020B0604030504040204" pitchFamily="50" charset="-128"/>
                <a:ea typeface="メイリオ" panose="020B0604030504040204" pitchFamily="50" charset="-128"/>
              </a:rPr>
              <a:t>すっきりってなんだ？　</a:t>
            </a:r>
          </a:p>
        </p:txBody>
      </p:sp>
      <p:sp>
        <p:nvSpPr>
          <p:cNvPr id="15" name="テキスト ボックス 14">
            <a:extLst>
              <a:ext uri="{FF2B5EF4-FFF2-40B4-BE49-F238E27FC236}">
                <a16:creationId xmlns:a16="http://schemas.microsoft.com/office/drawing/2014/main" id="{2CEFF69A-32ED-4BD9-A41C-7AD99712416D}"/>
              </a:ext>
            </a:extLst>
          </p:cNvPr>
          <p:cNvSpPr txBox="1"/>
          <p:nvPr/>
        </p:nvSpPr>
        <p:spPr>
          <a:xfrm>
            <a:off x="2252490" y="2891983"/>
            <a:ext cx="9243236"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横線</a:t>
            </a:r>
            <a:r>
              <a:rPr kumimoji="1" lang="en-US" altLang="ja-JP" sz="2400" dirty="0">
                <a:latin typeface="メイリオ" panose="020B0604030504040204" pitchFamily="50" charset="-128"/>
                <a:ea typeface="メイリオ" panose="020B0604030504040204" pitchFamily="50" charset="-128"/>
              </a:rPr>
              <a:t>(x1=a)</a:t>
            </a:r>
            <a:r>
              <a:rPr kumimoji="1" lang="ja-JP" altLang="en-US" sz="2400" dirty="0">
                <a:latin typeface="メイリオ" panose="020B0604030504040204" pitchFamily="50" charset="-128"/>
                <a:ea typeface="メイリオ" panose="020B0604030504040204" pitchFamily="50" charset="-128"/>
              </a:rPr>
              <a:t>：上領域で△の数が少ない　下領域で〇の数が少ない</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縦線</a:t>
            </a:r>
            <a:r>
              <a:rPr kumimoji="1" lang="en-US" altLang="ja-JP" sz="2400" dirty="0">
                <a:latin typeface="メイリオ" panose="020B0604030504040204" pitchFamily="50" charset="-128"/>
                <a:ea typeface="メイリオ" panose="020B0604030504040204" pitchFamily="50" charset="-128"/>
              </a:rPr>
              <a:t>(x0=b)</a:t>
            </a:r>
            <a:r>
              <a:rPr kumimoji="1" lang="ja-JP" altLang="en-US" sz="2400" dirty="0">
                <a:latin typeface="メイリオ" panose="020B0604030504040204" pitchFamily="50" charset="-128"/>
                <a:ea typeface="メイリオ" panose="020B0604030504040204" pitchFamily="50" charset="-128"/>
              </a:rPr>
              <a:t>：左領域で△の数が少ない　右領域で〇の数が少ない</a:t>
            </a:r>
          </a:p>
        </p:txBody>
      </p:sp>
      <p:sp>
        <p:nvSpPr>
          <p:cNvPr id="16" name="テキスト ボックス 15">
            <a:extLst>
              <a:ext uri="{FF2B5EF4-FFF2-40B4-BE49-F238E27FC236}">
                <a16:creationId xmlns:a16="http://schemas.microsoft.com/office/drawing/2014/main" id="{9079E3EC-76C7-4C73-ACE6-0DAC27D3F8ED}"/>
              </a:ext>
            </a:extLst>
          </p:cNvPr>
          <p:cNvSpPr txBox="1"/>
          <p:nvPr/>
        </p:nvSpPr>
        <p:spPr>
          <a:xfrm>
            <a:off x="1916147" y="4804809"/>
            <a:ext cx="8761629" cy="1569660"/>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つまり（訓練データの）混じり気（もしくは純度）を最小化</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（最大化）するような線がすっきりさせる線</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完全ではないが、近似的な</a:t>
            </a:r>
            <a:r>
              <a:rPr kumimoji="1" lang="en-US" altLang="ja-JP" sz="2400" dirty="0">
                <a:latin typeface="メイリオ" panose="020B0604030504040204" pitchFamily="50" charset="-128"/>
                <a:ea typeface="メイリオ" panose="020B0604030504040204" pitchFamily="50" charset="-128"/>
              </a:rPr>
              <a:t>yes/no question</a:t>
            </a:r>
            <a:r>
              <a:rPr kumimoji="1" lang="ja-JP" altLang="en-US" sz="2400" dirty="0">
                <a:latin typeface="メイリオ" panose="020B0604030504040204" pitchFamily="50" charset="-128"/>
                <a:ea typeface="メイリオ" panose="020B0604030504040204" pitchFamily="50" charset="-128"/>
              </a:rPr>
              <a:t>機械学習にできる</a:t>
            </a:r>
          </a:p>
        </p:txBody>
      </p:sp>
      <p:sp>
        <p:nvSpPr>
          <p:cNvPr id="17" name="矢印: 下 16">
            <a:extLst>
              <a:ext uri="{FF2B5EF4-FFF2-40B4-BE49-F238E27FC236}">
                <a16:creationId xmlns:a16="http://schemas.microsoft.com/office/drawing/2014/main" id="{C9942D98-EB65-4E1C-BCBF-562562497498}"/>
              </a:ext>
            </a:extLst>
          </p:cNvPr>
          <p:cNvSpPr/>
          <p:nvPr/>
        </p:nvSpPr>
        <p:spPr>
          <a:xfrm>
            <a:off x="5329085" y="3948308"/>
            <a:ext cx="2320413" cy="5450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59043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8C4FAED9-3915-455A-C198-6C8962D18361}"/>
              </a:ext>
            </a:extLst>
          </p:cNvPr>
          <p:cNvPicPr>
            <a:picLocks noChangeAspect="1"/>
          </p:cNvPicPr>
          <p:nvPr/>
        </p:nvPicPr>
        <p:blipFill>
          <a:blip r:embed="rId2"/>
          <a:stretch>
            <a:fillRect/>
          </a:stretch>
        </p:blipFill>
        <p:spPr>
          <a:xfrm>
            <a:off x="3469833" y="2387001"/>
            <a:ext cx="5562886" cy="3988005"/>
          </a:xfrm>
          <a:prstGeom prst="rect">
            <a:avLst/>
          </a:prstGeom>
        </p:spPr>
      </p:pic>
      <p:sp>
        <p:nvSpPr>
          <p:cNvPr id="2" name="テキスト ボックス 1">
            <a:extLst>
              <a:ext uri="{FF2B5EF4-FFF2-40B4-BE49-F238E27FC236}">
                <a16:creationId xmlns:a16="http://schemas.microsoft.com/office/drawing/2014/main" id="{374FC4A8-3CDD-4389-9DB2-79BDF5C9735E}"/>
              </a:ext>
            </a:extLst>
          </p:cNvPr>
          <p:cNvSpPr txBox="1"/>
          <p:nvPr/>
        </p:nvSpPr>
        <p:spPr>
          <a:xfrm>
            <a:off x="308012" y="318818"/>
            <a:ext cx="7981672"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縦線、横線を上下（左右）に動かしてみる</a:t>
            </a:r>
          </a:p>
        </p:txBody>
      </p:sp>
      <p:sp>
        <p:nvSpPr>
          <p:cNvPr id="3" name="テキスト ボックス 2">
            <a:extLst>
              <a:ext uri="{FF2B5EF4-FFF2-40B4-BE49-F238E27FC236}">
                <a16:creationId xmlns:a16="http://schemas.microsoft.com/office/drawing/2014/main" id="{02AD864A-EEE0-41FF-A8E4-64467669D2ED}"/>
              </a:ext>
            </a:extLst>
          </p:cNvPr>
          <p:cNvSpPr txBox="1"/>
          <p:nvPr/>
        </p:nvSpPr>
        <p:spPr>
          <a:xfrm>
            <a:off x="466531" y="1026400"/>
            <a:ext cx="11308701"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縦線、横線それぞれ一番すっきり分離できる（テキストでは“情報量が小さい”と表現している）線を探す</a:t>
            </a:r>
          </a:p>
        </p:txBody>
      </p:sp>
      <p:sp>
        <p:nvSpPr>
          <p:cNvPr id="4" name="テキスト ボックス 3">
            <a:extLst>
              <a:ext uri="{FF2B5EF4-FFF2-40B4-BE49-F238E27FC236}">
                <a16:creationId xmlns:a16="http://schemas.microsoft.com/office/drawing/2014/main" id="{2697704D-C3FE-4970-A301-9A3BA64B23AC}"/>
              </a:ext>
            </a:extLst>
          </p:cNvPr>
          <p:cNvSpPr txBox="1"/>
          <p:nvPr/>
        </p:nvSpPr>
        <p:spPr>
          <a:xfrm>
            <a:off x="3779007" y="2049985"/>
            <a:ext cx="295465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例えば横線を動かす</a:t>
            </a:r>
          </a:p>
        </p:txBody>
      </p:sp>
      <p:grpSp>
        <p:nvGrpSpPr>
          <p:cNvPr id="6" name="グループ化 5">
            <a:extLst>
              <a:ext uri="{FF2B5EF4-FFF2-40B4-BE49-F238E27FC236}">
                <a16:creationId xmlns:a16="http://schemas.microsoft.com/office/drawing/2014/main" id="{7CDDE9DC-42CD-4F51-BEC2-236076457138}"/>
              </a:ext>
            </a:extLst>
          </p:cNvPr>
          <p:cNvGrpSpPr/>
          <p:nvPr/>
        </p:nvGrpSpPr>
        <p:grpSpPr>
          <a:xfrm>
            <a:off x="3597707" y="4090000"/>
            <a:ext cx="5169129" cy="461665"/>
            <a:chOff x="1900265" y="4339802"/>
            <a:chExt cx="5169129" cy="461665"/>
          </a:xfrm>
        </p:grpSpPr>
        <p:cxnSp>
          <p:nvCxnSpPr>
            <p:cNvPr id="7" name="直線コネクタ 6">
              <a:extLst>
                <a:ext uri="{FF2B5EF4-FFF2-40B4-BE49-F238E27FC236}">
                  <a16:creationId xmlns:a16="http://schemas.microsoft.com/office/drawing/2014/main" id="{1F4ADF12-01C6-42A8-81DB-CB666B4FAAEB}"/>
                </a:ext>
              </a:extLst>
            </p:cNvPr>
            <p:cNvCxnSpPr/>
            <p:nvPr/>
          </p:nvCxnSpPr>
          <p:spPr>
            <a:xfrm>
              <a:off x="2340077" y="4570635"/>
              <a:ext cx="472931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59C3239D-F2EB-4A5A-AB99-62B0073D542A}"/>
                </a:ext>
              </a:extLst>
            </p:cNvPr>
            <p:cNvSpPr txBox="1"/>
            <p:nvPr/>
          </p:nvSpPr>
          <p:spPr>
            <a:xfrm>
              <a:off x="1900265" y="4339802"/>
              <a:ext cx="36260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a</a:t>
              </a:r>
              <a:endParaRPr kumimoji="1" lang="ja-JP" altLang="en-US" sz="2400" dirty="0">
                <a:latin typeface="メイリオ" panose="020B0604030504040204" pitchFamily="50" charset="-128"/>
                <a:ea typeface="メイリオ" panose="020B0604030504040204" pitchFamily="50" charset="-128"/>
              </a:endParaRPr>
            </a:p>
          </p:txBody>
        </p:sp>
      </p:grpSp>
      <p:sp>
        <p:nvSpPr>
          <p:cNvPr id="12" name="テキスト ボックス 11">
            <a:extLst>
              <a:ext uri="{FF2B5EF4-FFF2-40B4-BE49-F238E27FC236}">
                <a16:creationId xmlns:a16="http://schemas.microsoft.com/office/drawing/2014/main" id="{2BCE6887-F5B5-4220-9A5E-6C4CB4F48CE3}"/>
              </a:ext>
            </a:extLst>
          </p:cNvPr>
          <p:cNvSpPr txBox="1"/>
          <p:nvPr/>
        </p:nvSpPr>
        <p:spPr>
          <a:xfrm>
            <a:off x="1192312" y="6421019"/>
            <a:ext cx="9857138" cy="461665"/>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〇△の混じり気（純度）を最小化（最大化）するような</a:t>
            </a:r>
            <a:r>
              <a:rPr kumimoji="1" lang="en-US" altLang="ja-JP" sz="2400" dirty="0">
                <a:latin typeface="メイリオ" panose="020B0604030504040204" pitchFamily="50" charset="-128"/>
                <a:ea typeface="メイリオ" panose="020B0604030504040204" pitchFamily="50" charset="-128"/>
              </a:rPr>
              <a:t>a</a:t>
            </a:r>
            <a:r>
              <a:rPr kumimoji="1" lang="ja-JP" altLang="en-US" sz="2400" dirty="0">
                <a:latin typeface="メイリオ" panose="020B0604030504040204" pitchFamily="50" charset="-128"/>
                <a:ea typeface="メイリオ" panose="020B0604030504040204" pitchFamily="50" charset="-128"/>
              </a:rPr>
              <a:t>があるはず</a:t>
            </a:r>
          </a:p>
        </p:txBody>
      </p:sp>
    </p:spTree>
    <p:extLst>
      <p:ext uri="{BB962C8B-B14F-4D97-AF65-F5344CB8AC3E}">
        <p14:creationId xmlns:p14="http://schemas.microsoft.com/office/powerpoint/2010/main" val="7558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path" presetSubtype="0" accel="50000" decel="50000" fill="hold" nodeType="withEffect">
                                  <p:stCondLst>
                                    <p:cond delay="0"/>
                                  </p:stCondLst>
                                  <p:childTnLst>
                                    <p:animMotion origin="layout" path="M 5E-6 -1.11111E-6 L 5E-6 0.25 " pathEditMode="relative" rAng="0" ptsTypes="AA">
                                      <p:cBhvr>
                                        <p:cTn id="9" dur="2000" fill="hold"/>
                                        <p:tgtEl>
                                          <p:spTgt spid="6"/>
                                        </p:tgtEl>
                                        <p:attrNameLst>
                                          <p:attrName>ppt_x</p:attrName>
                                          <p:attrName>ppt_y</p:attrName>
                                        </p:attrNameLst>
                                      </p:cBhvr>
                                      <p:rCtr x="0" y="12500"/>
                                    </p:animMotion>
                                  </p:childTnLst>
                                </p:cTn>
                              </p:par>
                            </p:childTnLst>
                          </p:cTn>
                        </p:par>
                        <p:par>
                          <p:cTn id="10" fill="hold">
                            <p:stCondLst>
                              <p:cond delay="2000"/>
                            </p:stCondLst>
                            <p:childTnLst>
                              <p:par>
                                <p:cTn id="11" presetID="64" presetClass="path" presetSubtype="0" accel="50000" decel="50000" fill="hold" nodeType="afterEffect">
                                  <p:stCondLst>
                                    <p:cond delay="0"/>
                                  </p:stCondLst>
                                  <p:childTnLst>
                                    <p:animMotion origin="layout" path="M 5E-6 -1.11111E-6 L 5E-6 -0.25 " pathEditMode="relative" rAng="0" ptsTypes="AA">
                                      <p:cBhvr>
                                        <p:cTn id="12" dur="2000" fill="hold"/>
                                        <p:tgtEl>
                                          <p:spTgt spid="6"/>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0F0F59BB-E15A-FDAE-0550-4D41A86D4A4E}"/>
              </a:ext>
            </a:extLst>
          </p:cNvPr>
          <p:cNvPicPr>
            <a:picLocks noChangeAspect="1"/>
          </p:cNvPicPr>
          <p:nvPr/>
        </p:nvPicPr>
        <p:blipFill>
          <a:blip r:embed="rId2"/>
          <a:stretch>
            <a:fillRect/>
          </a:stretch>
        </p:blipFill>
        <p:spPr>
          <a:xfrm>
            <a:off x="3392195" y="2699892"/>
            <a:ext cx="5562886" cy="3988005"/>
          </a:xfrm>
          <a:prstGeom prst="rect">
            <a:avLst/>
          </a:prstGeom>
        </p:spPr>
      </p:pic>
      <p:cxnSp>
        <p:nvCxnSpPr>
          <p:cNvPr id="5" name="直線コネクタ 4">
            <a:extLst>
              <a:ext uri="{FF2B5EF4-FFF2-40B4-BE49-F238E27FC236}">
                <a16:creationId xmlns:a16="http://schemas.microsoft.com/office/drawing/2014/main" id="{BB038885-76A2-4BD1-9A5F-AEE479522A8A}"/>
              </a:ext>
            </a:extLst>
          </p:cNvPr>
          <p:cNvCxnSpPr/>
          <p:nvPr/>
        </p:nvCxnSpPr>
        <p:spPr>
          <a:xfrm>
            <a:off x="4037519" y="4752346"/>
            <a:ext cx="4729317"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1DECCE65-904D-4C4D-A029-2662DFCF9C85}"/>
                  </a:ext>
                </a:extLst>
              </p:cNvPr>
              <p:cNvSpPr txBox="1"/>
              <p:nvPr/>
            </p:nvSpPr>
            <p:spPr>
              <a:xfrm>
                <a:off x="2456702" y="4448796"/>
                <a:ext cx="1580817" cy="490199"/>
              </a:xfrm>
              <a:prstGeom prst="rect">
                <a:avLst/>
              </a:prstGeom>
              <a:noFill/>
            </p:spPr>
            <p:txBody>
              <a:bodyPr wrap="none" rtlCol="0">
                <a:spAutoFit/>
              </a:bodyPr>
              <a:lstStyle/>
              <a:p>
                <a:pPr algn="l"/>
                <a14:m>
                  <m:oMathPara xmlns:m="http://schemas.openxmlformats.org/officeDocument/2006/math">
                    <m:o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𝑎</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6" name="テキスト ボックス 5">
                <a:extLst>
                  <a:ext uri="{FF2B5EF4-FFF2-40B4-BE49-F238E27FC236}">
                    <a16:creationId xmlns:a16="http://schemas.microsoft.com/office/drawing/2014/main" id="{1DECCE65-904D-4C4D-A029-2662DFCF9C85}"/>
                  </a:ext>
                </a:extLst>
              </p:cNvPr>
              <p:cNvSpPr txBox="1">
                <a:spLocks noRot="1" noChangeAspect="1" noMove="1" noResize="1" noEditPoints="1" noAdjustHandles="1" noChangeArrowheads="1" noChangeShapeType="1" noTextEdit="1"/>
              </p:cNvSpPr>
              <p:nvPr/>
            </p:nvSpPr>
            <p:spPr>
              <a:xfrm>
                <a:off x="2456702" y="4448796"/>
                <a:ext cx="1580817" cy="490199"/>
              </a:xfrm>
              <a:prstGeom prst="rect">
                <a:avLst/>
              </a:prstGeom>
              <a:blipFill>
                <a:blip r:embed="rId3"/>
                <a:stretch>
                  <a:fillRect b="-5000"/>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3FF2293E-2E05-4268-878D-BE09BC679363}"/>
              </a:ext>
            </a:extLst>
          </p:cNvPr>
          <p:cNvSpPr txBox="1"/>
          <p:nvPr/>
        </p:nvSpPr>
        <p:spPr>
          <a:xfrm>
            <a:off x="510547" y="251739"/>
            <a:ext cx="2236510"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純度最大化</a:t>
            </a: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5A39932E-6C4F-424D-A5F3-6DC37F9B43BE}"/>
                  </a:ext>
                </a:extLst>
              </p:cNvPr>
              <p:cNvSpPr txBox="1"/>
              <p:nvPr/>
            </p:nvSpPr>
            <p:spPr>
              <a:xfrm>
                <a:off x="821094" y="836514"/>
                <a:ext cx="10860359" cy="1759777"/>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a &gt; </a:t>
                </a:r>
                <a:r>
                  <a:rPr kumimoji="1" lang="ja-JP" altLang="en-US" sz="2400" dirty="0">
                    <a:latin typeface="メイリオ" panose="020B0604030504040204" pitchFamily="50" charset="-128"/>
                    <a:ea typeface="メイリオ" panose="020B0604030504040204" pitchFamily="50" charset="-128"/>
                  </a:rPr>
                  <a:t>の領域（上）で〇（△）しかない</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a</a:t>
                </a:r>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&lt;</a:t>
                </a:r>
                <a:r>
                  <a:rPr kumimoji="1" lang="ja-JP" altLang="en-US" sz="2400" dirty="0">
                    <a:latin typeface="メイリオ" panose="020B0604030504040204" pitchFamily="50" charset="-128"/>
                    <a:ea typeface="メイリオ" panose="020B0604030504040204" pitchFamily="50" charset="-128"/>
                  </a:rPr>
                  <a:t> の領域（下）で△（〇）しかない状態が純度最大。</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105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そんな理想的な分離はできないが、できるだけ純度を上げられるような</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a</a:t>
                </a:r>
                <a:r>
                  <a:rPr kumimoji="1" lang="ja-JP" altLang="en-US" sz="2400" dirty="0">
                    <a:latin typeface="メイリオ" panose="020B0604030504040204" pitchFamily="50" charset="-128"/>
                    <a:ea typeface="メイリオ" panose="020B0604030504040204" pitchFamily="50" charset="-128"/>
                  </a:rPr>
                  <a:t>の値を探す</a:t>
                </a:r>
                <a14:m>
                  <m:oMath xmlns:m="http://schemas.openxmlformats.org/officeDocument/2006/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m:t>
                        </m:r>
                        <m:r>
                          <a:rPr kumimoji="1" lang="en-US" altLang="ja-JP" sz="2400" i="1">
                            <a:latin typeface="Cambria Math" panose="02040503050406030204" pitchFamily="18" charset="0"/>
                            <a:ea typeface="メイリオ" panose="020B0604030504040204" pitchFamily="50" charset="-128"/>
                          </a:rPr>
                          <m:t>𝑎</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a14:m>
                <a:r>
                  <a:rPr kumimoji="1" lang="en-US" altLang="ja-JP" sz="2400" dirty="0">
                    <a:latin typeface="メイリオ" panose="020B0604030504040204" pitchFamily="50" charset="-128"/>
                    <a:ea typeface="メイリオ" panose="020B0604030504040204" pitchFamily="50" charset="-128"/>
                  </a:rPr>
                  <a:t>)</a:t>
                </a:r>
              </a:p>
            </p:txBody>
          </p:sp>
        </mc:Choice>
        <mc:Fallback xmlns="">
          <p:sp>
            <p:nvSpPr>
              <p:cNvPr id="8" name="テキスト ボックス 7">
                <a:extLst>
                  <a:ext uri="{FF2B5EF4-FFF2-40B4-BE49-F238E27FC236}">
                    <a16:creationId xmlns:a16="http://schemas.microsoft.com/office/drawing/2014/main" id="{5A39932E-6C4F-424D-A5F3-6DC37F9B43BE}"/>
                  </a:ext>
                </a:extLst>
              </p:cNvPr>
              <p:cNvSpPr txBox="1">
                <a:spLocks noRot="1" noChangeAspect="1" noMove="1" noResize="1" noEditPoints="1" noAdjustHandles="1" noChangeArrowheads="1" noChangeShapeType="1" noTextEdit="1"/>
              </p:cNvSpPr>
              <p:nvPr/>
            </p:nvSpPr>
            <p:spPr>
              <a:xfrm>
                <a:off x="821094" y="836514"/>
                <a:ext cx="10860359" cy="1759777"/>
              </a:xfrm>
              <a:prstGeom prst="rect">
                <a:avLst/>
              </a:prstGeom>
              <a:blipFill>
                <a:blip r:embed="rId4"/>
                <a:stretch>
                  <a:fillRect l="-898" t="-2768" r="-225" b="-692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79840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2EA60952-66A4-0FFD-9332-89A6E4EB1AC0}"/>
              </a:ext>
            </a:extLst>
          </p:cNvPr>
          <p:cNvPicPr>
            <a:picLocks noChangeAspect="1"/>
          </p:cNvPicPr>
          <p:nvPr/>
        </p:nvPicPr>
        <p:blipFill>
          <a:blip r:embed="rId2"/>
          <a:stretch>
            <a:fillRect/>
          </a:stretch>
        </p:blipFill>
        <p:spPr>
          <a:xfrm>
            <a:off x="3478459" y="2944619"/>
            <a:ext cx="5562886" cy="3988005"/>
          </a:xfrm>
          <a:prstGeom prst="rect">
            <a:avLst/>
          </a:prstGeom>
        </p:spPr>
      </p:pic>
      <p:sp>
        <p:nvSpPr>
          <p:cNvPr id="7" name="テキスト ボックス 6">
            <a:extLst>
              <a:ext uri="{FF2B5EF4-FFF2-40B4-BE49-F238E27FC236}">
                <a16:creationId xmlns:a16="http://schemas.microsoft.com/office/drawing/2014/main" id="{3FF2293E-2E05-4268-878D-BE09BC679363}"/>
              </a:ext>
            </a:extLst>
          </p:cNvPr>
          <p:cNvSpPr txBox="1"/>
          <p:nvPr/>
        </p:nvSpPr>
        <p:spPr>
          <a:xfrm>
            <a:off x="445234" y="251739"/>
            <a:ext cx="2236510"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純度最大化</a:t>
            </a: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5A39932E-6C4F-424D-A5F3-6DC37F9B43BE}"/>
                  </a:ext>
                </a:extLst>
              </p:cNvPr>
              <p:cNvSpPr txBox="1"/>
              <p:nvPr/>
            </p:nvSpPr>
            <p:spPr>
              <a:xfrm>
                <a:off x="2339206" y="836514"/>
                <a:ext cx="8452955" cy="175977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b &lt; </a:t>
                </a:r>
                <a:r>
                  <a:rPr kumimoji="1" lang="ja-JP" altLang="en-US" sz="2400" dirty="0">
                    <a:latin typeface="メイリオ" panose="020B0604030504040204" pitchFamily="50" charset="-128"/>
                    <a:ea typeface="メイリオ" panose="020B0604030504040204" pitchFamily="50" charset="-128"/>
                  </a:rPr>
                  <a:t>の領域（左）で〇（△）しかない</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b</a:t>
                </a:r>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&lt;</a:t>
                </a:r>
                <a:r>
                  <a:rPr kumimoji="1" lang="ja-JP" altLang="en-US" sz="2400" dirty="0">
                    <a:latin typeface="メイリオ" panose="020B0604030504040204" pitchFamily="50" charset="-128"/>
                    <a:ea typeface="メイリオ" panose="020B0604030504040204" pitchFamily="50" charset="-128"/>
                  </a:rPr>
                  <a:t> の領域（右）</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で△（〇）しかない状態が純度最大。</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105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そんな理想的な分離はできないが、できるだけ純度</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を上げられるような</a:t>
                </a:r>
                <a:r>
                  <a:rPr kumimoji="1" lang="en-US" altLang="ja-JP" sz="2400" dirty="0">
                    <a:latin typeface="メイリオ" panose="020B0604030504040204" pitchFamily="50" charset="-128"/>
                    <a:ea typeface="メイリオ" panose="020B0604030504040204" pitchFamily="50" charset="-128"/>
                  </a:rPr>
                  <a:t>b</a:t>
                </a:r>
                <a:r>
                  <a:rPr kumimoji="1" lang="ja-JP" altLang="en-US" sz="2400" dirty="0">
                    <a:latin typeface="メイリオ" panose="020B0604030504040204" pitchFamily="50" charset="-128"/>
                    <a:ea typeface="メイリオ" panose="020B0604030504040204" pitchFamily="50" charset="-128"/>
                  </a:rPr>
                  <a:t>の値を探す</a:t>
                </a:r>
                <a14:m>
                  <m:oMath xmlns:m="http://schemas.openxmlformats.org/officeDocument/2006/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m:t>
                        </m:r>
                        <m:r>
                          <a:rPr kumimoji="1" lang="en-US" altLang="ja-JP" sz="2400" i="1">
                            <a:latin typeface="Cambria Math" panose="02040503050406030204" pitchFamily="18" charset="0"/>
                            <a:ea typeface="メイリオ" panose="020B0604030504040204" pitchFamily="50" charset="-128"/>
                          </a:rPr>
                          <m:t>𝑏</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a14:m>
                <a:r>
                  <a:rPr kumimoji="1" lang="en-US" altLang="ja-JP" sz="2400" dirty="0">
                    <a:latin typeface="メイリオ" panose="020B0604030504040204" pitchFamily="50" charset="-128"/>
                    <a:ea typeface="メイリオ" panose="020B0604030504040204" pitchFamily="50" charset="-128"/>
                  </a:rPr>
                  <a:t>)</a:t>
                </a:r>
              </a:p>
            </p:txBody>
          </p:sp>
        </mc:Choice>
        <mc:Fallback xmlns="">
          <p:sp>
            <p:nvSpPr>
              <p:cNvPr id="8" name="テキスト ボックス 7">
                <a:extLst>
                  <a:ext uri="{FF2B5EF4-FFF2-40B4-BE49-F238E27FC236}">
                    <a16:creationId xmlns:a16="http://schemas.microsoft.com/office/drawing/2014/main" id="{5A39932E-6C4F-424D-A5F3-6DC37F9B43BE}"/>
                  </a:ext>
                </a:extLst>
              </p:cNvPr>
              <p:cNvSpPr txBox="1">
                <a:spLocks noRot="1" noChangeAspect="1" noMove="1" noResize="1" noEditPoints="1" noAdjustHandles="1" noChangeArrowheads="1" noChangeShapeType="1" noTextEdit="1"/>
              </p:cNvSpPr>
              <p:nvPr/>
            </p:nvSpPr>
            <p:spPr>
              <a:xfrm>
                <a:off x="2339206" y="836514"/>
                <a:ext cx="8452955" cy="1759777"/>
              </a:xfrm>
              <a:prstGeom prst="rect">
                <a:avLst/>
              </a:prstGeom>
              <a:blipFill>
                <a:blip r:embed="rId3"/>
                <a:stretch>
                  <a:fillRect l="-1154" t="-2768" b="-6920"/>
                </a:stretch>
              </a:blipFill>
            </p:spPr>
            <p:txBody>
              <a:bodyPr/>
              <a:lstStyle/>
              <a:p>
                <a:r>
                  <a:rPr lang="ja-JP" altLang="en-US">
                    <a:noFill/>
                  </a:rPr>
                  <a:t> </a:t>
                </a:r>
              </a:p>
            </p:txBody>
          </p:sp>
        </mc:Fallback>
      </mc:AlternateContent>
      <p:cxnSp>
        <p:nvCxnSpPr>
          <p:cNvPr id="10" name="直線コネクタ 9">
            <a:extLst>
              <a:ext uri="{FF2B5EF4-FFF2-40B4-BE49-F238E27FC236}">
                <a16:creationId xmlns:a16="http://schemas.microsoft.com/office/drawing/2014/main" id="{8F337019-31F2-4D18-B3BB-E73315DD6D8D}"/>
              </a:ext>
            </a:extLst>
          </p:cNvPr>
          <p:cNvCxnSpPr/>
          <p:nvPr/>
        </p:nvCxnSpPr>
        <p:spPr>
          <a:xfrm flipV="1">
            <a:off x="6379573" y="3018574"/>
            <a:ext cx="0" cy="3460955"/>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3290E292-29C5-450D-B45C-804802798D6D}"/>
                  </a:ext>
                </a:extLst>
              </p:cNvPr>
              <p:cNvSpPr txBox="1"/>
              <p:nvPr/>
            </p:nvSpPr>
            <p:spPr>
              <a:xfrm>
                <a:off x="5812428" y="2586444"/>
                <a:ext cx="1566262" cy="490199"/>
              </a:xfrm>
              <a:prstGeom prst="rect">
                <a:avLst/>
              </a:prstGeom>
              <a:noFill/>
            </p:spPr>
            <p:txBody>
              <a:bodyPr wrap="none" rtlCol="0">
                <a:spAutoFit/>
              </a:bodyPr>
              <a:lstStyle/>
              <a:p>
                <a:pPr/>
                <a14:m>
                  <m:oMathPara xmlns:m="http://schemas.openxmlformats.org/officeDocument/2006/math">
                    <m:o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𝑏</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3" name="テキスト ボックス 2">
                <a:extLst>
                  <a:ext uri="{FF2B5EF4-FFF2-40B4-BE49-F238E27FC236}">
                    <a16:creationId xmlns:a16="http://schemas.microsoft.com/office/drawing/2014/main" id="{3290E292-29C5-450D-B45C-804802798D6D}"/>
                  </a:ext>
                </a:extLst>
              </p:cNvPr>
              <p:cNvSpPr txBox="1">
                <a:spLocks noRot="1" noChangeAspect="1" noMove="1" noResize="1" noEditPoints="1" noAdjustHandles="1" noChangeArrowheads="1" noChangeShapeType="1" noTextEdit="1"/>
              </p:cNvSpPr>
              <p:nvPr/>
            </p:nvSpPr>
            <p:spPr>
              <a:xfrm>
                <a:off x="5812428" y="2586444"/>
                <a:ext cx="1566262" cy="490199"/>
              </a:xfrm>
              <a:prstGeom prst="rect">
                <a:avLst/>
              </a:prstGeom>
              <a:blipFill>
                <a:blip r:embed="rId4"/>
                <a:stretch>
                  <a:fillRect b="-493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528018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9CB2EF28-5129-2829-9C5A-40808F87130B}"/>
              </a:ext>
            </a:extLst>
          </p:cNvPr>
          <p:cNvPicPr>
            <a:picLocks noChangeAspect="1"/>
          </p:cNvPicPr>
          <p:nvPr/>
        </p:nvPicPr>
        <p:blipFill>
          <a:blip r:embed="rId2"/>
          <a:stretch>
            <a:fillRect/>
          </a:stretch>
        </p:blipFill>
        <p:spPr>
          <a:xfrm>
            <a:off x="3512965" y="2758343"/>
            <a:ext cx="5562886" cy="3988005"/>
          </a:xfrm>
          <a:prstGeom prst="rect">
            <a:avLst/>
          </a:prstGeom>
        </p:spPr>
      </p:pic>
      <p:sp>
        <p:nvSpPr>
          <p:cNvPr id="7" name="テキスト ボックス 6">
            <a:extLst>
              <a:ext uri="{FF2B5EF4-FFF2-40B4-BE49-F238E27FC236}">
                <a16:creationId xmlns:a16="http://schemas.microsoft.com/office/drawing/2014/main" id="{3FF2293E-2E05-4268-878D-BE09BC679363}"/>
              </a:ext>
            </a:extLst>
          </p:cNvPr>
          <p:cNvSpPr txBox="1"/>
          <p:nvPr/>
        </p:nvSpPr>
        <p:spPr>
          <a:xfrm>
            <a:off x="405566" y="242855"/>
            <a:ext cx="4288353"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純度（情報量）最大化</a:t>
            </a:r>
          </a:p>
        </p:txBody>
      </p:sp>
      <p:grpSp>
        <p:nvGrpSpPr>
          <p:cNvPr id="4" name="グループ化 3">
            <a:extLst>
              <a:ext uri="{FF2B5EF4-FFF2-40B4-BE49-F238E27FC236}">
                <a16:creationId xmlns:a16="http://schemas.microsoft.com/office/drawing/2014/main" id="{525E8348-8F2C-475A-A57F-E661C70AAC84}"/>
              </a:ext>
            </a:extLst>
          </p:cNvPr>
          <p:cNvGrpSpPr/>
          <p:nvPr/>
        </p:nvGrpSpPr>
        <p:grpSpPr>
          <a:xfrm>
            <a:off x="5812428" y="2493134"/>
            <a:ext cx="1566262" cy="3893085"/>
            <a:chOff x="4288428" y="2586443"/>
            <a:chExt cx="1566262" cy="3893085"/>
          </a:xfrm>
        </p:grpSpPr>
        <p:cxnSp>
          <p:nvCxnSpPr>
            <p:cNvPr id="10" name="直線コネクタ 9">
              <a:extLst>
                <a:ext uri="{FF2B5EF4-FFF2-40B4-BE49-F238E27FC236}">
                  <a16:creationId xmlns:a16="http://schemas.microsoft.com/office/drawing/2014/main" id="{8F337019-31F2-4D18-B3BB-E73315DD6D8D}"/>
                </a:ext>
              </a:extLst>
            </p:cNvPr>
            <p:cNvCxnSpPr/>
            <p:nvPr/>
          </p:nvCxnSpPr>
          <p:spPr>
            <a:xfrm flipV="1">
              <a:off x="4855573" y="3018573"/>
              <a:ext cx="0" cy="3460955"/>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3290E292-29C5-450D-B45C-804802798D6D}"/>
                    </a:ext>
                  </a:extLst>
                </p:cNvPr>
                <p:cNvSpPr txBox="1"/>
                <p:nvPr/>
              </p:nvSpPr>
              <p:spPr>
                <a:xfrm>
                  <a:off x="4288428" y="2586443"/>
                  <a:ext cx="1566262" cy="490199"/>
                </a:xfrm>
                <a:prstGeom prst="rect">
                  <a:avLst/>
                </a:prstGeom>
                <a:noFill/>
              </p:spPr>
              <p:txBody>
                <a:bodyPr wrap="none" rtlCol="0">
                  <a:spAutoFit/>
                </a:bodyPr>
                <a:lstStyle/>
                <a:p>
                  <a:pPr/>
                  <a14:m>
                    <m:oMathPara xmlns:m="http://schemas.openxmlformats.org/officeDocument/2006/math">
                      <m:o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𝑏</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3" name="テキスト ボックス 2">
                  <a:extLst>
                    <a:ext uri="{FF2B5EF4-FFF2-40B4-BE49-F238E27FC236}">
                      <a16:creationId xmlns:a16="http://schemas.microsoft.com/office/drawing/2014/main" id="{3290E292-29C5-450D-B45C-804802798D6D}"/>
                    </a:ext>
                  </a:extLst>
                </p:cNvPr>
                <p:cNvSpPr txBox="1">
                  <a:spLocks noRot="1" noChangeAspect="1" noMove="1" noResize="1" noEditPoints="1" noAdjustHandles="1" noChangeArrowheads="1" noChangeShapeType="1" noTextEdit="1"/>
                </p:cNvSpPr>
                <p:nvPr/>
              </p:nvSpPr>
              <p:spPr>
                <a:xfrm>
                  <a:off x="4288428" y="2586443"/>
                  <a:ext cx="1566262" cy="490199"/>
                </a:xfrm>
                <a:prstGeom prst="rect">
                  <a:avLst/>
                </a:prstGeom>
                <a:blipFill>
                  <a:blip r:embed="rId3"/>
                  <a:stretch>
                    <a:fillRect b="-4938"/>
                  </a:stretch>
                </a:blipFill>
              </p:spPr>
              <p:txBody>
                <a:bodyPr/>
                <a:lstStyle/>
                <a:p>
                  <a:r>
                    <a:rPr lang="ja-JP" altLang="en-US">
                      <a:noFill/>
                    </a:rPr>
                    <a:t> </a:t>
                  </a:r>
                </a:p>
              </p:txBody>
            </p:sp>
          </mc:Fallback>
        </mc:AlternateContent>
      </p:grpSp>
      <p:cxnSp>
        <p:nvCxnSpPr>
          <p:cNvPr id="9" name="直線コネクタ 8">
            <a:extLst>
              <a:ext uri="{FF2B5EF4-FFF2-40B4-BE49-F238E27FC236}">
                <a16:creationId xmlns:a16="http://schemas.microsoft.com/office/drawing/2014/main" id="{3507F8D0-11E7-43A8-B645-F6867AD01C47}"/>
              </a:ext>
            </a:extLst>
          </p:cNvPr>
          <p:cNvCxnSpPr>
            <a:cxnSpLocks/>
          </p:cNvCxnSpPr>
          <p:nvPr/>
        </p:nvCxnSpPr>
        <p:spPr>
          <a:xfrm>
            <a:off x="4037519" y="4752346"/>
            <a:ext cx="4929199"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FEE0BE5F-A761-4249-8E7B-C1CF27C29551}"/>
                  </a:ext>
                </a:extLst>
              </p:cNvPr>
              <p:cNvSpPr txBox="1"/>
              <p:nvPr/>
            </p:nvSpPr>
            <p:spPr>
              <a:xfrm>
                <a:off x="2456702" y="4467555"/>
                <a:ext cx="1580817" cy="490199"/>
              </a:xfrm>
              <a:prstGeom prst="rect">
                <a:avLst/>
              </a:prstGeom>
              <a:noFill/>
            </p:spPr>
            <p:txBody>
              <a:bodyPr wrap="none" rtlCol="0">
                <a:spAutoFit/>
              </a:bodyPr>
              <a:lstStyle/>
              <a:p>
                <a:pPr algn="l"/>
                <a14:m>
                  <m:oMathPara xmlns:m="http://schemas.openxmlformats.org/officeDocument/2006/math">
                    <m:o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𝑎</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11" name="テキスト ボックス 10">
                <a:extLst>
                  <a:ext uri="{FF2B5EF4-FFF2-40B4-BE49-F238E27FC236}">
                    <a16:creationId xmlns:a16="http://schemas.microsoft.com/office/drawing/2014/main" id="{FEE0BE5F-A761-4249-8E7B-C1CF27C29551}"/>
                  </a:ext>
                </a:extLst>
              </p:cNvPr>
              <p:cNvSpPr txBox="1">
                <a:spLocks noRot="1" noChangeAspect="1" noMove="1" noResize="1" noEditPoints="1" noAdjustHandles="1" noChangeArrowheads="1" noChangeShapeType="1" noTextEdit="1"/>
              </p:cNvSpPr>
              <p:nvPr/>
            </p:nvSpPr>
            <p:spPr>
              <a:xfrm>
                <a:off x="2456702" y="4467555"/>
                <a:ext cx="1580817" cy="490199"/>
              </a:xfrm>
              <a:prstGeom prst="rect">
                <a:avLst/>
              </a:prstGeom>
              <a:blipFill>
                <a:blip r:embed="rId4"/>
                <a:stretch>
                  <a:fillRect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636E13CD-53A0-4A7D-A094-FA157913B291}"/>
                  </a:ext>
                </a:extLst>
              </p:cNvPr>
              <p:cNvSpPr txBox="1"/>
              <p:nvPr/>
            </p:nvSpPr>
            <p:spPr>
              <a:xfrm>
                <a:off x="846389" y="935521"/>
                <a:ext cx="6532301" cy="490199"/>
              </a:xfrm>
              <a:prstGeom prst="rect">
                <a:avLst/>
              </a:prstGeom>
              <a:noFill/>
            </p:spPr>
            <p:txBody>
              <a:bodyPr wrap="none" rtlCol="0">
                <a:spAutoFit/>
              </a:bodyPr>
              <a:lstStyle/>
              <a:p>
                <a14:m>
                  <m:oMath xmlns:m="http://schemas.openxmlformats.org/officeDocument/2006/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𝑏</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a14:m>
                <a:r>
                  <a:rPr kumimoji="1" lang="en-US" altLang="ja-JP" sz="2400" dirty="0">
                    <a:ea typeface="メイリオ" panose="020B0604030504040204" pitchFamily="50" charset="-128"/>
                  </a:rPr>
                  <a:t>  : </a:t>
                </a:r>
                <a14:m>
                  <m:oMath xmlns:m="http://schemas.openxmlformats.org/officeDocument/2006/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𝑎</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a14:m>
                <a:r>
                  <a:rPr kumimoji="1" lang="ja-JP" altLang="en-US" sz="2400" dirty="0">
                    <a:latin typeface="メイリオ" panose="020B0604030504040204" pitchFamily="50" charset="-128"/>
                    <a:ea typeface="メイリオ" panose="020B0604030504040204" pitchFamily="50" charset="-128"/>
                  </a:rPr>
                  <a:t> で純度が高いほうを選ぶ</a:t>
                </a:r>
              </a:p>
            </p:txBody>
          </p:sp>
        </mc:Choice>
        <mc:Fallback xmlns="">
          <p:sp>
            <p:nvSpPr>
              <p:cNvPr id="12" name="テキスト ボックス 11">
                <a:extLst>
                  <a:ext uri="{FF2B5EF4-FFF2-40B4-BE49-F238E27FC236}">
                    <a16:creationId xmlns:a16="http://schemas.microsoft.com/office/drawing/2014/main" id="{636E13CD-53A0-4A7D-A094-FA157913B291}"/>
                  </a:ext>
                </a:extLst>
              </p:cNvPr>
              <p:cNvSpPr txBox="1">
                <a:spLocks noRot="1" noChangeAspect="1" noMove="1" noResize="1" noEditPoints="1" noAdjustHandles="1" noChangeArrowheads="1" noChangeShapeType="1" noTextEdit="1"/>
              </p:cNvSpPr>
              <p:nvPr/>
            </p:nvSpPr>
            <p:spPr>
              <a:xfrm>
                <a:off x="846389" y="935521"/>
                <a:ext cx="6532301" cy="490199"/>
              </a:xfrm>
              <a:prstGeom prst="rect">
                <a:avLst/>
              </a:prstGeom>
              <a:blipFill>
                <a:blip r:embed="rId5"/>
                <a:stretch>
                  <a:fillRect l="-280" t="-9877" r="-560" b="-2716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 name="テキスト ボックス 4">
                <a:extLst>
                  <a:ext uri="{FF2B5EF4-FFF2-40B4-BE49-F238E27FC236}">
                    <a16:creationId xmlns:a16="http://schemas.microsoft.com/office/drawing/2014/main" id="{10AB6869-6754-4B32-AA88-EF8F938FD9DC}"/>
                  </a:ext>
                </a:extLst>
              </p:cNvPr>
              <p:cNvSpPr txBox="1"/>
              <p:nvPr/>
            </p:nvSpPr>
            <p:spPr>
              <a:xfrm>
                <a:off x="846388" y="1655147"/>
                <a:ext cx="4817281" cy="490199"/>
              </a:xfrm>
              <a:prstGeom prst="rect">
                <a:avLst/>
              </a:prstGeom>
              <a:noFill/>
            </p:spPr>
            <p:txBody>
              <a:bodyPr wrap="none" rtlCol="0">
                <a:spAutoFit/>
              </a:bodyPr>
              <a:lstStyle/>
              <a:p>
                <a:r>
                  <a:rPr kumimoji="1" lang="en-US" altLang="ja-JP" sz="2400" dirty="0">
                    <a:ea typeface="メイリオ" panose="020B0604030504040204" pitchFamily="50" charset="-128"/>
                  </a:rPr>
                  <a:t> </a:t>
                </a:r>
                <a14:m>
                  <m:oMath xmlns:m="http://schemas.openxmlformats.org/officeDocument/2006/math">
                    <m:sSub>
                      <m:sSubPr>
                        <m:ctrlPr>
                          <a:rPr kumimoji="1" lang="en-US" altLang="ja-JP" sz="2400" i="1">
                            <a:latin typeface="Cambria Math" panose="02040503050406030204" pitchFamily="18" charset="0"/>
                            <a:ea typeface="メイリオ" panose="020B0604030504040204" pitchFamily="50" charset="-128"/>
                          </a:rPr>
                        </m:ctrlPr>
                      </m:sSubPr>
                      <m:e>
                        <m:r>
                          <a:rPr kumimoji="1" lang="en-US" altLang="ja-JP" sz="2400" i="1">
                            <a:latin typeface="Cambria Math" panose="02040503050406030204" pitchFamily="18" charset="0"/>
                            <a:ea typeface="メイリオ" panose="020B0604030504040204" pitchFamily="50" charset="-128"/>
                          </a:rPr>
                          <m:t>𝑎</m:t>
                        </m:r>
                      </m:e>
                      <m:sub>
                        <m:r>
                          <a:rPr kumimoji="1" lang="en-US" altLang="ja-JP" sz="2400" i="1">
                            <a:latin typeface="Cambria Math" panose="02040503050406030204" pitchFamily="18" charset="0"/>
                            <a:ea typeface="メイリオ" panose="020B0604030504040204" pitchFamily="50" charset="-128"/>
                          </a:rPr>
                          <m:t>𝑝𝑢𝑟𝑒</m:t>
                        </m:r>
                        <m:r>
                          <a:rPr kumimoji="1" lang="en-US" altLang="ja-JP" sz="2400" i="1">
                            <a:latin typeface="Cambria Math" panose="02040503050406030204" pitchFamily="18" charset="0"/>
                            <a:ea typeface="メイリオ" panose="020B0604030504040204" pitchFamily="50" charset="-128"/>
                          </a:rPr>
                          <m:t>_</m:t>
                        </m:r>
                        <m:r>
                          <a:rPr kumimoji="1" lang="en-US" altLang="ja-JP" sz="2400" i="1">
                            <a:latin typeface="Cambria Math" panose="02040503050406030204" pitchFamily="18" charset="0"/>
                            <a:ea typeface="メイリオ" panose="020B0604030504040204" pitchFamily="50" charset="-128"/>
                          </a:rPr>
                          <m:t>𝑚𝑎𝑥</m:t>
                        </m:r>
                      </m:sub>
                    </m:sSub>
                  </m:oMath>
                </a14:m>
                <a:r>
                  <a:rPr kumimoji="1" lang="en-US" altLang="ja-JP" sz="2400" dirty="0">
                    <a:latin typeface="メイリオ" panose="020B0604030504040204" pitchFamily="50" charset="-128"/>
                    <a:ea typeface="メイリオ" panose="020B0604030504040204" pitchFamily="50" charset="-128"/>
                  </a:rPr>
                  <a:t>=0.062</a:t>
                </a:r>
                <a:r>
                  <a:rPr kumimoji="1" lang="ja-JP" altLang="en-US" sz="2400" dirty="0">
                    <a:latin typeface="メイリオ" panose="020B0604030504040204" pitchFamily="50" charset="-128"/>
                    <a:ea typeface="メイリオ" panose="020B0604030504040204" pitchFamily="50" charset="-128"/>
                  </a:rPr>
                  <a:t>の時に純度最大</a:t>
                </a:r>
              </a:p>
            </p:txBody>
          </p:sp>
        </mc:Choice>
        <mc:Fallback>
          <p:sp>
            <p:nvSpPr>
              <p:cNvPr id="5" name="テキスト ボックス 4">
                <a:extLst>
                  <a:ext uri="{FF2B5EF4-FFF2-40B4-BE49-F238E27FC236}">
                    <a16:creationId xmlns:a16="http://schemas.microsoft.com/office/drawing/2014/main" id="{10AB6869-6754-4B32-AA88-EF8F938FD9DC}"/>
                  </a:ext>
                </a:extLst>
              </p:cNvPr>
              <p:cNvSpPr txBox="1">
                <a:spLocks noRot="1" noChangeAspect="1" noMove="1" noResize="1" noEditPoints="1" noAdjustHandles="1" noChangeArrowheads="1" noChangeShapeType="1" noTextEdit="1"/>
              </p:cNvSpPr>
              <p:nvPr/>
            </p:nvSpPr>
            <p:spPr>
              <a:xfrm>
                <a:off x="846388" y="1655147"/>
                <a:ext cx="4817281" cy="490199"/>
              </a:xfrm>
              <a:prstGeom prst="rect">
                <a:avLst/>
              </a:prstGeom>
              <a:blipFill>
                <a:blip r:embed="rId6"/>
                <a:stretch>
                  <a:fillRect t="-3750" r="-886" b="-2875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3641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7814FD3-BDDC-49A1-AE94-736DB476784A}"/>
              </a:ext>
            </a:extLst>
          </p:cNvPr>
          <p:cNvSpPr txBox="1"/>
          <p:nvPr/>
        </p:nvSpPr>
        <p:spPr>
          <a:xfrm flipH="1">
            <a:off x="-281053" y="216220"/>
            <a:ext cx="3602049" cy="584775"/>
          </a:xfrm>
          <a:prstGeom prst="rect">
            <a:avLst/>
          </a:prstGeom>
          <a:noFill/>
        </p:spPr>
        <p:txBody>
          <a:bodyPr wrap="square" rtlCol="0">
            <a:spAutoFit/>
          </a:bodyPr>
          <a:lstStyle/>
          <a:p>
            <a:pPr algn="ctr"/>
            <a:r>
              <a:rPr kumimoji="1" lang="ja-JP" altLang="en-US" sz="3200" b="1" dirty="0">
                <a:latin typeface="メイリオ" panose="020B0604030504040204" pitchFamily="50" charset="-128"/>
                <a:ea typeface="メイリオ" panose="020B0604030504040204" pitchFamily="50" charset="-128"/>
              </a:rPr>
              <a:t>決定境界</a:t>
            </a:r>
          </a:p>
        </p:txBody>
      </p:sp>
      <p:sp>
        <p:nvSpPr>
          <p:cNvPr id="4" name="テキスト ボックス 3">
            <a:extLst>
              <a:ext uri="{FF2B5EF4-FFF2-40B4-BE49-F238E27FC236}">
                <a16:creationId xmlns:a16="http://schemas.microsoft.com/office/drawing/2014/main" id="{1AB5FDC2-EF7F-4A5E-AE8A-093A79B57DCE}"/>
              </a:ext>
            </a:extLst>
          </p:cNvPr>
          <p:cNvSpPr txBox="1"/>
          <p:nvPr/>
        </p:nvSpPr>
        <p:spPr>
          <a:xfrm>
            <a:off x="690465" y="833455"/>
            <a:ext cx="9741123" cy="1754326"/>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それぞれの領域で純度を最大化する縦（横）線を決定境界と呼ぶ。つまり〇△を決定するのに最も有効な境界という意味</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・決定境界は、最も確からしい</a:t>
            </a:r>
            <a:r>
              <a:rPr kumimoji="1" lang="en-US" altLang="ja-JP" sz="2000" dirty="0">
                <a:latin typeface="メイリオ" panose="020B0604030504040204" pitchFamily="50" charset="-128"/>
                <a:ea typeface="メイリオ" panose="020B0604030504040204" pitchFamily="50" charset="-128"/>
              </a:rPr>
              <a:t>yes/no question</a:t>
            </a:r>
            <a:r>
              <a:rPr kumimoji="1" lang="ja-JP" altLang="en-US" sz="2000" dirty="0">
                <a:latin typeface="メイリオ" panose="020B0604030504040204" pitchFamily="50" charset="-128"/>
                <a:ea typeface="メイリオ" panose="020B0604030504040204" pitchFamily="50" charset="-128"/>
              </a:rPr>
              <a:t>に等しい</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・決定境界を引き続けると、分割された小領域の純度が上がる</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a:t>
            </a:r>
            <a:endParaRPr kumimoji="1" lang="en-US" altLang="ja-JP" sz="20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10F9AC04-1F07-4BE8-8B42-133AEFB5963F}"/>
              </a:ext>
            </a:extLst>
          </p:cNvPr>
          <p:cNvSpPr txBox="1"/>
          <p:nvPr/>
        </p:nvSpPr>
        <p:spPr>
          <a:xfrm>
            <a:off x="2084916" y="2387726"/>
            <a:ext cx="7781297" cy="400110"/>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左図の上下領域よりも右図の</a:t>
            </a:r>
            <a:r>
              <a:rPr kumimoji="1" lang="en-US" altLang="ja-JP" sz="2000" dirty="0">
                <a:latin typeface="メイリオ" panose="020B0604030504040204" pitchFamily="50" charset="-128"/>
                <a:ea typeface="メイリオ" panose="020B0604030504040204" pitchFamily="50" charset="-128"/>
              </a:rPr>
              <a:t>4</a:t>
            </a:r>
            <a:r>
              <a:rPr kumimoji="1" lang="ja-JP" altLang="en-US" sz="2000" dirty="0" err="1">
                <a:latin typeface="メイリオ" panose="020B0604030504040204" pitchFamily="50" charset="-128"/>
                <a:ea typeface="メイリオ" panose="020B0604030504040204" pitchFamily="50" charset="-128"/>
              </a:rPr>
              <a:t>つの</a:t>
            </a:r>
            <a:r>
              <a:rPr kumimoji="1" lang="ja-JP" altLang="en-US" sz="2000" dirty="0">
                <a:latin typeface="メイリオ" panose="020B0604030504040204" pitchFamily="50" charset="-128"/>
                <a:ea typeface="メイリオ" panose="020B0604030504040204" pitchFamily="50" charset="-128"/>
              </a:rPr>
              <a:t>領域の方が純度が上がっている</a:t>
            </a:r>
          </a:p>
        </p:txBody>
      </p:sp>
      <p:pic>
        <p:nvPicPr>
          <p:cNvPr id="17" name="図 16">
            <a:extLst>
              <a:ext uri="{FF2B5EF4-FFF2-40B4-BE49-F238E27FC236}">
                <a16:creationId xmlns:a16="http://schemas.microsoft.com/office/drawing/2014/main" id="{5BB3C3A8-E7D9-146C-D4D2-FBEA6204B595}"/>
              </a:ext>
            </a:extLst>
          </p:cNvPr>
          <p:cNvPicPr>
            <a:picLocks noChangeAspect="1"/>
          </p:cNvPicPr>
          <p:nvPr/>
        </p:nvPicPr>
        <p:blipFill>
          <a:blip r:embed="rId2"/>
          <a:stretch>
            <a:fillRect/>
          </a:stretch>
        </p:blipFill>
        <p:spPr>
          <a:xfrm>
            <a:off x="164795" y="2859089"/>
            <a:ext cx="5931205" cy="3930852"/>
          </a:xfrm>
          <a:prstGeom prst="rect">
            <a:avLst/>
          </a:prstGeom>
        </p:spPr>
      </p:pic>
      <p:pic>
        <p:nvPicPr>
          <p:cNvPr id="20" name="図 19">
            <a:extLst>
              <a:ext uri="{FF2B5EF4-FFF2-40B4-BE49-F238E27FC236}">
                <a16:creationId xmlns:a16="http://schemas.microsoft.com/office/drawing/2014/main" id="{7841BBA7-868F-DC46-ED76-CC959E90AFC6}"/>
              </a:ext>
            </a:extLst>
          </p:cNvPr>
          <p:cNvPicPr>
            <a:picLocks noChangeAspect="1"/>
          </p:cNvPicPr>
          <p:nvPr/>
        </p:nvPicPr>
        <p:blipFill>
          <a:blip r:embed="rId3"/>
          <a:stretch>
            <a:fillRect/>
          </a:stretch>
        </p:blipFill>
        <p:spPr>
          <a:xfrm>
            <a:off x="6096000" y="2859089"/>
            <a:ext cx="5702593" cy="3873699"/>
          </a:xfrm>
          <a:prstGeom prst="rect">
            <a:avLst/>
          </a:prstGeom>
        </p:spPr>
      </p:pic>
    </p:spTree>
    <p:extLst>
      <p:ext uri="{BB962C8B-B14F-4D97-AF65-F5344CB8AC3E}">
        <p14:creationId xmlns:p14="http://schemas.microsoft.com/office/powerpoint/2010/main" val="2742248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2E17C28-1342-4A57-BF2E-05001A23C350}"/>
              </a:ext>
            </a:extLst>
          </p:cNvPr>
          <p:cNvSpPr txBox="1"/>
          <p:nvPr/>
        </p:nvSpPr>
        <p:spPr>
          <a:xfrm>
            <a:off x="582251" y="230164"/>
            <a:ext cx="1005403"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演習</a:t>
            </a:r>
          </a:p>
        </p:txBody>
      </p:sp>
      <p:sp>
        <p:nvSpPr>
          <p:cNvPr id="3" name="テキスト ボックス 2">
            <a:extLst>
              <a:ext uri="{FF2B5EF4-FFF2-40B4-BE49-F238E27FC236}">
                <a16:creationId xmlns:a16="http://schemas.microsoft.com/office/drawing/2014/main" id="{44CC2EAC-BBF3-40A3-830E-ADB930785F43}"/>
              </a:ext>
            </a:extLst>
          </p:cNvPr>
          <p:cNvSpPr txBox="1"/>
          <p:nvPr/>
        </p:nvSpPr>
        <p:spPr>
          <a:xfrm>
            <a:off x="635529" y="690969"/>
            <a:ext cx="11304949" cy="2308324"/>
          </a:xfrm>
          <a:prstGeom prst="rect">
            <a:avLst/>
          </a:prstGeom>
          <a:noFill/>
        </p:spPr>
        <p:txBody>
          <a:bodyPr wrap="square" rtlCol="0">
            <a:spAutoFit/>
          </a:bodyPr>
          <a:lstStyle/>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ツリー</a:t>
            </a:r>
            <a:r>
              <a:rPr kumimoji="1" lang="en-US" altLang="ja-JP" sz="2400" dirty="0">
                <a:latin typeface="メイリオ" panose="020B0604030504040204" pitchFamily="50" charset="-128"/>
                <a:ea typeface="メイリオ" panose="020B0604030504040204" pitchFamily="50" charset="-128"/>
              </a:rPr>
              <a:t>top</a:t>
            </a:r>
            <a:r>
              <a:rPr kumimoji="1" lang="ja-JP" altLang="en-US" sz="2400" dirty="0">
                <a:latin typeface="メイリオ" panose="020B0604030504040204" pitchFamily="50" charset="-128"/>
                <a:ea typeface="メイリオ" panose="020B0604030504040204" pitchFamily="50" charset="-128"/>
              </a:rPr>
              <a:t>の</a:t>
            </a:r>
            <a:r>
              <a:rPr kumimoji="1" lang="en-US" altLang="ja-JP" sz="2400" dirty="0">
                <a:latin typeface="メイリオ" panose="020B0604030504040204" pitchFamily="50" charset="-128"/>
                <a:ea typeface="メイリオ" panose="020B0604030504040204" pitchFamily="50" charset="-128"/>
              </a:rPr>
              <a:t>value= [ ]</a:t>
            </a:r>
            <a:r>
              <a:rPr kumimoji="1" lang="ja-JP" altLang="en-US" sz="2400" dirty="0">
                <a:latin typeface="メイリオ" panose="020B0604030504040204" pitchFamily="50" charset="-128"/>
                <a:ea typeface="メイリオ" panose="020B0604030504040204" pitchFamily="50" charset="-128"/>
              </a:rPr>
              <a:t>は何を意味するか？</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階層目のツリーの</a:t>
            </a:r>
            <a:r>
              <a:rPr kumimoji="1" lang="en-US" altLang="ja-JP" sz="2400" dirty="0">
                <a:latin typeface="メイリオ" panose="020B0604030504040204" pitchFamily="50" charset="-128"/>
                <a:ea typeface="メイリオ" panose="020B0604030504040204" pitchFamily="50" charset="-128"/>
              </a:rPr>
              <a:t>value = [] </a:t>
            </a:r>
            <a:r>
              <a:rPr kumimoji="1" lang="ja-JP" altLang="en-US" sz="2400" dirty="0">
                <a:latin typeface="メイリオ" panose="020B0604030504040204" pitchFamily="50" charset="-128"/>
                <a:ea typeface="メイリオ" panose="020B0604030504040204" pitchFamily="50" charset="-128"/>
              </a:rPr>
              <a:t>は何を意味するか？左図の決定境界との対応を考えて答えよ。（どちらの方が純度が高いか？）</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en-US" altLang="ja-JP" sz="2400" dirty="0" err="1">
                <a:latin typeface="メイリオ" panose="020B0604030504040204" pitchFamily="50" charset="-128"/>
                <a:ea typeface="メイリオ" panose="020B0604030504040204" pitchFamily="50" charset="-128"/>
              </a:rPr>
              <a:t>Jupyer</a:t>
            </a:r>
            <a:r>
              <a:rPr kumimoji="1" lang="ja-JP" altLang="en-US" sz="2400" dirty="0">
                <a:latin typeface="メイリオ" panose="020B0604030504040204" pitchFamily="50" charset="-128"/>
                <a:ea typeface="メイリオ" panose="020B0604030504040204" pitchFamily="50" charset="-128"/>
              </a:rPr>
              <a:t>プログラムの</a:t>
            </a:r>
            <a:r>
              <a:rPr kumimoji="1" lang="en-US" altLang="ja-JP" sz="2400" dirty="0" err="1">
                <a:latin typeface="メイリオ" panose="020B0604030504040204" pitchFamily="50" charset="-128"/>
                <a:ea typeface="メイリオ" panose="020B0604030504040204" pitchFamily="50" charset="-128"/>
              </a:rPr>
              <a:t>DecisionTreeClassifier</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max_depth</a:t>
            </a:r>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のハイパーパラメータを</a:t>
            </a: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に変更して、前頁の通り決定境界で区画した領域の純度が上がることを確認せよ</a:t>
            </a:r>
            <a:endParaRPr kumimoji="1" lang="en-US" altLang="ja-JP" sz="2400" dirty="0">
              <a:latin typeface="メイリオ" panose="020B0604030504040204" pitchFamily="50" charset="-128"/>
              <a:ea typeface="メイリオ" panose="020B0604030504040204" pitchFamily="50" charset="-128"/>
            </a:endParaRPr>
          </a:p>
        </p:txBody>
      </p:sp>
      <p:cxnSp>
        <p:nvCxnSpPr>
          <p:cNvPr id="6" name="直線コネクタ 5">
            <a:extLst>
              <a:ext uri="{FF2B5EF4-FFF2-40B4-BE49-F238E27FC236}">
                <a16:creationId xmlns:a16="http://schemas.microsoft.com/office/drawing/2014/main" id="{7A0F226F-C2FB-F610-F3C4-89DF0A4456C2}"/>
              </a:ext>
            </a:extLst>
          </p:cNvPr>
          <p:cNvCxnSpPr/>
          <p:nvPr/>
        </p:nvCxnSpPr>
        <p:spPr>
          <a:xfrm>
            <a:off x="1129004" y="4889241"/>
            <a:ext cx="457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2" descr="Jupyter Notebookの後継？Jupyter Labをつかってみた - いっきのblog">
            <a:extLst>
              <a:ext uri="{FF2B5EF4-FFF2-40B4-BE49-F238E27FC236}">
                <a16:creationId xmlns:a16="http://schemas.microsoft.com/office/drawing/2014/main" id="{9A111D99-D720-6FF8-8D0D-02E2E0734C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3996" y="0"/>
            <a:ext cx="1047321" cy="1144746"/>
          </a:xfrm>
          <a:prstGeom prst="rect">
            <a:avLst/>
          </a:prstGeom>
          <a:noFill/>
          <a:extLst>
            <a:ext uri="{909E8E84-426E-40DD-AFC4-6F175D3DCCD1}">
              <a14:hiddenFill xmlns:a14="http://schemas.microsoft.com/office/drawing/2010/main">
                <a:solidFill>
                  <a:srgbClr val="FFFFFF"/>
                </a:solidFill>
              </a14:hiddenFill>
            </a:ext>
          </a:extLst>
        </p:spPr>
      </p:pic>
      <p:pic>
        <p:nvPicPr>
          <p:cNvPr id="15" name="図 14">
            <a:extLst>
              <a:ext uri="{FF2B5EF4-FFF2-40B4-BE49-F238E27FC236}">
                <a16:creationId xmlns:a16="http://schemas.microsoft.com/office/drawing/2014/main" id="{A16E0AB0-1A6D-A990-D723-FE1ED2B09527}"/>
              </a:ext>
            </a:extLst>
          </p:cNvPr>
          <p:cNvPicPr>
            <a:picLocks noChangeAspect="1"/>
          </p:cNvPicPr>
          <p:nvPr/>
        </p:nvPicPr>
        <p:blipFill>
          <a:blip r:embed="rId3"/>
          <a:stretch>
            <a:fillRect/>
          </a:stretch>
        </p:blipFill>
        <p:spPr>
          <a:xfrm>
            <a:off x="716145" y="2912200"/>
            <a:ext cx="5931205" cy="3930852"/>
          </a:xfrm>
          <a:prstGeom prst="rect">
            <a:avLst/>
          </a:prstGeom>
        </p:spPr>
      </p:pic>
      <p:pic>
        <p:nvPicPr>
          <p:cNvPr id="17" name="図 16">
            <a:extLst>
              <a:ext uri="{FF2B5EF4-FFF2-40B4-BE49-F238E27FC236}">
                <a16:creationId xmlns:a16="http://schemas.microsoft.com/office/drawing/2014/main" id="{F5531DC1-E026-7FB7-16B4-61CAFAF50426}"/>
              </a:ext>
            </a:extLst>
          </p:cNvPr>
          <p:cNvPicPr>
            <a:picLocks noChangeAspect="1"/>
          </p:cNvPicPr>
          <p:nvPr/>
        </p:nvPicPr>
        <p:blipFill>
          <a:blip r:embed="rId4"/>
          <a:stretch>
            <a:fillRect/>
          </a:stretch>
        </p:blipFill>
        <p:spPr>
          <a:xfrm>
            <a:off x="6644804" y="2810221"/>
            <a:ext cx="5018109" cy="3930852"/>
          </a:xfrm>
          <a:prstGeom prst="rect">
            <a:avLst/>
          </a:prstGeom>
        </p:spPr>
      </p:pic>
    </p:spTree>
    <p:extLst>
      <p:ext uri="{BB962C8B-B14F-4D97-AF65-F5344CB8AC3E}">
        <p14:creationId xmlns:p14="http://schemas.microsoft.com/office/powerpoint/2010/main" val="2330997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244FB59C-E956-552A-D2FD-8C0FB7AE6ABF}"/>
              </a:ext>
            </a:extLst>
          </p:cNvPr>
          <p:cNvPicPr>
            <a:picLocks noChangeAspect="1"/>
          </p:cNvPicPr>
          <p:nvPr/>
        </p:nvPicPr>
        <p:blipFill>
          <a:blip r:embed="rId2"/>
          <a:stretch>
            <a:fillRect/>
          </a:stretch>
        </p:blipFill>
        <p:spPr>
          <a:xfrm>
            <a:off x="5507929" y="2434667"/>
            <a:ext cx="5702593" cy="4331194"/>
          </a:xfrm>
          <a:prstGeom prst="rect">
            <a:avLst/>
          </a:prstGeom>
        </p:spPr>
      </p:pic>
      <p:pic>
        <p:nvPicPr>
          <p:cNvPr id="20" name="図 19">
            <a:extLst>
              <a:ext uri="{FF2B5EF4-FFF2-40B4-BE49-F238E27FC236}">
                <a16:creationId xmlns:a16="http://schemas.microsoft.com/office/drawing/2014/main" id="{A7C322A3-C46A-E45F-9547-BA946C71EA7A}"/>
              </a:ext>
            </a:extLst>
          </p:cNvPr>
          <p:cNvPicPr>
            <a:picLocks noChangeAspect="1"/>
          </p:cNvPicPr>
          <p:nvPr/>
        </p:nvPicPr>
        <p:blipFill>
          <a:blip r:embed="rId3"/>
          <a:stretch>
            <a:fillRect/>
          </a:stretch>
        </p:blipFill>
        <p:spPr>
          <a:xfrm>
            <a:off x="0" y="772679"/>
            <a:ext cx="5702593" cy="3873699"/>
          </a:xfrm>
          <a:prstGeom prst="rect">
            <a:avLst/>
          </a:prstGeom>
        </p:spPr>
      </p:pic>
      <p:sp>
        <p:nvSpPr>
          <p:cNvPr id="2" name="テキスト ボックス 1">
            <a:extLst>
              <a:ext uri="{FF2B5EF4-FFF2-40B4-BE49-F238E27FC236}">
                <a16:creationId xmlns:a16="http://schemas.microsoft.com/office/drawing/2014/main" id="{143EBAA6-2A95-43AD-8A9E-AF8873C9CB23}"/>
              </a:ext>
            </a:extLst>
          </p:cNvPr>
          <p:cNvSpPr txBox="1"/>
          <p:nvPr/>
        </p:nvSpPr>
        <p:spPr>
          <a:xfrm>
            <a:off x="243112" y="218676"/>
            <a:ext cx="4698722"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決定境界と決定木の対応</a:t>
            </a:r>
          </a:p>
        </p:txBody>
      </p:sp>
      <p:sp>
        <p:nvSpPr>
          <p:cNvPr id="7" name="テキスト ボックス 6">
            <a:extLst>
              <a:ext uri="{FF2B5EF4-FFF2-40B4-BE49-F238E27FC236}">
                <a16:creationId xmlns:a16="http://schemas.microsoft.com/office/drawing/2014/main" id="{07B2E22D-41EF-49F9-A889-6CB434C5867D}"/>
              </a:ext>
            </a:extLst>
          </p:cNvPr>
          <p:cNvSpPr txBox="1"/>
          <p:nvPr/>
        </p:nvSpPr>
        <p:spPr>
          <a:xfrm>
            <a:off x="5771025" y="401205"/>
            <a:ext cx="6296990" cy="2308324"/>
          </a:xfrm>
          <a:prstGeom prst="rect">
            <a:avLst/>
          </a:prstGeom>
          <a:noFill/>
        </p:spPr>
        <p:txBody>
          <a:bodyPr wrap="square" rtlCol="0">
            <a:spAutoFit/>
          </a:bodyPr>
          <a:lstStyle/>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決定境界１つが決定木の１つの</a:t>
            </a:r>
            <a:r>
              <a:rPr kumimoji="1" lang="en-US" altLang="ja-JP" sz="2400" dirty="0">
                <a:latin typeface="メイリオ" panose="020B0604030504040204" pitchFamily="50" charset="-128"/>
                <a:ea typeface="メイリオ" panose="020B0604030504040204" pitchFamily="50" charset="-128"/>
              </a:rPr>
              <a:t>yes/no question</a:t>
            </a:r>
            <a:r>
              <a:rPr kumimoji="1" lang="ja-JP" altLang="en-US" sz="2400" dirty="0">
                <a:latin typeface="メイリオ" panose="020B0604030504040204" pitchFamily="50" charset="-128"/>
                <a:ea typeface="メイリオ" panose="020B0604030504040204" pitchFamily="50" charset="-128"/>
              </a:rPr>
              <a:t>に対応（</a:t>
            </a:r>
            <a:r>
              <a:rPr kumimoji="1" lang="ja-JP" altLang="en-US" sz="2400" b="1" dirty="0">
                <a:latin typeface="メイリオ" panose="020B0604030504040204" pitchFamily="50" charset="-128"/>
                <a:ea typeface="メイリオ" panose="020B0604030504040204" pitchFamily="50" charset="-128"/>
              </a:rPr>
              <a:t>ノード</a:t>
            </a:r>
            <a:r>
              <a:rPr kumimoji="1" lang="ja-JP" altLang="en-US" sz="2400" dirty="0">
                <a:latin typeface="メイリオ" panose="020B0604030504040204" pitchFamily="50" charset="-128"/>
                <a:ea typeface="メイリオ" panose="020B0604030504040204" pitchFamily="50" charset="-128"/>
              </a:rPr>
              <a:t>と呼ぶ）</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決定木は決定境界による領域の再帰分割</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決定木のボトムには</a:t>
            </a:r>
            <a:r>
              <a:rPr kumimoji="1" lang="en-US" altLang="ja-JP" sz="2400" dirty="0">
                <a:latin typeface="メイリオ" panose="020B0604030504040204" pitchFamily="50" charset="-128"/>
                <a:ea typeface="メイリオ" panose="020B0604030504040204" pitchFamily="50" charset="-128"/>
              </a:rPr>
              <a:t>yes/no question</a:t>
            </a:r>
            <a:r>
              <a:rPr kumimoji="1" lang="ja-JP" altLang="en-US" sz="2400" dirty="0">
                <a:latin typeface="メイリオ" panose="020B0604030504040204" pitchFamily="50" charset="-128"/>
                <a:ea typeface="メイリオ" panose="020B0604030504040204" pitchFamily="50" charset="-128"/>
              </a:rPr>
              <a:t>による各領域の最終結果が入る（</a:t>
            </a:r>
            <a:r>
              <a:rPr kumimoji="1" lang="ja-JP" altLang="en-US" sz="2400" b="1" dirty="0">
                <a:latin typeface="メイリオ" panose="020B0604030504040204" pitchFamily="50" charset="-128"/>
                <a:ea typeface="メイリオ" panose="020B0604030504040204" pitchFamily="50" charset="-128"/>
              </a:rPr>
              <a:t>リーフ</a:t>
            </a:r>
            <a:r>
              <a:rPr kumimoji="1" lang="ja-JP" altLang="en-US" sz="2400" dirty="0">
                <a:latin typeface="メイリオ" panose="020B0604030504040204" pitchFamily="50" charset="-128"/>
                <a:ea typeface="メイリオ" panose="020B0604030504040204" pitchFamily="50" charset="-128"/>
              </a:rPr>
              <a:t>と呼ぶ）</a:t>
            </a:r>
            <a:endParaRPr kumimoji="1" lang="en-US" altLang="ja-JP"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988D763-125D-4AF2-82E9-F6BBADB43338}"/>
              </a:ext>
            </a:extLst>
          </p:cNvPr>
          <p:cNvSpPr txBox="1"/>
          <p:nvPr/>
        </p:nvSpPr>
        <p:spPr>
          <a:xfrm>
            <a:off x="9179197" y="2631612"/>
            <a:ext cx="203132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ルートノード</a:t>
            </a:r>
          </a:p>
        </p:txBody>
      </p:sp>
      <p:sp>
        <p:nvSpPr>
          <p:cNvPr id="9" name="テキスト ボックス 8">
            <a:extLst>
              <a:ext uri="{FF2B5EF4-FFF2-40B4-BE49-F238E27FC236}">
                <a16:creationId xmlns:a16="http://schemas.microsoft.com/office/drawing/2014/main" id="{384F2515-0C7C-47F7-9BEF-D54BFD6DB1AD}"/>
              </a:ext>
            </a:extLst>
          </p:cNvPr>
          <p:cNvSpPr txBox="1"/>
          <p:nvPr/>
        </p:nvSpPr>
        <p:spPr>
          <a:xfrm>
            <a:off x="1572332" y="1357968"/>
            <a:ext cx="748923" cy="769441"/>
          </a:xfrm>
          <a:prstGeom prst="rect">
            <a:avLst/>
          </a:prstGeom>
          <a:noFill/>
        </p:spPr>
        <p:txBody>
          <a:bodyPr wrap="none" rtlCol="0">
            <a:spAutoFit/>
          </a:bodyPr>
          <a:lstStyle/>
          <a:p>
            <a:pPr algn="l"/>
            <a:r>
              <a:rPr kumimoji="1" lang="ja-JP" altLang="en-US" sz="4400" b="1" dirty="0">
                <a:latin typeface="メイリオ" panose="020B0604030504040204" pitchFamily="50" charset="-128"/>
                <a:ea typeface="メイリオ" panose="020B0604030504040204" pitchFamily="50" charset="-128"/>
              </a:rPr>
              <a:t>①</a:t>
            </a:r>
          </a:p>
        </p:txBody>
      </p:sp>
      <p:sp>
        <p:nvSpPr>
          <p:cNvPr id="11" name="テキスト ボックス 10">
            <a:extLst>
              <a:ext uri="{FF2B5EF4-FFF2-40B4-BE49-F238E27FC236}">
                <a16:creationId xmlns:a16="http://schemas.microsoft.com/office/drawing/2014/main" id="{89E12EE5-B4BC-4AE5-98A2-2027F0039A69}"/>
              </a:ext>
            </a:extLst>
          </p:cNvPr>
          <p:cNvSpPr txBox="1"/>
          <p:nvPr/>
        </p:nvSpPr>
        <p:spPr>
          <a:xfrm>
            <a:off x="1002090" y="3308354"/>
            <a:ext cx="748923" cy="769441"/>
          </a:xfrm>
          <a:prstGeom prst="rect">
            <a:avLst/>
          </a:prstGeom>
          <a:noFill/>
        </p:spPr>
        <p:txBody>
          <a:bodyPr wrap="none" rtlCol="0">
            <a:spAutoFit/>
          </a:bodyPr>
          <a:lstStyle/>
          <a:p>
            <a:pPr algn="l"/>
            <a:r>
              <a:rPr kumimoji="1" lang="ja-JP" altLang="en-US" sz="4400" b="1" dirty="0">
                <a:latin typeface="メイリオ" panose="020B0604030504040204" pitchFamily="50" charset="-128"/>
                <a:ea typeface="メイリオ" panose="020B0604030504040204" pitchFamily="50" charset="-128"/>
              </a:rPr>
              <a:t>③</a:t>
            </a:r>
          </a:p>
        </p:txBody>
      </p:sp>
      <p:sp>
        <p:nvSpPr>
          <p:cNvPr id="12" name="テキスト ボックス 11">
            <a:extLst>
              <a:ext uri="{FF2B5EF4-FFF2-40B4-BE49-F238E27FC236}">
                <a16:creationId xmlns:a16="http://schemas.microsoft.com/office/drawing/2014/main" id="{9C4733A1-AD4C-45FC-9C3C-B9DB07971FF4}"/>
              </a:ext>
            </a:extLst>
          </p:cNvPr>
          <p:cNvSpPr txBox="1"/>
          <p:nvPr/>
        </p:nvSpPr>
        <p:spPr>
          <a:xfrm>
            <a:off x="4192911" y="1354118"/>
            <a:ext cx="748923" cy="769441"/>
          </a:xfrm>
          <a:prstGeom prst="rect">
            <a:avLst/>
          </a:prstGeom>
          <a:noFill/>
        </p:spPr>
        <p:txBody>
          <a:bodyPr wrap="none" rtlCol="0">
            <a:spAutoFit/>
          </a:bodyPr>
          <a:lstStyle/>
          <a:p>
            <a:pPr algn="l"/>
            <a:r>
              <a:rPr kumimoji="1" lang="ja-JP" altLang="en-US" sz="4400" b="1" dirty="0">
                <a:latin typeface="メイリオ" panose="020B0604030504040204" pitchFamily="50" charset="-128"/>
                <a:ea typeface="メイリオ" panose="020B0604030504040204" pitchFamily="50" charset="-128"/>
              </a:rPr>
              <a:t>②</a:t>
            </a:r>
          </a:p>
        </p:txBody>
      </p:sp>
      <p:sp>
        <p:nvSpPr>
          <p:cNvPr id="13" name="テキスト ボックス 12">
            <a:extLst>
              <a:ext uri="{FF2B5EF4-FFF2-40B4-BE49-F238E27FC236}">
                <a16:creationId xmlns:a16="http://schemas.microsoft.com/office/drawing/2014/main" id="{8BDCC879-3FDB-41D6-863F-AC8134ED4B4D}"/>
              </a:ext>
            </a:extLst>
          </p:cNvPr>
          <p:cNvSpPr txBox="1"/>
          <p:nvPr/>
        </p:nvSpPr>
        <p:spPr>
          <a:xfrm>
            <a:off x="3432562" y="3308353"/>
            <a:ext cx="748923" cy="769441"/>
          </a:xfrm>
          <a:prstGeom prst="rect">
            <a:avLst/>
          </a:prstGeom>
          <a:noFill/>
        </p:spPr>
        <p:txBody>
          <a:bodyPr wrap="none" rtlCol="0">
            <a:spAutoFit/>
          </a:bodyPr>
          <a:lstStyle/>
          <a:p>
            <a:pPr algn="l"/>
            <a:r>
              <a:rPr kumimoji="1" lang="ja-JP" altLang="en-US" sz="4400" b="1" dirty="0">
                <a:latin typeface="メイリオ" panose="020B0604030504040204" pitchFamily="50" charset="-128"/>
                <a:ea typeface="メイリオ" panose="020B0604030504040204" pitchFamily="50" charset="-128"/>
              </a:rPr>
              <a:t>④</a:t>
            </a:r>
          </a:p>
        </p:txBody>
      </p:sp>
      <p:sp>
        <p:nvSpPr>
          <p:cNvPr id="16" name="矢印: 下 15">
            <a:extLst>
              <a:ext uri="{FF2B5EF4-FFF2-40B4-BE49-F238E27FC236}">
                <a16:creationId xmlns:a16="http://schemas.microsoft.com/office/drawing/2014/main" id="{1C2B2485-9082-46E1-B3A6-A88C5482AED9}"/>
              </a:ext>
            </a:extLst>
          </p:cNvPr>
          <p:cNvSpPr/>
          <p:nvPr/>
        </p:nvSpPr>
        <p:spPr>
          <a:xfrm>
            <a:off x="11026206" y="3809825"/>
            <a:ext cx="566888" cy="1981502"/>
          </a:xfrm>
          <a:prstGeom prst="downArrow">
            <a:avLst>
              <a:gd name="adj1" fmla="val 50000"/>
              <a:gd name="adj2" fmla="val 760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94F1ACAA-BB97-4125-9706-740EC4EA8011}"/>
              </a:ext>
            </a:extLst>
          </p:cNvPr>
          <p:cNvSpPr txBox="1"/>
          <p:nvPr/>
        </p:nvSpPr>
        <p:spPr>
          <a:xfrm>
            <a:off x="11453632" y="3917556"/>
            <a:ext cx="553998" cy="2302660"/>
          </a:xfrm>
          <a:prstGeom prst="rect">
            <a:avLst/>
          </a:prstGeom>
          <a:noFill/>
        </p:spPr>
        <p:txBody>
          <a:bodyPr vert="eaVert"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木の深さ</a:t>
            </a:r>
          </a:p>
        </p:txBody>
      </p:sp>
      <p:sp>
        <p:nvSpPr>
          <p:cNvPr id="23" name="テキスト ボックス 22">
            <a:extLst>
              <a:ext uri="{FF2B5EF4-FFF2-40B4-BE49-F238E27FC236}">
                <a16:creationId xmlns:a16="http://schemas.microsoft.com/office/drawing/2014/main" id="{6F58ACF5-69DA-18F2-FA56-0A34A9C74735}"/>
              </a:ext>
            </a:extLst>
          </p:cNvPr>
          <p:cNvSpPr txBox="1"/>
          <p:nvPr/>
        </p:nvSpPr>
        <p:spPr>
          <a:xfrm>
            <a:off x="7500754" y="5500032"/>
            <a:ext cx="867545"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pure</a:t>
            </a:r>
            <a:endParaRPr kumimoji="1" lang="ja-JP" altLang="en-US" sz="2400"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EFB5CEB3-0511-A688-D5A6-5B116BB3F064}"/>
              </a:ext>
            </a:extLst>
          </p:cNvPr>
          <p:cNvSpPr txBox="1"/>
          <p:nvPr/>
        </p:nvSpPr>
        <p:spPr>
          <a:xfrm>
            <a:off x="111160" y="4904607"/>
            <a:ext cx="5109091" cy="1569660"/>
          </a:xfrm>
          <a:prstGeom prst="rect">
            <a:avLst/>
          </a:prstGeom>
          <a:noFill/>
        </p:spPr>
        <p:txBody>
          <a:bodyPr wrap="none" rtlCol="0">
            <a:spAutoFit/>
          </a:bodyPr>
          <a:lstStyle/>
          <a:p>
            <a:r>
              <a:rPr kumimoji="1" lang="ja-JP" altLang="en-US" sz="2400" b="1" dirty="0">
                <a:latin typeface="メイリオ" panose="020B0604030504040204" pitchFamily="50" charset="-128"/>
                <a:ea typeface="メイリオ" panose="020B0604030504040204" pitchFamily="50" charset="-128"/>
              </a:rPr>
              <a:t>演習</a:t>
            </a:r>
            <a:r>
              <a:rPr kumimoji="1" lang="ja-JP" altLang="en-US" sz="2400" dirty="0">
                <a:latin typeface="メイリオ" panose="020B0604030504040204" pitchFamily="50" charset="-128"/>
                <a:ea typeface="メイリオ" panose="020B0604030504040204" pitchFamily="50" charset="-128"/>
              </a:rPr>
              <a:t>　</a:t>
            </a:r>
          </a:p>
          <a:p>
            <a:r>
              <a:rPr kumimoji="1" lang="ja-JP" altLang="en-US" sz="2400" dirty="0">
                <a:latin typeface="メイリオ" panose="020B0604030504040204" pitchFamily="50" charset="-128"/>
                <a:ea typeface="メイリオ" panose="020B0604030504040204" pitchFamily="50" charset="-128"/>
              </a:rPr>
              <a:t>上図の①～④の各領域に至るツリー</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の経路を示せ</a:t>
            </a:r>
          </a:p>
          <a:p>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33670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0971F75-CBE3-8C8A-84C3-405089D28BA6}"/>
              </a:ext>
            </a:extLst>
          </p:cNvPr>
          <p:cNvSpPr txBox="1"/>
          <p:nvPr/>
        </p:nvSpPr>
        <p:spPr>
          <a:xfrm>
            <a:off x="753824" y="1595977"/>
            <a:ext cx="10128094" cy="1200329"/>
          </a:xfrm>
          <a:prstGeom prst="rect">
            <a:avLst/>
          </a:prstGeom>
          <a:noFill/>
        </p:spPr>
        <p:txBody>
          <a:bodyPr wrap="none" rtlCol="0">
            <a:spAutoFit/>
          </a:bodyPr>
          <a:lstStyle/>
          <a:p>
            <a:pPr marL="514350" indent="-51435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決定木は垂直</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水平な境界線を引きながら学習を進める</a:t>
            </a:r>
            <a:endParaRPr kumimoji="1" lang="en-US" altLang="ja-JP" sz="2400" dirty="0">
              <a:latin typeface="メイリオ" panose="020B0604030504040204" pitchFamily="50" charset="-128"/>
              <a:ea typeface="メイリオ" panose="020B0604030504040204" pitchFamily="50" charset="-128"/>
            </a:endParaRPr>
          </a:p>
          <a:p>
            <a:pPr marL="514350" indent="-51435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分類対象（教師ラベル）が</a:t>
            </a: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種類以上でも決定境界の引き方は同じ</a:t>
            </a:r>
            <a:endParaRPr kumimoji="1" lang="en-US" altLang="ja-JP" sz="2400" dirty="0">
              <a:latin typeface="メイリオ" panose="020B0604030504040204" pitchFamily="50" charset="-128"/>
              <a:ea typeface="メイリオ" panose="020B0604030504040204" pitchFamily="50" charset="-128"/>
            </a:endParaRPr>
          </a:p>
          <a:p>
            <a:pPr marL="514350" indent="-51435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機械学習によって決定境界の引き方が異なる</a:t>
            </a:r>
          </a:p>
        </p:txBody>
      </p:sp>
      <p:sp>
        <p:nvSpPr>
          <p:cNvPr id="4" name="テキスト ボックス 3">
            <a:extLst>
              <a:ext uri="{FF2B5EF4-FFF2-40B4-BE49-F238E27FC236}">
                <a16:creationId xmlns:a16="http://schemas.microsoft.com/office/drawing/2014/main" id="{9130F0AA-B600-CB67-186F-23DEFA9C510C}"/>
              </a:ext>
            </a:extLst>
          </p:cNvPr>
          <p:cNvSpPr txBox="1"/>
          <p:nvPr/>
        </p:nvSpPr>
        <p:spPr>
          <a:xfrm>
            <a:off x="655608" y="422694"/>
            <a:ext cx="3467616"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決定（判別）境界</a:t>
            </a:r>
          </a:p>
        </p:txBody>
      </p:sp>
      <p:pic>
        <p:nvPicPr>
          <p:cNvPr id="8" name="図 7">
            <a:extLst>
              <a:ext uri="{FF2B5EF4-FFF2-40B4-BE49-F238E27FC236}">
                <a16:creationId xmlns:a16="http://schemas.microsoft.com/office/drawing/2014/main" id="{682FF0B8-2268-B74A-51BC-3631787CF21C}"/>
              </a:ext>
            </a:extLst>
          </p:cNvPr>
          <p:cNvPicPr>
            <a:picLocks noChangeAspect="1"/>
          </p:cNvPicPr>
          <p:nvPr/>
        </p:nvPicPr>
        <p:blipFill>
          <a:blip r:embed="rId2"/>
          <a:stretch>
            <a:fillRect/>
          </a:stretch>
        </p:blipFill>
        <p:spPr>
          <a:xfrm>
            <a:off x="5943600" y="3744472"/>
            <a:ext cx="4572001" cy="2828642"/>
          </a:xfrm>
          <a:prstGeom prst="rect">
            <a:avLst/>
          </a:prstGeom>
        </p:spPr>
      </p:pic>
      <p:sp>
        <p:nvSpPr>
          <p:cNvPr id="9" name="フリーフォーム: 図形 8">
            <a:extLst>
              <a:ext uri="{FF2B5EF4-FFF2-40B4-BE49-F238E27FC236}">
                <a16:creationId xmlns:a16="http://schemas.microsoft.com/office/drawing/2014/main" id="{80DEA2B7-1E3F-91A4-4D7C-7AE787A105BE}"/>
              </a:ext>
            </a:extLst>
          </p:cNvPr>
          <p:cNvSpPr/>
          <p:nvPr/>
        </p:nvSpPr>
        <p:spPr>
          <a:xfrm>
            <a:off x="6978770" y="4550405"/>
            <a:ext cx="3423254" cy="1496712"/>
          </a:xfrm>
          <a:custGeom>
            <a:avLst/>
            <a:gdLst>
              <a:gd name="csX0" fmla="*/ 0 w 3423254"/>
              <a:gd name="csY0" fmla="*/ 1496712 h 1496712"/>
              <a:gd name="csX1" fmla="*/ 336430 w 3423254"/>
              <a:gd name="csY1" fmla="*/ 1306931 h 1496712"/>
              <a:gd name="csX2" fmla="*/ 646981 w 3423254"/>
              <a:gd name="csY2" fmla="*/ 849731 h 1496712"/>
              <a:gd name="csX3" fmla="*/ 871268 w 3423254"/>
              <a:gd name="csY3" fmla="*/ 280387 h 1496712"/>
              <a:gd name="csX4" fmla="*/ 1224951 w 3423254"/>
              <a:gd name="csY4" fmla="*/ 47474 h 1496712"/>
              <a:gd name="csX5" fmla="*/ 1431985 w 3423254"/>
              <a:gd name="csY5" fmla="*/ 38848 h 1496712"/>
              <a:gd name="csX6" fmla="*/ 1708030 w 3423254"/>
              <a:gd name="csY6" fmla="*/ 211376 h 1496712"/>
              <a:gd name="csX7" fmla="*/ 1880558 w 3423254"/>
              <a:gd name="csY7" fmla="*/ 461542 h 1496712"/>
              <a:gd name="csX8" fmla="*/ 1984075 w 3423254"/>
              <a:gd name="csY8" fmla="*/ 573686 h 1496712"/>
              <a:gd name="csX9" fmla="*/ 2303253 w 3423254"/>
              <a:gd name="csY9" fmla="*/ 599565 h 1496712"/>
              <a:gd name="csX10" fmla="*/ 2622430 w 3423254"/>
              <a:gd name="csY10" fmla="*/ 314893 h 1496712"/>
              <a:gd name="csX11" fmla="*/ 3045124 w 3423254"/>
              <a:gd name="csY11" fmla="*/ 73353 h 1496712"/>
              <a:gd name="csX12" fmla="*/ 3398807 w 3423254"/>
              <a:gd name="csY12" fmla="*/ 4342 h 1496712"/>
              <a:gd name="csX13" fmla="*/ 3364302 w 3423254"/>
              <a:gd name="csY13" fmla="*/ 12969 h 1496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423254" h="1496712">
                <a:moveTo>
                  <a:pt x="0" y="1496712"/>
                </a:moveTo>
                <a:cubicBezTo>
                  <a:pt x="114300" y="1455736"/>
                  <a:pt x="228600" y="1414761"/>
                  <a:pt x="336430" y="1306931"/>
                </a:cubicBezTo>
                <a:cubicBezTo>
                  <a:pt x="444260" y="1199101"/>
                  <a:pt x="557841" y="1020822"/>
                  <a:pt x="646981" y="849731"/>
                </a:cubicBezTo>
                <a:cubicBezTo>
                  <a:pt x="736121" y="678640"/>
                  <a:pt x="774940" y="414096"/>
                  <a:pt x="871268" y="280387"/>
                </a:cubicBezTo>
                <a:cubicBezTo>
                  <a:pt x="967596" y="146678"/>
                  <a:pt x="1131498" y="87731"/>
                  <a:pt x="1224951" y="47474"/>
                </a:cubicBezTo>
                <a:cubicBezTo>
                  <a:pt x="1318404" y="7217"/>
                  <a:pt x="1351472" y="11531"/>
                  <a:pt x="1431985" y="38848"/>
                </a:cubicBezTo>
                <a:cubicBezTo>
                  <a:pt x="1512498" y="66165"/>
                  <a:pt x="1633268" y="140927"/>
                  <a:pt x="1708030" y="211376"/>
                </a:cubicBezTo>
                <a:cubicBezTo>
                  <a:pt x="1782792" y="281825"/>
                  <a:pt x="1834551" y="401157"/>
                  <a:pt x="1880558" y="461542"/>
                </a:cubicBezTo>
                <a:cubicBezTo>
                  <a:pt x="1926565" y="521927"/>
                  <a:pt x="1913626" y="550682"/>
                  <a:pt x="1984075" y="573686"/>
                </a:cubicBezTo>
                <a:cubicBezTo>
                  <a:pt x="2054524" y="596690"/>
                  <a:pt x="2196861" y="642697"/>
                  <a:pt x="2303253" y="599565"/>
                </a:cubicBezTo>
                <a:cubicBezTo>
                  <a:pt x="2409645" y="556433"/>
                  <a:pt x="2498785" y="402595"/>
                  <a:pt x="2622430" y="314893"/>
                </a:cubicBezTo>
                <a:cubicBezTo>
                  <a:pt x="2746075" y="227191"/>
                  <a:pt x="2915728" y="125111"/>
                  <a:pt x="3045124" y="73353"/>
                </a:cubicBezTo>
                <a:cubicBezTo>
                  <a:pt x="3174520" y="21595"/>
                  <a:pt x="3345611" y="14406"/>
                  <a:pt x="3398807" y="4342"/>
                </a:cubicBezTo>
                <a:cubicBezTo>
                  <a:pt x="3452003" y="-5722"/>
                  <a:pt x="3408152" y="3623"/>
                  <a:pt x="3364302" y="12969"/>
                </a:cubicBezTo>
              </a:path>
            </a:pathLst>
          </a:cu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B1CE53C-978F-91DD-CD10-4859A1B4B1BE}"/>
              </a:ext>
            </a:extLst>
          </p:cNvPr>
          <p:cNvSpPr txBox="1"/>
          <p:nvPr/>
        </p:nvSpPr>
        <p:spPr>
          <a:xfrm>
            <a:off x="6096000" y="3088465"/>
            <a:ext cx="4356022" cy="646331"/>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こんな風に決定境界を引く機械学習もある（ニューラルネットワーク </a:t>
            </a:r>
            <a:r>
              <a:rPr kumimoji="1" lang="en-US" altLang="ja-JP" dirty="0">
                <a:latin typeface="メイリオ" panose="020B0604030504040204" pitchFamily="50" charset="-128"/>
                <a:ea typeface="メイリオ" panose="020B0604030504040204" pitchFamily="50" charset="-128"/>
              </a:rPr>
              <a:t>etc.)</a:t>
            </a:r>
            <a:endParaRPr kumimoji="1" lang="ja-JP" altLang="en-US" dirty="0">
              <a:latin typeface="メイリオ" panose="020B0604030504040204" pitchFamily="50" charset="-128"/>
              <a:ea typeface="メイリオ" panose="020B0604030504040204" pitchFamily="50" charset="-128"/>
            </a:endParaRPr>
          </a:p>
        </p:txBody>
      </p:sp>
      <p:cxnSp>
        <p:nvCxnSpPr>
          <p:cNvPr id="12" name="直線矢印コネクタ 11">
            <a:extLst>
              <a:ext uri="{FF2B5EF4-FFF2-40B4-BE49-F238E27FC236}">
                <a16:creationId xmlns:a16="http://schemas.microsoft.com/office/drawing/2014/main" id="{245220A5-39E6-CABA-8499-D0255D0AAF98}"/>
              </a:ext>
            </a:extLst>
          </p:cNvPr>
          <p:cNvCxnSpPr/>
          <p:nvPr/>
        </p:nvCxnSpPr>
        <p:spPr>
          <a:xfrm>
            <a:off x="8091577" y="3744472"/>
            <a:ext cx="284672" cy="805933"/>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7B743019-0F82-A418-4389-A74A6164B038}"/>
              </a:ext>
            </a:extLst>
          </p:cNvPr>
          <p:cNvSpPr txBox="1"/>
          <p:nvPr/>
        </p:nvSpPr>
        <p:spPr>
          <a:xfrm>
            <a:off x="655608" y="1017145"/>
            <a:ext cx="8186857" cy="830997"/>
          </a:xfrm>
          <a:prstGeom prst="rect">
            <a:avLst/>
          </a:prstGeom>
          <a:noFill/>
        </p:spPr>
        <p:txBody>
          <a:bodyPr wrap="none" rtlCol="0">
            <a:spAutoFit/>
          </a:bodyPr>
          <a:lstStyle/>
          <a:p>
            <a:r>
              <a:rPr kumimoji="1" lang="ja-JP" altLang="en-US" sz="2400" b="1" dirty="0">
                <a:latin typeface="メイリオ" panose="020B0604030504040204" pitchFamily="50" charset="-128"/>
                <a:ea typeface="メイリオ" panose="020B0604030504040204" pitchFamily="50" charset="-128"/>
              </a:rPr>
              <a:t>一般にほとんどの機械学習は決定境界を引いて学習が進む</a:t>
            </a:r>
            <a:endParaRPr kumimoji="1" lang="en-US" altLang="ja-JP" sz="2400" b="1" dirty="0">
              <a:latin typeface="メイリオ" panose="020B0604030504040204" pitchFamily="50" charset="-128"/>
              <a:ea typeface="メイリオ" panose="020B0604030504040204" pitchFamily="50" charset="-128"/>
            </a:endParaRPr>
          </a:p>
          <a:p>
            <a:pPr algn="l"/>
            <a:endParaRPr kumimoji="1" lang="ja-JP" altLang="en-US" sz="2400" b="1" dirty="0">
              <a:latin typeface="メイリオ" panose="020B0604030504040204" pitchFamily="50" charset="-128"/>
              <a:ea typeface="メイリオ" panose="020B0604030504040204" pitchFamily="50" charset="-128"/>
            </a:endParaRPr>
          </a:p>
        </p:txBody>
      </p:sp>
      <p:pic>
        <p:nvPicPr>
          <p:cNvPr id="21" name="図 20">
            <a:extLst>
              <a:ext uri="{FF2B5EF4-FFF2-40B4-BE49-F238E27FC236}">
                <a16:creationId xmlns:a16="http://schemas.microsoft.com/office/drawing/2014/main" id="{D722EF54-4CFA-6EF3-617B-EDE81DE976C6}"/>
              </a:ext>
            </a:extLst>
          </p:cNvPr>
          <p:cNvPicPr>
            <a:picLocks noChangeAspect="1"/>
          </p:cNvPicPr>
          <p:nvPr/>
        </p:nvPicPr>
        <p:blipFill>
          <a:blip r:embed="rId3"/>
          <a:stretch>
            <a:fillRect/>
          </a:stretch>
        </p:blipFill>
        <p:spPr>
          <a:xfrm>
            <a:off x="933092" y="3707867"/>
            <a:ext cx="4268636" cy="2847316"/>
          </a:xfrm>
          <a:prstGeom prst="rect">
            <a:avLst/>
          </a:prstGeom>
        </p:spPr>
      </p:pic>
    </p:spTree>
    <p:extLst>
      <p:ext uri="{BB962C8B-B14F-4D97-AF65-F5344CB8AC3E}">
        <p14:creationId xmlns:p14="http://schemas.microsoft.com/office/powerpoint/2010/main" val="772468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7B94E10-2C5A-D090-CBF4-5405DFA55CC8}"/>
              </a:ext>
            </a:extLst>
          </p:cNvPr>
          <p:cNvSpPr txBox="1"/>
          <p:nvPr/>
        </p:nvSpPr>
        <p:spPr>
          <a:xfrm>
            <a:off x="819509" y="2958860"/>
            <a:ext cx="326243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決定木の予測（分類）</a:t>
            </a:r>
          </a:p>
        </p:txBody>
      </p:sp>
    </p:spTree>
    <p:extLst>
      <p:ext uri="{BB962C8B-B14F-4D97-AF65-F5344CB8AC3E}">
        <p14:creationId xmlns:p14="http://schemas.microsoft.com/office/powerpoint/2010/main" val="47137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DA9FA764-5929-9F04-A06F-BA03321A5D87}"/>
              </a:ext>
            </a:extLst>
          </p:cNvPr>
          <p:cNvPicPr>
            <a:picLocks noChangeAspect="1"/>
          </p:cNvPicPr>
          <p:nvPr/>
        </p:nvPicPr>
        <p:blipFill>
          <a:blip r:embed="rId2"/>
          <a:stretch>
            <a:fillRect/>
          </a:stretch>
        </p:blipFill>
        <p:spPr>
          <a:xfrm>
            <a:off x="5846441" y="2190964"/>
            <a:ext cx="5589037" cy="4149691"/>
          </a:xfrm>
          <a:prstGeom prst="rect">
            <a:avLst/>
          </a:prstGeom>
        </p:spPr>
      </p:pic>
      <p:sp>
        <p:nvSpPr>
          <p:cNvPr id="6" name="テキスト ボックス 5">
            <a:extLst>
              <a:ext uri="{FF2B5EF4-FFF2-40B4-BE49-F238E27FC236}">
                <a16:creationId xmlns:a16="http://schemas.microsoft.com/office/drawing/2014/main" id="{7D157B7A-3B4F-4A4D-A29E-36710F962444}"/>
              </a:ext>
            </a:extLst>
          </p:cNvPr>
          <p:cNvSpPr txBox="1"/>
          <p:nvPr/>
        </p:nvSpPr>
        <p:spPr>
          <a:xfrm>
            <a:off x="506963" y="2514184"/>
            <a:ext cx="5988545" cy="1200329"/>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演習：</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以下のテストデータは〇△どちらに分類されるか右の決定木をたどって答えよ</a:t>
            </a:r>
          </a:p>
        </p:txBody>
      </p:sp>
      <p:sp>
        <p:nvSpPr>
          <p:cNvPr id="2" name="テキスト ボックス 1">
            <a:extLst>
              <a:ext uri="{FF2B5EF4-FFF2-40B4-BE49-F238E27FC236}">
                <a16:creationId xmlns:a16="http://schemas.microsoft.com/office/drawing/2014/main" id="{D3C353DB-15D1-4624-92D3-4789C57811FB}"/>
              </a:ext>
            </a:extLst>
          </p:cNvPr>
          <p:cNvSpPr txBox="1"/>
          <p:nvPr/>
        </p:nvSpPr>
        <p:spPr>
          <a:xfrm>
            <a:off x="433297" y="226684"/>
            <a:ext cx="2646878"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決定木の分類</a:t>
            </a:r>
          </a:p>
        </p:txBody>
      </p:sp>
      <p:sp>
        <p:nvSpPr>
          <p:cNvPr id="3" name="テキスト ボックス 2">
            <a:extLst>
              <a:ext uri="{FF2B5EF4-FFF2-40B4-BE49-F238E27FC236}">
                <a16:creationId xmlns:a16="http://schemas.microsoft.com/office/drawing/2014/main" id="{63617CA8-520E-4BB0-8956-91A410C46C97}"/>
              </a:ext>
            </a:extLst>
          </p:cNvPr>
          <p:cNvSpPr txBox="1"/>
          <p:nvPr/>
        </p:nvSpPr>
        <p:spPr>
          <a:xfrm>
            <a:off x="506962" y="899548"/>
            <a:ext cx="11457875" cy="1938992"/>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学習：純度を最大化するような決定境界（ノード）を再帰的に引き続ける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決定境界の数は、ハイパーパラメータ </a:t>
            </a:r>
            <a:r>
              <a:rPr kumimoji="1" lang="en-US" altLang="ja-JP" sz="2400" dirty="0" err="1">
                <a:latin typeface="メイリオ" panose="020B0604030504040204" pitchFamily="50" charset="-128"/>
                <a:ea typeface="メイリオ" panose="020B0604030504040204" pitchFamily="50" charset="-128"/>
              </a:rPr>
              <a:t>max_depth</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木の深さ）で決定する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分類：テストデータ特徴量を与えると、ルートからたどり、到達したリーフを分</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類結果とする</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D8BC97FA-3743-46D9-A777-2CC825B1ADC8}"/>
              </a:ext>
            </a:extLst>
          </p:cNvPr>
          <p:cNvSpPr txBox="1"/>
          <p:nvPr/>
        </p:nvSpPr>
        <p:spPr>
          <a:xfrm>
            <a:off x="1516499" y="3938114"/>
            <a:ext cx="204094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X[0.1, 0.04]</a:t>
            </a:r>
            <a:endParaRPr kumimoji="1" lang="ja-JP" altLang="en-US"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988DBCD9-70B7-40AB-A12D-D2EACC7E7FA0}"/>
              </a:ext>
            </a:extLst>
          </p:cNvPr>
          <p:cNvSpPr txBox="1"/>
          <p:nvPr/>
        </p:nvSpPr>
        <p:spPr>
          <a:xfrm>
            <a:off x="1516498" y="4399779"/>
            <a:ext cx="185018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X[1.0, 0.4]</a:t>
            </a:r>
            <a:endParaRPr kumimoji="1" lang="ja-JP" altLang="en-US" sz="2400"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4D1C059A-E194-4130-BB1F-46AE667E7E5A}"/>
              </a:ext>
            </a:extLst>
          </p:cNvPr>
          <p:cNvSpPr txBox="1"/>
          <p:nvPr/>
        </p:nvSpPr>
        <p:spPr>
          <a:xfrm>
            <a:off x="493427" y="5745044"/>
            <a:ext cx="4633747" cy="830997"/>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Pure</a:t>
            </a:r>
            <a:r>
              <a:rPr kumimoji="1" lang="ja-JP" altLang="en-US" sz="2400" dirty="0">
                <a:latin typeface="メイリオ" panose="020B0604030504040204" pitchFamily="50" charset="-128"/>
                <a:ea typeface="メイリオ" panose="020B0604030504040204" pitchFamily="50" charset="-128"/>
              </a:rPr>
              <a:t>でないリーフでは多数決で分類することに注意</a:t>
            </a:r>
          </a:p>
        </p:txBody>
      </p:sp>
      <p:sp>
        <p:nvSpPr>
          <p:cNvPr id="10" name="矢印: 下 9">
            <a:extLst>
              <a:ext uri="{FF2B5EF4-FFF2-40B4-BE49-F238E27FC236}">
                <a16:creationId xmlns:a16="http://schemas.microsoft.com/office/drawing/2014/main" id="{6CA7CA3F-1282-4813-8F32-493EAA033C69}"/>
              </a:ext>
            </a:extLst>
          </p:cNvPr>
          <p:cNvSpPr/>
          <p:nvPr/>
        </p:nvSpPr>
        <p:spPr>
          <a:xfrm>
            <a:off x="2072882" y="5059778"/>
            <a:ext cx="737419" cy="5234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C5369A84-40F0-FEB4-5E5F-79CBE99F8F4A}"/>
              </a:ext>
            </a:extLst>
          </p:cNvPr>
          <p:cNvSpPr txBox="1"/>
          <p:nvPr/>
        </p:nvSpPr>
        <p:spPr>
          <a:xfrm>
            <a:off x="5348692" y="6470041"/>
            <a:ext cx="6950877" cy="400110"/>
          </a:xfrm>
          <a:prstGeom prst="rect">
            <a:avLst/>
          </a:prstGeom>
          <a:noFill/>
        </p:spPr>
        <p:txBody>
          <a:bodyPr wrap="none" rtlCol="0">
            <a:spAutoFit/>
          </a:bodyPr>
          <a:lstStyle/>
          <a:p>
            <a:pPr algn="l"/>
            <a:r>
              <a:rPr kumimoji="1" lang="ja-JP" altLang="en-US" sz="2000" b="1" dirty="0">
                <a:latin typeface="メイリオ" panose="020B0604030504040204" pitchFamily="50" charset="-128"/>
                <a:ea typeface="メイリオ" panose="020B0604030504040204" pitchFamily="50" charset="-128"/>
              </a:rPr>
              <a:t>リーフでの</a:t>
            </a:r>
            <a:r>
              <a:rPr kumimoji="1" lang="en-US" altLang="ja-JP" sz="2000" b="1" dirty="0">
                <a:latin typeface="メイリオ" panose="020B0604030504040204" pitchFamily="50" charset="-128"/>
                <a:ea typeface="メイリオ" panose="020B0604030504040204" pitchFamily="50" charset="-128"/>
              </a:rPr>
              <a:t>values</a:t>
            </a:r>
            <a:r>
              <a:rPr kumimoji="1" lang="ja-JP" altLang="en-US" sz="2000" b="1" dirty="0">
                <a:latin typeface="メイリオ" panose="020B0604030504040204" pitchFamily="50" charset="-128"/>
                <a:ea typeface="メイリオ" panose="020B0604030504040204" pitchFamily="50" charset="-128"/>
              </a:rPr>
              <a:t>はクラス判別確率（確信度）を意味する</a:t>
            </a:r>
          </a:p>
        </p:txBody>
      </p:sp>
      <p:sp>
        <p:nvSpPr>
          <p:cNvPr id="15" name="矢印: 下 14">
            <a:extLst>
              <a:ext uri="{FF2B5EF4-FFF2-40B4-BE49-F238E27FC236}">
                <a16:creationId xmlns:a16="http://schemas.microsoft.com/office/drawing/2014/main" id="{94721956-DEA9-4F15-8AF7-669C30460F14}"/>
              </a:ext>
            </a:extLst>
          </p:cNvPr>
          <p:cNvSpPr/>
          <p:nvPr/>
        </p:nvSpPr>
        <p:spPr>
          <a:xfrm>
            <a:off x="11388452" y="2682616"/>
            <a:ext cx="311705" cy="3275836"/>
          </a:xfrm>
          <a:prstGeom prst="downArrow">
            <a:avLst>
              <a:gd name="adj1" fmla="val 50000"/>
              <a:gd name="adj2" fmla="val 107862"/>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CF48BE73-AFF5-9F40-4111-32DED42C8159}"/>
              </a:ext>
            </a:extLst>
          </p:cNvPr>
          <p:cNvSpPr txBox="1"/>
          <p:nvPr/>
        </p:nvSpPr>
        <p:spPr>
          <a:xfrm rot="16200000">
            <a:off x="10152573" y="3673902"/>
            <a:ext cx="342754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Max depth(</a:t>
            </a:r>
            <a:r>
              <a:rPr kumimoji="1" lang="ja-JP" altLang="en-US" sz="2400" dirty="0">
                <a:latin typeface="メイリオ" panose="020B0604030504040204" pitchFamily="50" charset="-128"/>
                <a:ea typeface="メイリオ" panose="020B0604030504040204" pitchFamily="50" charset="-128"/>
              </a:rPr>
              <a:t>木の深さ）</a:t>
            </a:r>
          </a:p>
        </p:txBody>
      </p:sp>
    </p:spTree>
    <p:extLst>
      <p:ext uri="{BB962C8B-B14F-4D97-AF65-F5344CB8AC3E}">
        <p14:creationId xmlns:p14="http://schemas.microsoft.com/office/powerpoint/2010/main" val="481355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3599D17-4E35-3C54-8437-179C87E37097}"/>
              </a:ext>
            </a:extLst>
          </p:cNvPr>
          <p:cNvSpPr txBox="1"/>
          <p:nvPr/>
        </p:nvSpPr>
        <p:spPr>
          <a:xfrm>
            <a:off x="724619" y="2769079"/>
            <a:ext cx="541686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過学習問題　～　モデルの複雑性とは</a:t>
            </a:r>
          </a:p>
        </p:txBody>
      </p:sp>
    </p:spTree>
    <p:extLst>
      <p:ext uri="{BB962C8B-B14F-4D97-AF65-F5344CB8AC3E}">
        <p14:creationId xmlns:p14="http://schemas.microsoft.com/office/powerpoint/2010/main" val="2426924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BAAAFBB-A3DA-4AE4-A83D-4F603F80FF1F}"/>
              </a:ext>
            </a:extLst>
          </p:cNvPr>
          <p:cNvSpPr txBox="1"/>
          <p:nvPr/>
        </p:nvSpPr>
        <p:spPr>
          <a:xfrm flipH="1">
            <a:off x="285438" y="401774"/>
            <a:ext cx="8613057" cy="584775"/>
          </a:xfrm>
          <a:prstGeom prst="rect">
            <a:avLst/>
          </a:prstGeom>
          <a:noFill/>
        </p:spPr>
        <p:txBody>
          <a:bodyPr wrap="square" rtlCol="0">
            <a:spAutoFit/>
          </a:bodyPr>
          <a:lstStyle/>
          <a:p>
            <a:pPr algn="l"/>
            <a:r>
              <a:rPr kumimoji="1" lang="ja-JP" altLang="en-US" sz="3200" b="1" dirty="0">
                <a:latin typeface="メイリオ" panose="020B0604030504040204" pitchFamily="50" charset="-128"/>
                <a:ea typeface="メイリオ" panose="020B0604030504040204" pitchFamily="50" charset="-128"/>
              </a:rPr>
              <a:t>どこまで木を深くすると学習は終了するか？</a:t>
            </a:r>
          </a:p>
        </p:txBody>
      </p:sp>
      <p:sp>
        <p:nvSpPr>
          <p:cNvPr id="4" name="テキスト ボックス 3">
            <a:extLst>
              <a:ext uri="{FF2B5EF4-FFF2-40B4-BE49-F238E27FC236}">
                <a16:creationId xmlns:a16="http://schemas.microsoft.com/office/drawing/2014/main" id="{9743B0C9-EBDA-4213-9CB0-763CE2BDBD98}"/>
              </a:ext>
            </a:extLst>
          </p:cNvPr>
          <p:cNvSpPr txBox="1"/>
          <p:nvPr/>
        </p:nvSpPr>
        <p:spPr>
          <a:xfrm>
            <a:off x="2122797" y="1635018"/>
            <a:ext cx="794640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リーフが全部</a:t>
            </a:r>
            <a:r>
              <a:rPr kumimoji="1" lang="en-US" altLang="ja-JP" sz="2400" dirty="0">
                <a:latin typeface="メイリオ" panose="020B0604030504040204" pitchFamily="50" charset="-128"/>
                <a:ea typeface="メイリオ" panose="020B0604030504040204" pitchFamily="50" charset="-128"/>
              </a:rPr>
              <a:t>pure</a:t>
            </a:r>
            <a:r>
              <a:rPr kumimoji="1" lang="ja-JP" altLang="en-US" sz="2400" dirty="0">
                <a:latin typeface="メイリオ" panose="020B0604030504040204" pitchFamily="50" charset="-128"/>
                <a:ea typeface="メイリオ" panose="020B0604030504040204" pitchFamily="50" charset="-128"/>
              </a:rPr>
              <a:t>になるとそれ以上分割する意味がない</a:t>
            </a:r>
          </a:p>
        </p:txBody>
      </p:sp>
      <p:sp>
        <p:nvSpPr>
          <p:cNvPr id="5" name="テキスト ボックス 4">
            <a:extLst>
              <a:ext uri="{FF2B5EF4-FFF2-40B4-BE49-F238E27FC236}">
                <a16:creationId xmlns:a16="http://schemas.microsoft.com/office/drawing/2014/main" id="{0C211A02-E4E6-4F2E-A214-8FF12EB0A136}"/>
              </a:ext>
            </a:extLst>
          </p:cNvPr>
          <p:cNvSpPr txBox="1"/>
          <p:nvPr/>
        </p:nvSpPr>
        <p:spPr>
          <a:xfrm>
            <a:off x="2122798" y="2320414"/>
            <a:ext cx="6099747"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リーフが全部</a:t>
            </a:r>
            <a:r>
              <a:rPr kumimoji="1" lang="en-US" altLang="ja-JP" sz="2400" dirty="0">
                <a:latin typeface="メイリオ" panose="020B0604030504040204" pitchFamily="50" charset="-128"/>
                <a:ea typeface="メイリオ" panose="020B0604030504040204" pitchFamily="50" charset="-128"/>
              </a:rPr>
              <a:t>pure</a:t>
            </a:r>
            <a:r>
              <a:rPr kumimoji="1" lang="ja-JP" altLang="en-US" sz="2400" dirty="0">
                <a:latin typeface="メイリオ" panose="020B0604030504040204" pitchFamily="50" charset="-128"/>
                <a:ea typeface="メイリオ" panose="020B0604030504040204" pitchFamily="50" charset="-128"/>
              </a:rPr>
              <a:t>になるような木の深さ？</a:t>
            </a:r>
          </a:p>
        </p:txBody>
      </p:sp>
      <p:sp>
        <p:nvSpPr>
          <p:cNvPr id="6" name="テキスト ボックス 5">
            <a:extLst>
              <a:ext uri="{FF2B5EF4-FFF2-40B4-BE49-F238E27FC236}">
                <a16:creationId xmlns:a16="http://schemas.microsoft.com/office/drawing/2014/main" id="{71D2114B-CE49-436C-9D3D-A80F25C93872}"/>
              </a:ext>
            </a:extLst>
          </p:cNvPr>
          <p:cNvSpPr txBox="1"/>
          <p:nvPr/>
        </p:nvSpPr>
        <p:spPr>
          <a:xfrm>
            <a:off x="3703358" y="3772578"/>
            <a:ext cx="4785284"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このデータでは </a:t>
            </a:r>
            <a:r>
              <a:rPr kumimoji="1" lang="en-US" altLang="ja-JP" sz="2400" dirty="0" err="1">
                <a:latin typeface="メイリオ" panose="020B0604030504040204" pitchFamily="50" charset="-128"/>
                <a:ea typeface="メイリオ" panose="020B0604030504040204" pitchFamily="50" charset="-128"/>
              </a:rPr>
              <a:t>max_depth</a:t>
            </a:r>
            <a:r>
              <a:rPr kumimoji="1" lang="en-US" altLang="ja-JP" sz="2400" dirty="0">
                <a:latin typeface="メイリオ" panose="020B0604030504040204" pitchFamily="50" charset="-128"/>
                <a:ea typeface="メイリオ" panose="020B0604030504040204" pitchFamily="50" charset="-128"/>
              </a:rPr>
              <a:t> = 8</a:t>
            </a:r>
          </a:p>
          <a:p>
            <a:pPr algn="l"/>
            <a:r>
              <a:rPr kumimoji="1" lang="ja-JP" altLang="en-US" sz="2400" dirty="0">
                <a:latin typeface="メイリオ" panose="020B0604030504040204" pitchFamily="50" charset="-128"/>
                <a:ea typeface="メイリオ" panose="020B0604030504040204" pitchFamily="50" charset="-128"/>
              </a:rPr>
              <a:t>（確認してみてください）</a:t>
            </a:r>
          </a:p>
        </p:txBody>
      </p:sp>
      <p:sp>
        <p:nvSpPr>
          <p:cNvPr id="7" name="矢印: 下 6">
            <a:extLst>
              <a:ext uri="{FF2B5EF4-FFF2-40B4-BE49-F238E27FC236}">
                <a16:creationId xmlns:a16="http://schemas.microsoft.com/office/drawing/2014/main" id="{1B80094C-1033-44D6-91BA-672683F36DBC}"/>
              </a:ext>
            </a:extLst>
          </p:cNvPr>
          <p:cNvSpPr/>
          <p:nvPr/>
        </p:nvSpPr>
        <p:spPr>
          <a:xfrm>
            <a:off x="5358582" y="2890684"/>
            <a:ext cx="1337187" cy="5383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 name="Picture 2" descr="Jupyter Notebookの後継？Jupyter Labをつかってみた - いっきのblog">
            <a:extLst>
              <a:ext uri="{FF2B5EF4-FFF2-40B4-BE49-F238E27FC236}">
                <a16:creationId xmlns:a16="http://schemas.microsoft.com/office/drawing/2014/main" id="{51849C74-6BD3-D3C4-07D1-F149CD591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54078" y="575450"/>
            <a:ext cx="1047321" cy="1144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23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矢印: 下 6">
            <a:extLst>
              <a:ext uri="{FF2B5EF4-FFF2-40B4-BE49-F238E27FC236}">
                <a16:creationId xmlns:a16="http://schemas.microsoft.com/office/drawing/2014/main" id="{499836B8-8201-442F-9466-7A16F543F6FC}"/>
              </a:ext>
            </a:extLst>
          </p:cNvPr>
          <p:cNvSpPr/>
          <p:nvPr/>
        </p:nvSpPr>
        <p:spPr>
          <a:xfrm>
            <a:off x="1010176" y="913502"/>
            <a:ext cx="235974" cy="212929"/>
          </a:xfrm>
          <a:prstGeom prst="down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6C61B10-0349-4EE0-A2E4-3AAA7407A953}"/>
              </a:ext>
            </a:extLst>
          </p:cNvPr>
          <p:cNvSpPr txBox="1"/>
          <p:nvPr/>
        </p:nvSpPr>
        <p:spPr>
          <a:xfrm>
            <a:off x="1137996" y="807560"/>
            <a:ext cx="757130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ほとんど〇の領域だが、わずかな△の判別境界を生成</a:t>
            </a:r>
          </a:p>
        </p:txBody>
      </p:sp>
      <p:sp>
        <p:nvSpPr>
          <p:cNvPr id="9" name="矢印: 下 8">
            <a:extLst>
              <a:ext uri="{FF2B5EF4-FFF2-40B4-BE49-F238E27FC236}">
                <a16:creationId xmlns:a16="http://schemas.microsoft.com/office/drawing/2014/main" id="{3D53FA39-1CA5-42A8-B5CD-7110B1681F2D}"/>
              </a:ext>
            </a:extLst>
          </p:cNvPr>
          <p:cNvSpPr/>
          <p:nvPr/>
        </p:nvSpPr>
        <p:spPr>
          <a:xfrm>
            <a:off x="1020008" y="1305624"/>
            <a:ext cx="235974" cy="2129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C6BF1FF-654A-4D9C-AE63-51F4DD036589}"/>
              </a:ext>
            </a:extLst>
          </p:cNvPr>
          <p:cNvSpPr txBox="1"/>
          <p:nvPr/>
        </p:nvSpPr>
        <p:spPr>
          <a:xfrm>
            <a:off x="1137996" y="1200589"/>
            <a:ext cx="757130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ほとんど△の領域だが、わずかな〇の判別境界を生成</a:t>
            </a:r>
          </a:p>
        </p:txBody>
      </p:sp>
      <p:sp>
        <p:nvSpPr>
          <p:cNvPr id="11" name="テキスト ボックス 10">
            <a:extLst>
              <a:ext uri="{FF2B5EF4-FFF2-40B4-BE49-F238E27FC236}">
                <a16:creationId xmlns:a16="http://schemas.microsoft.com/office/drawing/2014/main" id="{24B825C7-834C-41EF-BC3B-CA9569C3D6A8}"/>
              </a:ext>
            </a:extLst>
          </p:cNvPr>
          <p:cNvSpPr txBox="1"/>
          <p:nvPr/>
        </p:nvSpPr>
        <p:spPr>
          <a:xfrm>
            <a:off x="330491" y="259039"/>
            <a:ext cx="3645550"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完全</a:t>
            </a:r>
            <a:r>
              <a:rPr kumimoji="1" lang="en-US" altLang="ja-JP" sz="3200" b="1" dirty="0">
                <a:latin typeface="メイリオ" panose="020B0604030504040204" pitchFamily="50" charset="-128"/>
                <a:ea typeface="メイリオ" panose="020B0604030504040204" pitchFamily="50" charset="-128"/>
              </a:rPr>
              <a:t>pure</a:t>
            </a:r>
            <a:r>
              <a:rPr kumimoji="1" lang="ja-JP" altLang="en-US" sz="3200" b="1" dirty="0">
                <a:latin typeface="メイリオ" panose="020B0604030504040204" pitchFamily="50" charset="-128"/>
                <a:ea typeface="メイリオ" panose="020B0604030504040204" pitchFamily="50" charset="-128"/>
              </a:rPr>
              <a:t>な決定木</a:t>
            </a:r>
          </a:p>
        </p:txBody>
      </p:sp>
      <p:sp>
        <p:nvSpPr>
          <p:cNvPr id="13" name="テキスト ボックス 12">
            <a:extLst>
              <a:ext uri="{FF2B5EF4-FFF2-40B4-BE49-F238E27FC236}">
                <a16:creationId xmlns:a16="http://schemas.microsoft.com/office/drawing/2014/main" id="{95B8AC54-1374-477E-A3A8-DA3DBD9F9CB8}"/>
              </a:ext>
            </a:extLst>
          </p:cNvPr>
          <p:cNvSpPr txBox="1"/>
          <p:nvPr/>
        </p:nvSpPr>
        <p:spPr>
          <a:xfrm>
            <a:off x="908461" y="6050440"/>
            <a:ext cx="7571303"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完全</a:t>
            </a:r>
            <a:r>
              <a:rPr kumimoji="1" lang="en-US" altLang="ja-JP" sz="2400" dirty="0">
                <a:latin typeface="メイリオ" panose="020B0604030504040204" pitchFamily="50" charset="-128"/>
                <a:ea typeface="メイリオ" panose="020B0604030504040204" pitchFamily="50" charset="-128"/>
              </a:rPr>
              <a:t>pure</a:t>
            </a:r>
            <a:r>
              <a:rPr kumimoji="1" lang="ja-JP" altLang="en-US" sz="2400" dirty="0">
                <a:latin typeface="メイリオ" panose="020B0604030504040204" pitchFamily="50" charset="-128"/>
                <a:ea typeface="メイリオ" panose="020B0604030504040204" pitchFamily="50" charset="-128"/>
              </a:rPr>
              <a:t>は、訓練データにどんな外れ値があってもとにかく分類することに血道を上げる！</a:t>
            </a:r>
          </a:p>
        </p:txBody>
      </p:sp>
      <p:pic>
        <p:nvPicPr>
          <p:cNvPr id="3" name="Picture 2" descr="Jupyter Notebookの後継？Jupyter Labをつかってみた - いっきのblog">
            <a:extLst>
              <a:ext uri="{FF2B5EF4-FFF2-40B4-BE49-F238E27FC236}">
                <a16:creationId xmlns:a16="http://schemas.microsoft.com/office/drawing/2014/main" id="{621F45EB-5AFD-4C34-AC05-9BE9500CF9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2069" y="807560"/>
            <a:ext cx="1047321" cy="1144746"/>
          </a:xfrm>
          <a:prstGeom prst="rect">
            <a:avLst/>
          </a:prstGeom>
          <a:noFill/>
          <a:extLst>
            <a:ext uri="{909E8E84-426E-40DD-AFC4-6F175D3DCCD1}">
              <a14:hiddenFill xmlns:a14="http://schemas.microsoft.com/office/drawing/2010/main">
                <a:solidFill>
                  <a:srgbClr val="FFFFFF"/>
                </a:solidFill>
              </a14:hiddenFill>
            </a:ext>
          </a:extLst>
        </p:spPr>
      </p:pic>
      <p:sp>
        <p:nvSpPr>
          <p:cNvPr id="5" name="矢印: 下 4">
            <a:extLst>
              <a:ext uri="{FF2B5EF4-FFF2-40B4-BE49-F238E27FC236}">
                <a16:creationId xmlns:a16="http://schemas.microsoft.com/office/drawing/2014/main" id="{B4052564-5B28-418A-8996-0586196E005E}"/>
              </a:ext>
            </a:extLst>
          </p:cNvPr>
          <p:cNvSpPr/>
          <p:nvPr/>
        </p:nvSpPr>
        <p:spPr>
          <a:xfrm>
            <a:off x="3240265" y="1634107"/>
            <a:ext cx="235974" cy="212929"/>
          </a:xfrm>
          <a:prstGeom prst="down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51AC500E-42F4-CF2E-4D9F-94A8A069206D}"/>
              </a:ext>
            </a:extLst>
          </p:cNvPr>
          <p:cNvPicPr>
            <a:picLocks noChangeAspect="1"/>
          </p:cNvPicPr>
          <p:nvPr/>
        </p:nvPicPr>
        <p:blipFill>
          <a:blip r:embed="rId3"/>
          <a:stretch>
            <a:fillRect/>
          </a:stretch>
        </p:blipFill>
        <p:spPr>
          <a:xfrm>
            <a:off x="908461" y="1881829"/>
            <a:ext cx="5664491" cy="3911801"/>
          </a:xfrm>
          <a:prstGeom prst="rect">
            <a:avLst/>
          </a:prstGeom>
        </p:spPr>
      </p:pic>
      <p:sp>
        <p:nvSpPr>
          <p:cNvPr id="4" name="矢印: 下 3">
            <a:extLst>
              <a:ext uri="{FF2B5EF4-FFF2-40B4-BE49-F238E27FC236}">
                <a16:creationId xmlns:a16="http://schemas.microsoft.com/office/drawing/2014/main" id="{94C246F7-AB0F-4AE8-80A6-8EBF4D8CE7B3}"/>
              </a:ext>
            </a:extLst>
          </p:cNvPr>
          <p:cNvSpPr/>
          <p:nvPr/>
        </p:nvSpPr>
        <p:spPr>
          <a:xfrm flipV="1">
            <a:off x="4900270" y="5721958"/>
            <a:ext cx="235974" cy="2129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58856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E6E06-8079-0CB8-E416-645572AA398B}"/>
            </a:ext>
          </a:extLst>
        </p:cNvPr>
        <p:cNvGrpSpPr/>
        <p:nvPr/>
      </p:nvGrpSpPr>
      <p:grpSpPr>
        <a:xfrm>
          <a:off x="0" y="0"/>
          <a:ext cx="0" cy="0"/>
          <a:chOff x="0" y="0"/>
          <a:chExt cx="0" cy="0"/>
        </a:xfrm>
      </p:grpSpPr>
      <p:pic>
        <p:nvPicPr>
          <p:cNvPr id="3" name="Picture 2" descr="Jupyter Notebookの後継？Jupyter Labをつかってみた - いっきのblog">
            <a:extLst>
              <a:ext uri="{FF2B5EF4-FFF2-40B4-BE49-F238E27FC236}">
                <a16:creationId xmlns:a16="http://schemas.microsoft.com/office/drawing/2014/main" id="{C2FE9945-B0C9-75DF-779F-54A9157339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423" y="11913"/>
            <a:ext cx="1047321" cy="1144746"/>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323B6327-8018-2A57-7F83-5A0125972E54}"/>
              </a:ext>
            </a:extLst>
          </p:cNvPr>
          <p:cNvSpPr txBox="1"/>
          <p:nvPr/>
        </p:nvSpPr>
        <p:spPr>
          <a:xfrm>
            <a:off x="208664" y="218110"/>
            <a:ext cx="5591860" cy="584775"/>
          </a:xfrm>
          <a:prstGeom prst="rect">
            <a:avLst/>
          </a:prstGeom>
          <a:noFill/>
        </p:spPr>
        <p:txBody>
          <a:bodyPr wrap="square" rtlCol="0">
            <a:spAutoFit/>
          </a:bodyPr>
          <a:lstStyle/>
          <a:p>
            <a:pPr algn="l"/>
            <a:r>
              <a:rPr kumimoji="1" lang="ja-JP" altLang="en-US" sz="3200" dirty="0">
                <a:latin typeface="メイリオ" panose="020B0604030504040204" pitchFamily="50" charset="-128"/>
                <a:ea typeface="メイリオ" panose="020B0604030504040204" pitchFamily="50" charset="-128"/>
              </a:rPr>
              <a:t>木は深いほど性能は高いか？</a:t>
            </a:r>
          </a:p>
        </p:txBody>
      </p:sp>
      <p:pic>
        <p:nvPicPr>
          <p:cNvPr id="28" name="図 27">
            <a:extLst>
              <a:ext uri="{FF2B5EF4-FFF2-40B4-BE49-F238E27FC236}">
                <a16:creationId xmlns:a16="http://schemas.microsoft.com/office/drawing/2014/main" id="{BD30103A-FB5B-8ECB-240F-33FD3D68DD75}"/>
              </a:ext>
            </a:extLst>
          </p:cNvPr>
          <p:cNvPicPr>
            <a:picLocks noChangeAspect="1"/>
          </p:cNvPicPr>
          <p:nvPr/>
        </p:nvPicPr>
        <p:blipFill>
          <a:blip r:embed="rId3"/>
          <a:stretch>
            <a:fillRect/>
          </a:stretch>
        </p:blipFill>
        <p:spPr>
          <a:xfrm>
            <a:off x="6366253" y="1848065"/>
            <a:ext cx="5664491" cy="3911801"/>
          </a:xfrm>
          <a:prstGeom prst="rect">
            <a:avLst/>
          </a:prstGeom>
        </p:spPr>
      </p:pic>
      <p:sp>
        <p:nvSpPr>
          <p:cNvPr id="29" name="テキスト ボックス 28">
            <a:extLst>
              <a:ext uri="{FF2B5EF4-FFF2-40B4-BE49-F238E27FC236}">
                <a16:creationId xmlns:a16="http://schemas.microsoft.com/office/drawing/2014/main" id="{9AA15183-78D6-A60D-4FB7-D7F597D9250D}"/>
              </a:ext>
            </a:extLst>
          </p:cNvPr>
          <p:cNvSpPr txBox="1"/>
          <p:nvPr/>
        </p:nvSpPr>
        <p:spPr>
          <a:xfrm>
            <a:off x="6429667" y="1055997"/>
            <a:ext cx="3250057" cy="1200329"/>
          </a:xfrm>
          <a:prstGeom prst="rect">
            <a:avLst/>
          </a:prstGeom>
          <a:noFill/>
        </p:spPr>
        <p:txBody>
          <a:bodyPr wrap="none" rtlCol="0">
            <a:spAutoFit/>
          </a:bodyPr>
          <a:lstStyle/>
          <a:p>
            <a:pPr latinLnBrk="1"/>
            <a:r>
              <a:rPr lang="ja-JP" altLang="ja-JP" sz="2400" dirty="0">
                <a:latin typeface="メイリオ" panose="020B0604030504040204" pitchFamily="50" charset="-128"/>
                <a:ea typeface="メイリオ" panose="020B0604030504040204" pitchFamily="50" charset="-128"/>
              </a:rPr>
              <a:t>training score</a:t>
            </a:r>
            <a:r>
              <a:rPr lang="en-US" altLang="ja-JP" sz="2400" dirty="0">
                <a:latin typeface="メイリオ" panose="020B0604030504040204" pitchFamily="50" charset="-128"/>
                <a:ea typeface="メイリオ" panose="020B0604030504040204" pitchFamily="50" charset="-128"/>
              </a:rPr>
              <a:t> </a:t>
            </a:r>
            <a:r>
              <a:rPr lang="ja-JP" altLang="ja-JP" sz="2400" dirty="0">
                <a:latin typeface="メイリオ" panose="020B0604030504040204" pitchFamily="50" charset="-128"/>
                <a:ea typeface="メイリオ" panose="020B0604030504040204" pitchFamily="50" charset="-128"/>
              </a:rPr>
              <a:t>: 1.0</a:t>
            </a:r>
            <a:r>
              <a:rPr lang="en-US" altLang="ja-JP" sz="2400" dirty="0">
                <a:latin typeface="メイリオ" panose="020B0604030504040204" pitchFamily="50" charset="-128"/>
                <a:ea typeface="メイリオ" panose="020B0604030504040204" pitchFamily="50" charset="-128"/>
              </a:rPr>
              <a:t>0</a:t>
            </a:r>
            <a:endParaRPr lang="ja-JP" altLang="ja-JP" sz="2400" dirty="0">
              <a:latin typeface="メイリオ" panose="020B0604030504040204" pitchFamily="50" charset="-128"/>
              <a:ea typeface="メイリオ" panose="020B0604030504040204" pitchFamily="50" charset="-128"/>
            </a:endParaRPr>
          </a:p>
          <a:p>
            <a:pPr latinLnBrk="1"/>
            <a:r>
              <a:rPr lang="ja-JP" altLang="ja-JP" sz="2400" dirty="0">
                <a:solidFill>
                  <a:srgbClr val="C00000"/>
                </a:solidFill>
                <a:latin typeface="メイリオ" panose="020B0604030504040204" pitchFamily="50" charset="-128"/>
                <a:ea typeface="メイリオ" panose="020B0604030504040204" pitchFamily="50" charset="-128"/>
              </a:rPr>
              <a:t>test score</a:t>
            </a:r>
            <a:r>
              <a:rPr lang="en-US" altLang="ja-JP" sz="2400" dirty="0">
                <a:solidFill>
                  <a:srgbClr val="C00000"/>
                </a:solidFill>
                <a:latin typeface="メイリオ" panose="020B0604030504040204" pitchFamily="50" charset="-128"/>
                <a:ea typeface="メイリオ" panose="020B0604030504040204" pitchFamily="50" charset="-128"/>
              </a:rPr>
              <a:t>      </a:t>
            </a:r>
            <a:r>
              <a:rPr lang="ja-JP" altLang="ja-JP" sz="2400" dirty="0">
                <a:solidFill>
                  <a:srgbClr val="C00000"/>
                </a:solidFill>
                <a:latin typeface="メイリオ" panose="020B0604030504040204" pitchFamily="50" charset="-128"/>
                <a:ea typeface="メイリオ" panose="020B0604030504040204" pitchFamily="50" charset="-128"/>
              </a:rPr>
              <a:t>: 0.8</a:t>
            </a:r>
            <a:r>
              <a:rPr lang="en-US" altLang="ja-JP" sz="2400" dirty="0">
                <a:solidFill>
                  <a:srgbClr val="C00000"/>
                </a:solidFill>
                <a:latin typeface="メイリオ" panose="020B0604030504040204" pitchFamily="50" charset="-128"/>
                <a:ea typeface="メイリオ" panose="020B0604030504040204" pitchFamily="50" charset="-128"/>
              </a:rPr>
              <a:t>0</a:t>
            </a:r>
            <a:endParaRPr lang="ja-JP" altLang="ja-JP" sz="2400" dirty="0">
              <a:solidFill>
                <a:srgbClr val="C00000"/>
              </a:solidFill>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47097CD9-13A8-6079-2123-55E2264CD463}"/>
              </a:ext>
            </a:extLst>
          </p:cNvPr>
          <p:cNvPicPr>
            <a:picLocks noChangeAspect="1"/>
          </p:cNvPicPr>
          <p:nvPr/>
        </p:nvPicPr>
        <p:blipFill>
          <a:blip r:embed="rId4"/>
          <a:stretch>
            <a:fillRect/>
          </a:stretch>
        </p:blipFill>
        <p:spPr>
          <a:xfrm>
            <a:off x="208664" y="1848065"/>
            <a:ext cx="5809887" cy="3965992"/>
          </a:xfrm>
          <a:prstGeom prst="rect">
            <a:avLst/>
          </a:prstGeom>
        </p:spPr>
      </p:pic>
      <p:sp>
        <p:nvSpPr>
          <p:cNvPr id="32" name="テキスト ボックス 31">
            <a:extLst>
              <a:ext uri="{FF2B5EF4-FFF2-40B4-BE49-F238E27FC236}">
                <a16:creationId xmlns:a16="http://schemas.microsoft.com/office/drawing/2014/main" id="{5ED5C8EA-04D8-B4E6-2CAE-AD0C5D2863B9}"/>
              </a:ext>
            </a:extLst>
          </p:cNvPr>
          <p:cNvSpPr txBox="1"/>
          <p:nvPr/>
        </p:nvSpPr>
        <p:spPr>
          <a:xfrm>
            <a:off x="256072" y="1138844"/>
            <a:ext cx="3288080" cy="1200329"/>
          </a:xfrm>
          <a:prstGeom prst="rect">
            <a:avLst/>
          </a:prstGeom>
          <a:noFill/>
        </p:spPr>
        <p:txBody>
          <a:bodyPr wrap="none" rtlCol="0">
            <a:spAutoFit/>
          </a:bodyPr>
          <a:lstStyle/>
          <a:p>
            <a:pPr latinLnBrk="1"/>
            <a:r>
              <a:rPr lang="ja-JP" altLang="ja-JP" sz="2400" dirty="0">
                <a:latin typeface="メイリオ" panose="020B0604030504040204" pitchFamily="50" charset="-128"/>
                <a:ea typeface="メイリオ" panose="020B0604030504040204" pitchFamily="50" charset="-128"/>
              </a:rPr>
              <a:t>training score</a:t>
            </a:r>
            <a:r>
              <a:rPr lang="en-US" altLang="ja-JP" sz="2400" dirty="0">
                <a:latin typeface="メイリオ" panose="020B0604030504040204" pitchFamily="50" charset="-128"/>
                <a:ea typeface="メイリオ" panose="020B0604030504040204" pitchFamily="50" charset="-128"/>
              </a:rPr>
              <a:t> </a:t>
            </a:r>
            <a:r>
              <a:rPr lang="ja-JP" altLang="ja-JP" sz="2400" dirty="0">
                <a:latin typeface="メイリオ" panose="020B0604030504040204" pitchFamily="50" charset="-128"/>
                <a:ea typeface="メイリオ" panose="020B0604030504040204" pitchFamily="50" charset="-128"/>
              </a:rPr>
              <a:t>: 0.92</a:t>
            </a:r>
          </a:p>
          <a:p>
            <a:pPr latinLnBrk="1"/>
            <a:r>
              <a:rPr lang="ja-JP" altLang="ja-JP" sz="2400" dirty="0">
                <a:solidFill>
                  <a:srgbClr val="FF0000"/>
                </a:solidFill>
                <a:latin typeface="メイリオ" panose="020B0604030504040204" pitchFamily="50" charset="-128"/>
                <a:ea typeface="メイリオ" panose="020B0604030504040204" pitchFamily="50" charset="-128"/>
              </a:rPr>
              <a:t>test score</a:t>
            </a:r>
            <a:r>
              <a:rPr lang="ja-JP" altLang="en-US" sz="2400" dirty="0">
                <a:solidFill>
                  <a:srgbClr val="FF0000"/>
                </a:solidFill>
                <a:latin typeface="メイリオ" panose="020B0604030504040204" pitchFamily="50" charset="-128"/>
                <a:ea typeface="メイリオ" panose="020B0604030504040204" pitchFamily="50" charset="-128"/>
              </a:rPr>
              <a:t>　　 </a:t>
            </a:r>
            <a:r>
              <a:rPr lang="ja-JP" altLang="ja-JP" sz="2400" dirty="0">
                <a:solidFill>
                  <a:srgbClr val="FF0000"/>
                </a:solidFill>
                <a:latin typeface="メイリオ" panose="020B0604030504040204" pitchFamily="50" charset="-128"/>
                <a:ea typeface="メイリオ" panose="020B0604030504040204" pitchFamily="50" charset="-128"/>
              </a:rPr>
              <a:t>: 0.87</a:t>
            </a: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CA2E4C8D-799B-3EF6-4098-3768F1185FDD}"/>
              </a:ext>
            </a:extLst>
          </p:cNvPr>
          <p:cNvSpPr txBox="1"/>
          <p:nvPr/>
        </p:nvSpPr>
        <p:spPr>
          <a:xfrm>
            <a:off x="276846" y="750617"/>
            <a:ext cx="2400016"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Max depth = 3</a:t>
            </a:r>
            <a:endParaRPr kumimoji="1" lang="ja-JP" altLang="en-US" sz="2400" dirty="0">
              <a:latin typeface="メイリオ" panose="020B0604030504040204" pitchFamily="50" charset="-128"/>
              <a:ea typeface="メイリオ" panose="020B0604030504040204" pitchFamily="50" charset="-128"/>
            </a:endParaRPr>
          </a:p>
        </p:txBody>
      </p:sp>
      <p:sp>
        <p:nvSpPr>
          <p:cNvPr id="35" name="テキスト ボックス 34">
            <a:extLst>
              <a:ext uri="{FF2B5EF4-FFF2-40B4-BE49-F238E27FC236}">
                <a16:creationId xmlns:a16="http://schemas.microsoft.com/office/drawing/2014/main" id="{19284117-3C43-7018-4E5D-CDF5A48104DD}"/>
              </a:ext>
            </a:extLst>
          </p:cNvPr>
          <p:cNvSpPr txBox="1"/>
          <p:nvPr/>
        </p:nvSpPr>
        <p:spPr>
          <a:xfrm>
            <a:off x="6408097" y="650619"/>
            <a:ext cx="396775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Max depth = 8(</a:t>
            </a:r>
            <a:r>
              <a:rPr kumimoji="1" lang="ja-JP" altLang="en-US" sz="2400" dirty="0">
                <a:latin typeface="メイリオ" panose="020B0604030504040204" pitchFamily="50" charset="-128"/>
                <a:ea typeface="メイリオ" panose="020B0604030504040204" pitchFamily="50" charset="-128"/>
              </a:rPr>
              <a:t>完全</a:t>
            </a:r>
            <a:r>
              <a:rPr kumimoji="1" lang="en-US" altLang="ja-JP" sz="2400" dirty="0">
                <a:latin typeface="メイリオ" panose="020B0604030504040204" pitchFamily="50" charset="-128"/>
                <a:ea typeface="メイリオ" panose="020B0604030504040204" pitchFamily="50" charset="-128"/>
              </a:rPr>
              <a:t>pure)</a:t>
            </a:r>
            <a:endParaRPr kumimoji="1" lang="ja-JP" altLang="en-US" sz="2400"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24F5C871-9285-7EB3-4256-43DA5BA76375}"/>
              </a:ext>
            </a:extLst>
          </p:cNvPr>
          <p:cNvSpPr txBox="1"/>
          <p:nvPr/>
        </p:nvSpPr>
        <p:spPr>
          <a:xfrm>
            <a:off x="485937" y="6295592"/>
            <a:ext cx="11213326" cy="400110"/>
          </a:xfrm>
          <a:prstGeom prst="rect">
            <a:avLst/>
          </a:prstGeom>
          <a:noFill/>
        </p:spPr>
        <p:txBody>
          <a:bodyPr wrap="none" rtlCol="0">
            <a:spAutoFit/>
          </a:bodyPr>
          <a:lstStyle/>
          <a:p>
            <a:pPr algn="l"/>
            <a:r>
              <a:rPr kumimoji="1" lang="ja-JP" altLang="en-US" sz="2000" b="1" dirty="0">
                <a:latin typeface="メイリオ" panose="020B0604030504040204" pitchFamily="50" charset="-128"/>
                <a:ea typeface="メイリオ" panose="020B0604030504040204" pitchFamily="50" charset="-128"/>
              </a:rPr>
              <a:t>訓練データに特化して学習しすぎる外れ値も学習するのでテストデータへの予測精度が悪くなる</a:t>
            </a:r>
          </a:p>
        </p:txBody>
      </p:sp>
      <p:sp>
        <p:nvSpPr>
          <p:cNvPr id="37" name="楕円 36">
            <a:extLst>
              <a:ext uri="{FF2B5EF4-FFF2-40B4-BE49-F238E27FC236}">
                <a16:creationId xmlns:a16="http://schemas.microsoft.com/office/drawing/2014/main" id="{95CBF07C-F958-424F-1D26-BE1C87C23367}"/>
              </a:ext>
            </a:extLst>
          </p:cNvPr>
          <p:cNvSpPr/>
          <p:nvPr/>
        </p:nvSpPr>
        <p:spPr>
          <a:xfrm>
            <a:off x="8574657" y="2511124"/>
            <a:ext cx="414068" cy="129396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楕円 38">
            <a:extLst>
              <a:ext uri="{FF2B5EF4-FFF2-40B4-BE49-F238E27FC236}">
                <a16:creationId xmlns:a16="http://schemas.microsoft.com/office/drawing/2014/main" id="{A17A4389-72A3-0886-E767-83DE1B58ADA2}"/>
              </a:ext>
            </a:extLst>
          </p:cNvPr>
          <p:cNvSpPr/>
          <p:nvPr/>
        </p:nvSpPr>
        <p:spPr>
          <a:xfrm>
            <a:off x="9920376" y="4199026"/>
            <a:ext cx="759125" cy="1293962"/>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0B48009F-9103-0C23-F645-3873E64178F4}"/>
              </a:ext>
            </a:extLst>
          </p:cNvPr>
          <p:cNvSpPr txBox="1"/>
          <p:nvPr/>
        </p:nvSpPr>
        <p:spPr>
          <a:xfrm>
            <a:off x="6092600" y="5298201"/>
            <a:ext cx="5741687" cy="923330"/>
          </a:xfrm>
          <a:prstGeom prst="rect">
            <a:avLst/>
          </a:prstGeom>
          <a:solidFill>
            <a:srgbClr val="FFFFFF">
              <a:alpha val="49020"/>
            </a:srgbClr>
          </a:solidFill>
        </p:spPr>
        <p:txBody>
          <a:bodyPr wrap="square" rtlCol="0">
            <a:spAutoFit/>
          </a:bodyPr>
          <a:lstStyle/>
          <a:p>
            <a:pPr marL="285750" indent="-285750" algn="l">
              <a:buFont typeface="Wingdings" panose="05000000000000000000" pitchFamily="2" charset="2"/>
              <a:buChar char="l"/>
            </a:pPr>
            <a:r>
              <a:rPr kumimoji="1" lang="ja-JP" altLang="en-US" dirty="0">
                <a:latin typeface="メイリオ" panose="020B0604030504040204" pitchFamily="50" charset="-128"/>
                <a:ea typeface="メイリオ" panose="020B0604030504040204" pitchFamily="50" charset="-128"/>
              </a:rPr>
              <a:t>大局的には、</a:t>
            </a:r>
            <a:r>
              <a:rPr kumimoji="1" lang="ja-JP" altLang="en-US" dirty="0">
                <a:solidFill>
                  <a:srgbClr val="C00000"/>
                </a:solidFill>
                <a:latin typeface="メイリオ" panose="020B0604030504040204" pitchFamily="50" charset="-128"/>
                <a:ea typeface="メイリオ" panose="020B0604030504040204" pitchFamily="50" charset="-128"/>
              </a:rPr>
              <a:t>●</a:t>
            </a:r>
            <a:r>
              <a:rPr kumimoji="1" lang="ja-JP" altLang="en-US" dirty="0">
                <a:solidFill>
                  <a:srgbClr val="0070C0"/>
                </a:solidFill>
                <a:latin typeface="メイリオ" panose="020B0604030504040204" pitchFamily="50" charset="-128"/>
                <a:ea typeface="メイリオ" panose="020B0604030504040204" pitchFamily="50" charset="-128"/>
              </a:rPr>
              <a:t>▲</a:t>
            </a:r>
            <a:r>
              <a:rPr kumimoji="1" lang="ja-JP" altLang="en-US" dirty="0">
                <a:latin typeface="メイリオ" panose="020B0604030504040204" pitchFamily="50" charset="-128"/>
                <a:ea typeface="メイリオ" panose="020B0604030504040204" pitchFamily="50" charset="-128"/>
              </a:rPr>
              <a:t>の領域だが外れ値にも境界を形成</a:t>
            </a:r>
            <a:endParaRPr kumimoji="1" lang="en-US" altLang="ja-JP" dirty="0">
              <a:latin typeface="メイリオ" panose="020B0604030504040204" pitchFamily="50" charset="-128"/>
              <a:ea typeface="メイリオ" panose="020B0604030504040204" pitchFamily="50" charset="-128"/>
            </a:endParaRPr>
          </a:p>
          <a:p>
            <a:pPr marL="285750" indent="-285750" algn="l">
              <a:buFont typeface="Wingdings" panose="05000000000000000000" pitchFamily="2" charset="2"/>
              <a:buChar char="l"/>
            </a:pPr>
            <a:r>
              <a:rPr kumimoji="1" lang="ja-JP" altLang="en-US" dirty="0">
                <a:latin typeface="メイリオ" panose="020B0604030504040204" pitchFamily="50" charset="-128"/>
                <a:ea typeface="メイリオ" panose="020B0604030504040204" pitchFamily="50" charset="-128"/>
              </a:rPr>
              <a:t>楕円内にテストデータが来ると</a:t>
            </a:r>
            <a:r>
              <a:rPr kumimoji="1" lang="ja-JP" altLang="en-US" dirty="0">
                <a:solidFill>
                  <a:srgbClr val="C00000"/>
                </a:solidFill>
                <a:latin typeface="メイリオ" panose="020B0604030504040204" pitchFamily="50" charset="-128"/>
                <a:ea typeface="メイリオ" panose="020B0604030504040204" pitchFamily="50" charset="-128"/>
              </a:rPr>
              <a:t>●</a:t>
            </a:r>
            <a:r>
              <a:rPr kumimoji="1" lang="ja-JP" altLang="en-US" dirty="0">
                <a:solidFill>
                  <a:srgbClr val="0070C0"/>
                </a:solidFill>
                <a:latin typeface="メイリオ" panose="020B0604030504040204" pitchFamily="50" charset="-128"/>
                <a:ea typeface="メイリオ" panose="020B0604030504040204" pitchFamily="50" charset="-128"/>
              </a:rPr>
              <a:t>▲</a:t>
            </a:r>
            <a:r>
              <a:rPr kumimoji="1" lang="ja-JP" altLang="en-US" dirty="0">
                <a:latin typeface="メイリオ" panose="020B0604030504040204" pitchFamily="50" charset="-128"/>
                <a:ea typeface="メイリオ" panose="020B0604030504040204" pitchFamily="50" charset="-128"/>
              </a:rPr>
              <a:t>になるはずだが、外れ値境界のために</a:t>
            </a:r>
            <a:r>
              <a:rPr kumimoji="1" lang="ja-JP" altLang="en-US" dirty="0">
                <a:solidFill>
                  <a:srgbClr val="0070C0"/>
                </a:solidFill>
                <a:latin typeface="メイリオ" panose="020B0604030504040204" pitchFamily="50" charset="-128"/>
                <a:ea typeface="メイリオ" panose="020B0604030504040204" pitchFamily="50" charset="-128"/>
              </a:rPr>
              <a:t>▲</a:t>
            </a:r>
            <a:r>
              <a:rPr kumimoji="1" lang="ja-JP" altLang="en-US" dirty="0">
                <a:solidFill>
                  <a:srgbClr val="C00000"/>
                </a:solidFill>
                <a:latin typeface="メイリオ" panose="020B0604030504040204" pitchFamily="50" charset="-128"/>
                <a:ea typeface="メイリオ" panose="020B0604030504040204" pitchFamily="50" charset="-128"/>
              </a:rPr>
              <a:t>●</a:t>
            </a:r>
            <a:r>
              <a:rPr kumimoji="1" lang="ja-JP" altLang="en-US" dirty="0">
                <a:latin typeface="メイリオ" panose="020B0604030504040204" pitchFamily="50" charset="-128"/>
                <a:ea typeface="メイリオ" panose="020B0604030504040204" pitchFamily="50" charset="-128"/>
              </a:rPr>
              <a:t>と誤判定される</a:t>
            </a:r>
          </a:p>
        </p:txBody>
      </p:sp>
      <p:cxnSp>
        <p:nvCxnSpPr>
          <p:cNvPr id="44" name="直線矢印コネクタ 43">
            <a:extLst>
              <a:ext uri="{FF2B5EF4-FFF2-40B4-BE49-F238E27FC236}">
                <a16:creationId xmlns:a16="http://schemas.microsoft.com/office/drawing/2014/main" id="{03287FD7-5297-F914-5F6C-B4BF07AC2FA0}"/>
              </a:ext>
            </a:extLst>
          </p:cNvPr>
          <p:cNvCxnSpPr>
            <a:cxnSpLocks/>
          </p:cNvCxnSpPr>
          <p:nvPr/>
        </p:nvCxnSpPr>
        <p:spPr>
          <a:xfrm flipV="1">
            <a:off x="8200482" y="3803965"/>
            <a:ext cx="374175" cy="14523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4217CF7-5FB1-8F72-2234-F5D35AC936F1}"/>
              </a:ext>
            </a:extLst>
          </p:cNvPr>
          <p:cNvCxnSpPr>
            <a:cxnSpLocks/>
          </p:cNvCxnSpPr>
          <p:nvPr/>
        </p:nvCxnSpPr>
        <p:spPr>
          <a:xfrm flipV="1">
            <a:off x="8548184" y="4649862"/>
            <a:ext cx="1372192" cy="64833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703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331BF92-909B-8F2E-0501-AD1E6D221E90}"/>
              </a:ext>
            </a:extLst>
          </p:cNvPr>
          <p:cNvSpPr txBox="1"/>
          <p:nvPr/>
        </p:nvSpPr>
        <p:spPr>
          <a:xfrm>
            <a:off x="594804" y="381740"/>
            <a:ext cx="1415772"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過学習</a:t>
            </a:r>
          </a:p>
        </p:txBody>
      </p:sp>
      <p:sp>
        <p:nvSpPr>
          <p:cNvPr id="3" name="テキスト ボックス 2">
            <a:extLst>
              <a:ext uri="{FF2B5EF4-FFF2-40B4-BE49-F238E27FC236}">
                <a16:creationId xmlns:a16="http://schemas.microsoft.com/office/drawing/2014/main" id="{4501F241-832F-F645-2AD2-B53B93CB30D9}"/>
              </a:ext>
            </a:extLst>
          </p:cNvPr>
          <p:cNvSpPr txBox="1"/>
          <p:nvPr/>
        </p:nvSpPr>
        <p:spPr>
          <a:xfrm>
            <a:off x="736846" y="1216241"/>
            <a:ext cx="10049523" cy="1938992"/>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訓練データの外れ値も含めて学習しすぎて、テストデータの予測精度を損なう現象（前頁 </a:t>
            </a:r>
            <a:r>
              <a:rPr kumimoji="1" lang="en-US" altLang="ja-JP" sz="2400" dirty="0">
                <a:latin typeface="メイリオ" panose="020B0604030504040204" pitchFamily="50" charset="-128"/>
                <a:ea typeface="メイリオ" panose="020B0604030504040204" pitchFamily="50" charset="-128"/>
              </a:rPr>
              <a:t>training score </a:t>
            </a:r>
            <a:r>
              <a:rPr kumimoji="1" lang="ja-JP" altLang="en-US" sz="2400" dirty="0">
                <a:latin typeface="メイリオ" panose="020B0604030504040204" pitchFamily="50" charset="-128"/>
                <a:ea typeface="メイリオ" panose="020B0604030504040204" pitchFamily="50" charset="-128"/>
              </a:rPr>
              <a:t>は訓練データの精度）</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Training score &gt;&gt; test score </a:t>
            </a:r>
            <a:r>
              <a:rPr kumimoji="1" lang="ja-JP" altLang="en-US" sz="2400" dirty="0">
                <a:latin typeface="メイリオ" panose="020B0604030504040204" pitchFamily="50" charset="-128"/>
                <a:ea typeface="メイリオ" panose="020B0604030504040204" pitchFamily="50" charset="-128"/>
              </a:rPr>
              <a:t>の状態は過学習の状態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一般にパラメータの種類数が多いモデルほど過学習しやすい</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機械学習は過学習との闘い</a:t>
            </a:r>
          </a:p>
        </p:txBody>
      </p:sp>
      <p:sp>
        <p:nvSpPr>
          <p:cNvPr id="4" name="テキスト ボックス 3">
            <a:extLst>
              <a:ext uri="{FF2B5EF4-FFF2-40B4-BE49-F238E27FC236}">
                <a16:creationId xmlns:a16="http://schemas.microsoft.com/office/drawing/2014/main" id="{BF5CD9F0-E148-F13D-AEC1-6A3E8F35E1E9}"/>
              </a:ext>
            </a:extLst>
          </p:cNvPr>
          <p:cNvSpPr txBox="1"/>
          <p:nvPr/>
        </p:nvSpPr>
        <p:spPr>
          <a:xfrm>
            <a:off x="1748901" y="3656601"/>
            <a:ext cx="7460697" cy="830997"/>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ニューラルネットワーク（</a:t>
            </a:r>
            <a:r>
              <a:rPr kumimoji="1" lang="en-US" altLang="ja-JP" sz="2400" dirty="0">
                <a:latin typeface="メイリオ" panose="020B0604030504040204" pitchFamily="50" charset="-128"/>
                <a:ea typeface="メイリオ" panose="020B0604030504040204" pitchFamily="50" charset="-128"/>
              </a:rPr>
              <a:t>AI)</a:t>
            </a:r>
            <a:r>
              <a:rPr kumimoji="1" lang="ja-JP" altLang="en-US" sz="2400" dirty="0">
                <a:latin typeface="メイリオ" panose="020B0604030504040204" pitchFamily="50" charset="-128"/>
                <a:ea typeface="メイリオ" panose="020B0604030504040204" pitchFamily="50" charset="-128"/>
              </a:rPr>
              <a:t>は過学習しやすい！</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これが長年日の目を見なかった理由</a:t>
            </a:r>
          </a:p>
        </p:txBody>
      </p:sp>
      <p:sp>
        <p:nvSpPr>
          <p:cNvPr id="5" name="テキスト ボックス 4">
            <a:extLst>
              <a:ext uri="{FF2B5EF4-FFF2-40B4-BE49-F238E27FC236}">
                <a16:creationId xmlns:a16="http://schemas.microsoft.com/office/drawing/2014/main" id="{C02F77AE-D41C-7118-E8FA-9742564FC0BF}"/>
              </a:ext>
            </a:extLst>
          </p:cNvPr>
          <p:cNvSpPr txBox="1"/>
          <p:nvPr/>
        </p:nvSpPr>
        <p:spPr>
          <a:xfrm>
            <a:off x="852256" y="5180094"/>
            <a:ext cx="7263527" cy="461665"/>
          </a:xfrm>
          <a:prstGeom prst="rect">
            <a:avLst/>
          </a:prstGeom>
          <a:noFill/>
        </p:spPr>
        <p:txBody>
          <a:bodyPr wrap="none" rtlCol="0">
            <a:spAutoFit/>
          </a:bodyPr>
          <a:lstStyle/>
          <a:p>
            <a:pPr algn="l"/>
            <a:r>
              <a:rPr kumimoji="1" lang="ja-JP" altLang="en-US" sz="2400" b="1" dirty="0">
                <a:latin typeface="メイリオ" panose="020B0604030504040204" pitchFamily="50" charset="-128"/>
                <a:ea typeface="メイリオ" panose="020B0604030504040204" pitchFamily="50" charset="-128"/>
              </a:rPr>
              <a:t>ではテスト精度を最大化するように学習するには？</a:t>
            </a:r>
          </a:p>
        </p:txBody>
      </p:sp>
    </p:spTree>
    <p:extLst>
      <p:ext uri="{BB962C8B-B14F-4D97-AF65-F5344CB8AC3E}">
        <p14:creationId xmlns:p14="http://schemas.microsoft.com/office/powerpoint/2010/main" val="3035093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A01760A-305F-415C-A8B6-252E1AB9973D}"/>
              </a:ext>
            </a:extLst>
          </p:cNvPr>
          <p:cNvSpPr txBox="1"/>
          <p:nvPr/>
        </p:nvSpPr>
        <p:spPr>
          <a:xfrm>
            <a:off x="547966" y="291099"/>
            <a:ext cx="2124490" cy="584775"/>
          </a:xfrm>
          <a:prstGeom prst="rect">
            <a:avLst/>
          </a:prstGeom>
          <a:noFill/>
        </p:spPr>
        <p:txBody>
          <a:bodyPr wrap="square" rtlCol="0">
            <a:spAutoFit/>
          </a:bodyPr>
          <a:lstStyle/>
          <a:p>
            <a:r>
              <a:rPr kumimoji="1" lang="ja-JP" altLang="en-US" sz="3200" b="1" dirty="0">
                <a:latin typeface="メイリオ" panose="020B0604030504040204" pitchFamily="50" charset="-128"/>
                <a:ea typeface="メイリオ" panose="020B0604030504040204" pitchFamily="50" charset="-128"/>
              </a:rPr>
              <a:t>学習曲線</a:t>
            </a:r>
          </a:p>
        </p:txBody>
      </p:sp>
      <p:cxnSp>
        <p:nvCxnSpPr>
          <p:cNvPr id="3" name="直線コネクタ 2">
            <a:extLst>
              <a:ext uri="{FF2B5EF4-FFF2-40B4-BE49-F238E27FC236}">
                <a16:creationId xmlns:a16="http://schemas.microsoft.com/office/drawing/2014/main" id="{2354FB20-DDC9-47F2-AC47-6D876A994907}"/>
              </a:ext>
            </a:extLst>
          </p:cNvPr>
          <p:cNvCxnSpPr>
            <a:cxnSpLocks/>
          </p:cNvCxnSpPr>
          <p:nvPr/>
        </p:nvCxnSpPr>
        <p:spPr>
          <a:xfrm flipH="1" flipV="1">
            <a:off x="2672456" y="3656932"/>
            <a:ext cx="6242" cy="23565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3A0D7BF-616F-4B5E-BFE7-4B8B2B3A0FF2}"/>
              </a:ext>
            </a:extLst>
          </p:cNvPr>
          <p:cNvCxnSpPr/>
          <p:nvPr/>
        </p:nvCxnSpPr>
        <p:spPr>
          <a:xfrm>
            <a:off x="2649202" y="6003692"/>
            <a:ext cx="443434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31846CDE-585C-4AF1-B3FD-60165607D7FA}"/>
              </a:ext>
            </a:extLst>
          </p:cNvPr>
          <p:cNvSpPr txBox="1"/>
          <p:nvPr/>
        </p:nvSpPr>
        <p:spPr>
          <a:xfrm>
            <a:off x="972025" y="3326821"/>
            <a:ext cx="1457087"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あてはまり（精度）</a:t>
            </a:r>
          </a:p>
        </p:txBody>
      </p:sp>
      <p:sp>
        <p:nvSpPr>
          <p:cNvPr id="14" name="テキスト ボックス 13">
            <a:extLst>
              <a:ext uri="{FF2B5EF4-FFF2-40B4-BE49-F238E27FC236}">
                <a16:creationId xmlns:a16="http://schemas.microsoft.com/office/drawing/2014/main" id="{FB56680B-8F50-4318-A31F-9ECD4CF615E6}"/>
              </a:ext>
            </a:extLst>
          </p:cNvPr>
          <p:cNvSpPr txBox="1"/>
          <p:nvPr/>
        </p:nvSpPr>
        <p:spPr>
          <a:xfrm>
            <a:off x="4708161" y="5953912"/>
            <a:ext cx="375424"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3</a:t>
            </a:r>
            <a:endParaRPr kumimoji="1" lang="ja-JP" altLang="en-US" sz="24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7310DE6A-F016-4C5A-8537-D3DCF55D3443}"/>
              </a:ext>
            </a:extLst>
          </p:cNvPr>
          <p:cNvSpPr txBox="1"/>
          <p:nvPr/>
        </p:nvSpPr>
        <p:spPr>
          <a:xfrm>
            <a:off x="3371875" y="5953911"/>
            <a:ext cx="375424"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a:t>
            </a:r>
            <a:endParaRPr kumimoji="1" lang="ja-JP" altLang="en-US" sz="2400" dirty="0">
              <a:latin typeface="メイリオ" panose="020B0604030504040204" pitchFamily="50" charset="-128"/>
              <a:ea typeface="メイリオ" panose="020B0604030504040204" pitchFamily="50" charset="-128"/>
            </a:endParaRPr>
          </a:p>
        </p:txBody>
      </p:sp>
      <p:sp>
        <p:nvSpPr>
          <p:cNvPr id="16" name="フリーフォーム: 図形 15">
            <a:extLst>
              <a:ext uri="{FF2B5EF4-FFF2-40B4-BE49-F238E27FC236}">
                <a16:creationId xmlns:a16="http://schemas.microsoft.com/office/drawing/2014/main" id="{4F1C3D27-B729-4146-ACCB-840C025AC63F}"/>
              </a:ext>
            </a:extLst>
          </p:cNvPr>
          <p:cNvSpPr/>
          <p:nvPr/>
        </p:nvSpPr>
        <p:spPr>
          <a:xfrm>
            <a:off x="2855681" y="4882819"/>
            <a:ext cx="4257367" cy="924947"/>
          </a:xfrm>
          <a:custGeom>
            <a:avLst/>
            <a:gdLst>
              <a:gd name="connsiteX0" fmla="*/ 0 w 4257367"/>
              <a:gd name="connsiteY0" fmla="*/ 1435538 h 1436255"/>
              <a:gd name="connsiteX1" fmla="*/ 471948 w 4257367"/>
              <a:gd name="connsiteY1" fmla="*/ 1327383 h 1436255"/>
              <a:gd name="connsiteX2" fmla="*/ 1022554 w 4257367"/>
              <a:gd name="connsiteY2" fmla="*/ 757112 h 1436255"/>
              <a:gd name="connsiteX3" fmla="*/ 1524000 w 4257367"/>
              <a:gd name="connsiteY3" fmla="*/ 147512 h 1436255"/>
              <a:gd name="connsiteX4" fmla="*/ 2015612 w 4257367"/>
              <a:gd name="connsiteY4" fmla="*/ 28 h 1436255"/>
              <a:gd name="connsiteX5" fmla="*/ 2448232 w 4257367"/>
              <a:gd name="connsiteY5" fmla="*/ 137679 h 1436255"/>
              <a:gd name="connsiteX6" fmla="*/ 2920180 w 4257367"/>
              <a:gd name="connsiteY6" fmla="*/ 412983 h 1436255"/>
              <a:gd name="connsiteX7" fmla="*/ 3323303 w 4257367"/>
              <a:gd name="connsiteY7" fmla="*/ 629292 h 1436255"/>
              <a:gd name="connsiteX8" fmla="*/ 3824748 w 4257367"/>
              <a:gd name="connsiteY8" fmla="*/ 816105 h 1436255"/>
              <a:gd name="connsiteX9" fmla="*/ 4257367 w 4257367"/>
              <a:gd name="connsiteY9" fmla="*/ 993086 h 1436255"/>
              <a:gd name="connsiteX10" fmla="*/ 4257367 w 4257367"/>
              <a:gd name="connsiteY10" fmla="*/ 993086 h 143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7367" h="1436255">
                <a:moveTo>
                  <a:pt x="0" y="1435538"/>
                </a:moveTo>
                <a:cubicBezTo>
                  <a:pt x="150761" y="1437996"/>
                  <a:pt x="301522" y="1440454"/>
                  <a:pt x="471948" y="1327383"/>
                </a:cubicBezTo>
                <a:cubicBezTo>
                  <a:pt x="642374" y="1214312"/>
                  <a:pt x="847212" y="953757"/>
                  <a:pt x="1022554" y="757112"/>
                </a:cubicBezTo>
                <a:cubicBezTo>
                  <a:pt x="1197896" y="560467"/>
                  <a:pt x="1358490" y="273693"/>
                  <a:pt x="1524000" y="147512"/>
                </a:cubicBezTo>
                <a:cubicBezTo>
                  <a:pt x="1689510" y="21331"/>
                  <a:pt x="1861573" y="1667"/>
                  <a:pt x="2015612" y="28"/>
                </a:cubicBezTo>
                <a:cubicBezTo>
                  <a:pt x="2169651" y="-1611"/>
                  <a:pt x="2297471" y="68853"/>
                  <a:pt x="2448232" y="137679"/>
                </a:cubicBezTo>
                <a:cubicBezTo>
                  <a:pt x="2598993" y="206505"/>
                  <a:pt x="2774335" y="331048"/>
                  <a:pt x="2920180" y="412983"/>
                </a:cubicBezTo>
                <a:cubicBezTo>
                  <a:pt x="3066025" y="494918"/>
                  <a:pt x="3172542" y="562105"/>
                  <a:pt x="3323303" y="629292"/>
                </a:cubicBezTo>
                <a:cubicBezTo>
                  <a:pt x="3474064" y="696479"/>
                  <a:pt x="3669071" y="755473"/>
                  <a:pt x="3824748" y="816105"/>
                </a:cubicBezTo>
                <a:cubicBezTo>
                  <a:pt x="3980425" y="876737"/>
                  <a:pt x="4257367" y="993086"/>
                  <a:pt x="4257367" y="993086"/>
                </a:cubicBezTo>
                <a:lnTo>
                  <a:pt x="4257367" y="993086"/>
                </a:lnTo>
              </a:path>
            </a:pathLst>
          </a:cu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F4CA5BE-45A9-4E86-A154-B441316D0E16}"/>
              </a:ext>
            </a:extLst>
          </p:cNvPr>
          <p:cNvSpPr txBox="1"/>
          <p:nvPr/>
        </p:nvSpPr>
        <p:spPr>
          <a:xfrm>
            <a:off x="6910586" y="5953912"/>
            <a:ext cx="49244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８</a:t>
            </a:r>
          </a:p>
        </p:txBody>
      </p:sp>
      <p:sp>
        <p:nvSpPr>
          <p:cNvPr id="19" name="フリーフォーム: 図形 18">
            <a:extLst>
              <a:ext uri="{FF2B5EF4-FFF2-40B4-BE49-F238E27FC236}">
                <a16:creationId xmlns:a16="http://schemas.microsoft.com/office/drawing/2014/main" id="{E22EB71F-107E-4DBC-848F-8E8F8BEC761F}"/>
              </a:ext>
            </a:extLst>
          </p:cNvPr>
          <p:cNvSpPr/>
          <p:nvPr/>
        </p:nvSpPr>
        <p:spPr>
          <a:xfrm>
            <a:off x="2777022" y="3889757"/>
            <a:ext cx="4345858" cy="1759974"/>
          </a:xfrm>
          <a:custGeom>
            <a:avLst/>
            <a:gdLst>
              <a:gd name="connsiteX0" fmla="*/ 0 w 4345858"/>
              <a:gd name="connsiteY0" fmla="*/ 1759974 h 1759974"/>
              <a:gd name="connsiteX1" fmla="*/ 599767 w 4345858"/>
              <a:gd name="connsiteY1" fmla="*/ 1563329 h 1759974"/>
              <a:gd name="connsiteX2" fmla="*/ 1956619 w 4345858"/>
              <a:gd name="connsiteY2" fmla="*/ 757084 h 1759974"/>
              <a:gd name="connsiteX3" fmla="*/ 3490451 w 4345858"/>
              <a:gd name="connsiteY3" fmla="*/ 167148 h 1759974"/>
              <a:gd name="connsiteX4" fmla="*/ 4345858 w 4345858"/>
              <a:gd name="connsiteY4" fmla="*/ 0 h 1759974"/>
              <a:gd name="connsiteX5" fmla="*/ 4345858 w 4345858"/>
              <a:gd name="connsiteY5" fmla="*/ 0 h 175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5858" h="1759974">
                <a:moveTo>
                  <a:pt x="0" y="1759974"/>
                </a:moveTo>
                <a:cubicBezTo>
                  <a:pt x="136832" y="1745225"/>
                  <a:pt x="273664" y="1730477"/>
                  <a:pt x="599767" y="1563329"/>
                </a:cubicBezTo>
                <a:cubicBezTo>
                  <a:pt x="925870" y="1396181"/>
                  <a:pt x="1474838" y="989781"/>
                  <a:pt x="1956619" y="757084"/>
                </a:cubicBezTo>
                <a:cubicBezTo>
                  <a:pt x="2438400" y="524387"/>
                  <a:pt x="3092245" y="293329"/>
                  <a:pt x="3490451" y="167148"/>
                </a:cubicBezTo>
                <a:cubicBezTo>
                  <a:pt x="3888657" y="40967"/>
                  <a:pt x="4345858" y="0"/>
                  <a:pt x="4345858" y="0"/>
                </a:cubicBezTo>
                <a:lnTo>
                  <a:pt x="4345858"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5B35834-BA1A-4B33-82A9-06F1B0B245D1}"/>
              </a:ext>
            </a:extLst>
          </p:cNvPr>
          <p:cNvSpPr txBox="1"/>
          <p:nvPr/>
        </p:nvSpPr>
        <p:spPr>
          <a:xfrm>
            <a:off x="5444798" y="4953319"/>
            <a:ext cx="1954709" cy="461665"/>
          </a:xfrm>
          <a:prstGeom prst="rect">
            <a:avLst/>
          </a:prstGeom>
          <a:noFill/>
        </p:spPr>
        <p:txBody>
          <a:bodyPr wrap="square" rtlCol="0">
            <a:spAutoFit/>
          </a:bodyPr>
          <a:lstStyle/>
          <a:p>
            <a:pPr algn="l"/>
            <a:r>
              <a:rPr kumimoji="1" lang="en-US" altLang="ja-JP" sz="2400" b="1" dirty="0">
                <a:solidFill>
                  <a:srgbClr val="C00000"/>
                </a:solidFill>
                <a:latin typeface="メイリオ" panose="020B0604030504040204" pitchFamily="50" charset="-128"/>
                <a:ea typeface="メイリオ" panose="020B0604030504040204" pitchFamily="50" charset="-128"/>
              </a:rPr>
              <a:t>Test score</a:t>
            </a:r>
            <a:endParaRPr kumimoji="1" lang="ja-JP" altLang="en-US" sz="2400" b="1" dirty="0">
              <a:solidFill>
                <a:srgbClr val="C0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5FB1EAE7-C7CB-47D0-A5ED-2AC969EC5EBE}"/>
              </a:ext>
            </a:extLst>
          </p:cNvPr>
          <p:cNvSpPr txBox="1"/>
          <p:nvPr/>
        </p:nvSpPr>
        <p:spPr>
          <a:xfrm>
            <a:off x="3961797" y="4396890"/>
            <a:ext cx="1714893" cy="400110"/>
          </a:xfrm>
          <a:prstGeom prst="rect">
            <a:avLst/>
          </a:prstGeom>
          <a:noFill/>
        </p:spPr>
        <p:txBody>
          <a:bodyPr wrap="none" rtlCol="0">
            <a:spAutoFit/>
          </a:bodyPr>
          <a:lstStyle/>
          <a:p>
            <a:pPr algn="l"/>
            <a:r>
              <a:rPr kumimoji="1" lang="en-US" altLang="ja-JP" sz="2000" b="1" dirty="0">
                <a:latin typeface="メイリオ" panose="020B0604030504040204" pitchFamily="50" charset="-128"/>
                <a:ea typeface="メイリオ" panose="020B0604030504040204" pitchFamily="50" charset="-128"/>
              </a:rPr>
              <a:t>Sweet Spot</a:t>
            </a:r>
            <a:endParaRPr kumimoji="1" lang="ja-JP" altLang="en-US" sz="2000" b="1" dirty="0">
              <a:latin typeface="メイリオ" panose="020B0604030504040204" pitchFamily="50" charset="-128"/>
              <a:ea typeface="メイリオ" panose="020B0604030504040204" pitchFamily="50" charset="-128"/>
            </a:endParaRPr>
          </a:p>
        </p:txBody>
      </p:sp>
      <p:sp>
        <p:nvSpPr>
          <p:cNvPr id="25" name="テキスト ボックス 24">
            <a:extLst>
              <a:ext uri="{FF2B5EF4-FFF2-40B4-BE49-F238E27FC236}">
                <a16:creationId xmlns:a16="http://schemas.microsoft.com/office/drawing/2014/main" id="{4DE20325-93D0-4A35-A1FB-5CAD1719EDC4}"/>
              </a:ext>
            </a:extLst>
          </p:cNvPr>
          <p:cNvSpPr txBox="1"/>
          <p:nvPr/>
        </p:nvSpPr>
        <p:spPr>
          <a:xfrm>
            <a:off x="2073400" y="2315402"/>
            <a:ext cx="1457084" cy="461665"/>
          </a:xfrm>
          <a:prstGeom prst="rect">
            <a:avLst/>
          </a:prstGeom>
          <a:noFill/>
        </p:spPr>
        <p:txBody>
          <a:bodyPr wrap="square" rtlCol="0">
            <a:spAutoFit/>
          </a:bodyPr>
          <a:lstStyle/>
          <a:p>
            <a:pPr algn="l"/>
            <a:r>
              <a:rPr kumimoji="1" lang="ja-JP" altLang="en-US" sz="2400" u="sng" dirty="0">
                <a:latin typeface="メイリオ" panose="020B0604030504040204" pitchFamily="50" charset="-128"/>
                <a:ea typeface="メイリオ" panose="020B0604030504040204" pitchFamily="50" charset="-128"/>
              </a:rPr>
              <a:t>学習不足</a:t>
            </a:r>
          </a:p>
        </p:txBody>
      </p:sp>
      <p:sp>
        <p:nvSpPr>
          <p:cNvPr id="26" name="テキスト ボックス 25">
            <a:extLst>
              <a:ext uri="{FF2B5EF4-FFF2-40B4-BE49-F238E27FC236}">
                <a16:creationId xmlns:a16="http://schemas.microsoft.com/office/drawing/2014/main" id="{F935D2BA-584D-4B61-89A3-CDDC75203469}"/>
              </a:ext>
            </a:extLst>
          </p:cNvPr>
          <p:cNvSpPr txBox="1"/>
          <p:nvPr/>
        </p:nvSpPr>
        <p:spPr>
          <a:xfrm>
            <a:off x="6261106" y="2389053"/>
            <a:ext cx="1107996" cy="461665"/>
          </a:xfrm>
          <a:prstGeom prst="rect">
            <a:avLst/>
          </a:prstGeom>
          <a:noFill/>
        </p:spPr>
        <p:txBody>
          <a:bodyPr wrap="none" rtlCol="0">
            <a:spAutoFit/>
          </a:bodyPr>
          <a:lstStyle/>
          <a:p>
            <a:pPr algn="l"/>
            <a:r>
              <a:rPr kumimoji="1" lang="ja-JP" altLang="en-US" sz="2400" u="sng" dirty="0">
                <a:latin typeface="メイリオ" panose="020B0604030504040204" pitchFamily="50" charset="-128"/>
                <a:ea typeface="メイリオ" panose="020B0604030504040204" pitchFamily="50" charset="-128"/>
              </a:rPr>
              <a:t>過学習</a:t>
            </a:r>
          </a:p>
        </p:txBody>
      </p:sp>
      <p:sp>
        <p:nvSpPr>
          <p:cNvPr id="11" name="テキスト ボックス 10">
            <a:extLst>
              <a:ext uri="{FF2B5EF4-FFF2-40B4-BE49-F238E27FC236}">
                <a16:creationId xmlns:a16="http://schemas.microsoft.com/office/drawing/2014/main" id="{30B3BF17-6F31-4ED2-AB9A-28705C9E8E6E}"/>
              </a:ext>
            </a:extLst>
          </p:cNvPr>
          <p:cNvSpPr txBox="1"/>
          <p:nvPr/>
        </p:nvSpPr>
        <p:spPr>
          <a:xfrm>
            <a:off x="7401629" y="5953910"/>
            <a:ext cx="1797864"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Tree depth</a:t>
            </a:r>
            <a:endParaRPr kumimoji="1" lang="ja-JP" altLang="en-US" sz="240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6A448677-A28D-4538-BCFD-3E8C8B9022A4}"/>
              </a:ext>
            </a:extLst>
          </p:cNvPr>
          <p:cNvSpPr txBox="1"/>
          <p:nvPr/>
        </p:nvSpPr>
        <p:spPr>
          <a:xfrm>
            <a:off x="547966" y="735471"/>
            <a:ext cx="9264075" cy="1569660"/>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ハイパーパラメータは学習不足⇄過学習を制御する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Tree depth</a:t>
            </a:r>
            <a:r>
              <a:rPr kumimoji="1" lang="ja-JP" altLang="en-US" sz="2400" dirty="0">
                <a:latin typeface="メイリオ" panose="020B0604030504040204" pitchFamily="50" charset="-128"/>
                <a:ea typeface="メイリオ" panose="020B0604030504040204" pitchFamily="50" charset="-128"/>
              </a:rPr>
              <a:t>は、決定木のハイパーパラメータ</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機械学習モデルによって異なるハイパーパラメータがある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どんな機械学習でもハイパーパラメータの調整で結果が変わる</a:t>
            </a:r>
            <a:endParaRPr kumimoji="1" lang="en-US" altLang="ja-JP" sz="2400" dirty="0">
              <a:latin typeface="メイリオ" panose="020B0604030504040204" pitchFamily="50" charset="-128"/>
              <a:ea typeface="メイリオ" panose="020B0604030504040204" pitchFamily="50" charset="-128"/>
            </a:endParaRPr>
          </a:p>
        </p:txBody>
      </p:sp>
      <p:pic>
        <p:nvPicPr>
          <p:cNvPr id="7" name="Picture 2" descr="Jupyter Notebookの後継？Jupyter Labをつかってみた - いっきのblog">
            <a:extLst>
              <a:ext uri="{FF2B5EF4-FFF2-40B4-BE49-F238E27FC236}">
                <a16:creationId xmlns:a16="http://schemas.microsoft.com/office/drawing/2014/main" id="{E9847539-3832-3C30-1392-982D3D5094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560" y="745270"/>
            <a:ext cx="1047321" cy="1144746"/>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548478D3-522D-066E-FC99-0E30A1DF10A6}"/>
              </a:ext>
            </a:extLst>
          </p:cNvPr>
          <p:cNvSpPr txBox="1"/>
          <p:nvPr/>
        </p:nvSpPr>
        <p:spPr>
          <a:xfrm>
            <a:off x="2151045" y="2725944"/>
            <a:ext cx="2347534"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学習不足だと予測精度は上がらない</a:t>
            </a:r>
          </a:p>
        </p:txBody>
      </p:sp>
      <p:sp>
        <p:nvSpPr>
          <p:cNvPr id="9" name="テキスト ボックス 8">
            <a:extLst>
              <a:ext uri="{FF2B5EF4-FFF2-40B4-BE49-F238E27FC236}">
                <a16:creationId xmlns:a16="http://schemas.microsoft.com/office/drawing/2014/main" id="{11BF8445-7985-9C8A-F697-DCF470CA1363}"/>
              </a:ext>
            </a:extLst>
          </p:cNvPr>
          <p:cNvSpPr txBox="1"/>
          <p:nvPr/>
        </p:nvSpPr>
        <p:spPr>
          <a:xfrm>
            <a:off x="6261106" y="2724739"/>
            <a:ext cx="2347535"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学習しすぎると予測精度は落ちる</a:t>
            </a:r>
          </a:p>
        </p:txBody>
      </p:sp>
      <p:sp>
        <p:nvSpPr>
          <p:cNvPr id="12" name="矢印: 左右 11">
            <a:extLst>
              <a:ext uri="{FF2B5EF4-FFF2-40B4-BE49-F238E27FC236}">
                <a16:creationId xmlns:a16="http://schemas.microsoft.com/office/drawing/2014/main" id="{341B9295-730B-0804-13EF-EC033446C83B}"/>
              </a:ext>
            </a:extLst>
          </p:cNvPr>
          <p:cNvSpPr/>
          <p:nvPr/>
        </p:nvSpPr>
        <p:spPr>
          <a:xfrm>
            <a:off x="4436483" y="2605150"/>
            <a:ext cx="1762527" cy="53652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309ED145-D5EA-F9F2-B259-AAC3F4ED5B43}"/>
              </a:ext>
            </a:extLst>
          </p:cNvPr>
          <p:cNvSpPr txBox="1"/>
          <p:nvPr/>
        </p:nvSpPr>
        <p:spPr>
          <a:xfrm>
            <a:off x="5176093" y="3756114"/>
            <a:ext cx="227761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Training score</a:t>
            </a:r>
            <a:endParaRPr kumimoji="1" lang="ja-JP" altLang="en-US" sz="2400" dirty="0">
              <a:latin typeface="メイリオ" panose="020B0604030504040204" pitchFamily="50" charset="-128"/>
              <a:ea typeface="メイリオ" panose="020B0604030504040204" pitchFamily="50" charset="-128"/>
            </a:endParaRPr>
          </a:p>
        </p:txBody>
      </p:sp>
      <p:sp>
        <p:nvSpPr>
          <p:cNvPr id="24" name="二等辺三角形 23">
            <a:extLst>
              <a:ext uri="{FF2B5EF4-FFF2-40B4-BE49-F238E27FC236}">
                <a16:creationId xmlns:a16="http://schemas.microsoft.com/office/drawing/2014/main" id="{8D1899C8-EF51-1DB3-388D-A22CC7D454E2}"/>
              </a:ext>
            </a:extLst>
          </p:cNvPr>
          <p:cNvSpPr/>
          <p:nvPr/>
        </p:nvSpPr>
        <p:spPr>
          <a:xfrm flipV="1">
            <a:off x="4498579" y="4733224"/>
            <a:ext cx="662766" cy="89126"/>
          </a:xfrm>
          <a:prstGeom prs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9F5BE9D-19A0-6065-1C86-ECA3B6F552B8}"/>
              </a:ext>
            </a:extLst>
          </p:cNvPr>
          <p:cNvSpPr txBox="1"/>
          <p:nvPr/>
        </p:nvSpPr>
        <p:spPr>
          <a:xfrm>
            <a:off x="2115974" y="3824411"/>
            <a:ext cx="673582"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1.0</a:t>
            </a:r>
            <a:endParaRPr kumimoji="1" lang="ja-JP" altLang="en-US" sz="2400"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9AAB73D5-1EF2-1536-7668-CB8472783F0F}"/>
              </a:ext>
            </a:extLst>
          </p:cNvPr>
          <p:cNvSpPr txBox="1"/>
          <p:nvPr/>
        </p:nvSpPr>
        <p:spPr>
          <a:xfrm>
            <a:off x="7453704" y="3776656"/>
            <a:ext cx="295465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最終的に１に近づく</a:t>
            </a:r>
          </a:p>
        </p:txBody>
      </p:sp>
      <p:sp>
        <p:nvSpPr>
          <p:cNvPr id="30" name="テキスト ボックス 29">
            <a:extLst>
              <a:ext uri="{FF2B5EF4-FFF2-40B4-BE49-F238E27FC236}">
                <a16:creationId xmlns:a16="http://schemas.microsoft.com/office/drawing/2014/main" id="{45D533CA-E856-9263-059B-B729396BF92F}"/>
              </a:ext>
            </a:extLst>
          </p:cNvPr>
          <p:cNvSpPr txBox="1"/>
          <p:nvPr/>
        </p:nvSpPr>
        <p:spPr>
          <a:xfrm>
            <a:off x="7201539" y="4967985"/>
            <a:ext cx="480131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最適な学習進行度でピークを持つ</a:t>
            </a:r>
          </a:p>
        </p:txBody>
      </p:sp>
    </p:spTree>
    <p:extLst>
      <p:ext uri="{BB962C8B-B14F-4D97-AF65-F5344CB8AC3E}">
        <p14:creationId xmlns:p14="http://schemas.microsoft.com/office/powerpoint/2010/main" val="2742739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36F2B67-EE5F-878C-6B8D-692F4B983FDB}"/>
              </a:ext>
            </a:extLst>
          </p:cNvPr>
          <p:cNvSpPr txBox="1"/>
          <p:nvPr/>
        </p:nvSpPr>
        <p:spPr>
          <a:xfrm>
            <a:off x="232969" y="270588"/>
            <a:ext cx="2646878" cy="584775"/>
          </a:xfrm>
          <a:prstGeom prst="rect">
            <a:avLst/>
          </a:prstGeom>
          <a:noFill/>
        </p:spPr>
        <p:txBody>
          <a:bodyPr wrap="none" rtlCol="0">
            <a:spAutoFit/>
          </a:bodyPr>
          <a:lstStyle/>
          <a:p>
            <a:r>
              <a:rPr kumimoji="1" lang="ja-JP" altLang="en-US" sz="3200" dirty="0">
                <a:latin typeface="メイリオ" panose="020B0604030504040204" pitchFamily="50" charset="-128"/>
                <a:ea typeface="メイリオ" panose="020B0604030504040204" pitchFamily="50" charset="-128"/>
              </a:rPr>
              <a:t>人力機械学習</a:t>
            </a:r>
          </a:p>
        </p:txBody>
      </p:sp>
      <p:sp>
        <p:nvSpPr>
          <p:cNvPr id="8" name="テキスト ボックス 7">
            <a:extLst>
              <a:ext uri="{FF2B5EF4-FFF2-40B4-BE49-F238E27FC236}">
                <a16:creationId xmlns:a16="http://schemas.microsoft.com/office/drawing/2014/main" id="{66005CE5-028C-7A2F-2833-8D0B7E0F515C}"/>
              </a:ext>
            </a:extLst>
          </p:cNvPr>
          <p:cNvSpPr txBox="1"/>
          <p:nvPr/>
        </p:nvSpPr>
        <p:spPr>
          <a:xfrm>
            <a:off x="265747" y="855363"/>
            <a:ext cx="6340197"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ボートを購入するルールを人力で見つけ出す</a:t>
            </a:r>
          </a:p>
        </p:txBody>
      </p:sp>
      <p:sp>
        <p:nvSpPr>
          <p:cNvPr id="9" name="テキスト ボックス 8">
            <a:extLst>
              <a:ext uri="{FF2B5EF4-FFF2-40B4-BE49-F238E27FC236}">
                <a16:creationId xmlns:a16="http://schemas.microsoft.com/office/drawing/2014/main" id="{E37129AC-0D69-B347-DC17-03D4CB495D09}"/>
              </a:ext>
            </a:extLst>
          </p:cNvPr>
          <p:cNvSpPr txBox="1"/>
          <p:nvPr/>
        </p:nvSpPr>
        <p:spPr>
          <a:xfrm>
            <a:off x="285314" y="2097230"/>
            <a:ext cx="6083717"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年齢 </a:t>
            </a:r>
            <a:r>
              <a:rPr kumimoji="1" lang="en-US" altLang="ja-JP" sz="2400" dirty="0">
                <a:latin typeface="メイリオ" panose="020B0604030504040204" pitchFamily="50" charset="-128"/>
                <a:ea typeface="メイリオ" panose="020B0604030504040204" pitchFamily="50" charset="-128"/>
              </a:rPr>
              <a:t>&gt; 45 and  </a:t>
            </a:r>
            <a:r>
              <a:rPr kumimoji="1" lang="ja-JP" altLang="en-US" sz="2400" dirty="0">
                <a:latin typeface="メイリオ" panose="020B0604030504040204" pitchFamily="50" charset="-128"/>
                <a:ea typeface="メイリオ" panose="020B0604030504040204" pitchFamily="50" charset="-128"/>
              </a:rPr>
              <a:t>持ち家 </a:t>
            </a:r>
            <a:r>
              <a:rPr kumimoji="1" lang="en-US" altLang="ja-JP" sz="2400" dirty="0">
                <a:latin typeface="メイリオ" panose="020B0604030504040204" pitchFamily="50" charset="-128"/>
                <a:ea typeface="メイリオ" panose="020B0604030504040204" pitchFamily="50" charset="-128"/>
              </a:rPr>
              <a:t>and 2</a:t>
            </a:r>
            <a:r>
              <a:rPr kumimoji="1" lang="ja-JP" altLang="en-US" sz="2400" dirty="0">
                <a:latin typeface="メイリオ" panose="020B0604030504040204" pitchFamily="50" charset="-128"/>
                <a:ea typeface="メイリオ" panose="020B0604030504040204" pitchFamily="50" charset="-128"/>
              </a:rPr>
              <a:t>≦子供 ≦</a:t>
            </a:r>
            <a:r>
              <a:rPr kumimoji="1" lang="en-US" altLang="ja-JP" sz="2400" dirty="0">
                <a:latin typeface="メイリオ" panose="020B0604030504040204" pitchFamily="50" charset="-128"/>
                <a:ea typeface="メイリオ" panose="020B0604030504040204" pitchFamily="50" charset="-128"/>
              </a:rPr>
              <a:t> 3</a:t>
            </a:r>
            <a:endParaRPr kumimoji="1" lang="ja-JP" altLang="en-US" sz="240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ADA0B863-6394-893E-BF26-4DAA0F0D64A3}"/>
              </a:ext>
            </a:extLst>
          </p:cNvPr>
          <p:cNvSpPr txBox="1"/>
          <p:nvPr/>
        </p:nvSpPr>
        <p:spPr>
          <a:xfrm>
            <a:off x="265747" y="1635565"/>
            <a:ext cx="3844322" cy="461665"/>
          </a:xfrm>
          <a:prstGeom prst="rect">
            <a:avLst/>
          </a:prstGeom>
          <a:noFill/>
        </p:spPr>
        <p:txBody>
          <a:bodyPr wrap="none" rtlCol="0">
            <a:spAutoFit/>
          </a:bodyPr>
          <a:lstStyle/>
          <a:p>
            <a:pPr algn="l"/>
            <a:r>
              <a:rPr kumimoji="1" lang="en-US" altLang="ja-JP" sz="2400" u="sng" dirty="0">
                <a:latin typeface="メイリオ" panose="020B0604030504040204" pitchFamily="50" charset="-128"/>
                <a:ea typeface="メイリオ" panose="020B0604030504040204" pitchFamily="50" charset="-128"/>
              </a:rPr>
              <a:t>100%</a:t>
            </a:r>
            <a:r>
              <a:rPr kumimoji="1" lang="ja-JP" altLang="en-US" sz="2400" u="sng" dirty="0">
                <a:latin typeface="メイリオ" panose="020B0604030504040204" pitchFamily="50" charset="-128"/>
                <a:ea typeface="メイリオ" panose="020B0604030504040204" pitchFamily="50" charset="-128"/>
              </a:rPr>
              <a:t>ボート買うルール！</a:t>
            </a:r>
          </a:p>
        </p:txBody>
      </p:sp>
      <p:sp>
        <p:nvSpPr>
          <p:cNvPr id="12" name="テキスト ボックス 11">
            <a:extLst>
              <a:ext uri="{FF2B5EF4-FFF2-40B4-BE49-F238E27FC236}">
                <a16:creationId xmlns:a16="http://schemas.microsoft.com/office/drawing/2014/main" id="{4C6152CC-93F5-4452-0043-98B8781A5CA0}"/>
              </a:ext>
            </a:extLst>
          </p:cNvPr>
          <p:cNvSpPr txBox="1"/>
          <p:nvPr/>
        </p:nvSpPr>
        <p:spPr>
          <a:xfrm>
            <a:off x="334639" y="2687417"/>
            <a:ext cx="5843635" cy="1631216"/>
          </a:xfrm>
          <a:prstGeom prst="rect">
            <a:avLst/>
          </a:prstGeom>
          <a:noFill/>
        </p:spPr>
        <p:txBody>
          <a:bodyPr wrap="square" rtlCol="0">
            <a:spAutoFit/>
          </a:bodyPr>
          <a:lstStyle/>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この国の世帯当たりの子供数は平均</a:t>
            </a:r>
            <a:r>
              <a:rPr kumimoji="1" lang="en-US" altLang="ja-JP" sz="2000" dirty="0">
                <a:latin typeface="メイリオ" panose="020B0604030504040204" pitchFamily="50" charset="-128"/>
                <a:ea typeface="メイリオ" panose="020B0604030504040204" pitchFamily="50" charset="-128"/>
              </a:rPr>
              <a:t>2</a:t>
            </a:r>
            <a:r>
              <a:rPr kumimoji="1" lang="ja-JP" altLang="en-US" sz="2000" dirty="0">
                <a:latin typeface="メイリオ" panose="020B0604030504040204" pitchFamily="50" charset="-128"/>
                <a:ea typeface="メイリオ" panose="020B0604030504040204" pitchFamily="50" charset="-128"/>
              </a:rPr>
              <a:t>名とする。</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この手のデータをとると子供</a:t>
            </a:r>
            <a:r>
              <a:rPr kumimoji="1" lang="en-US" altLang="ja-JP" sz="2000" dirty="0">
                <a:latin typeface="メイリオ" panose="020B0604030504040204" pitchFamily="50" charset="-128"/>
                <a:ea typeface="メイリオ" panose="020B0604030504040204" pitchFamily="50" charset="-128"/>
              </a:rPr>
              <a:t>1~3</a:t>
            </a:r>
            <a:r>
              <a:rPr kumimoji="1" lang="ja-JP" altLang="en-US" sz="2000" dirty="0">
                <a:latin typeface="メイリオ" panose="020B0604030504040204" pitchFamily="50" charset="-128"/>
                <a:ea typeface="メイリオ" panose="020B0604030504040204" pitchFamily="50" charset="-128"/>
              </a:rPr>
              <a:t>名のことが多い</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つまり子供数はボートとの因果関係はなく人口統計上、入手する傾向が高いデータ</a:t>
            </a:r>
          </a:p>
        </p:txBody>
      </p:sp>
      <p:pic>
        <p:nvPicPr>
          <p:cNvPr id="17" name="図 16">
            <a:extLst>
              <a:ext uri="{FF2B5EF4-FFF2-40B4-BE49-F238E27FC236}">
                <a16:creationId xmlns:a16="http://schemas.microsoft.com/office/drawing/2014/main" id="{5E7C3FB9-4A37-4B69-A0B8-F4FAC286AF8C}"/>
              </a:ext>
            </a:extLst>
          </p:cNvPr>
          <p:cNvPicPr>
            <a:picLocks noChangeAspect="1"/>
          </p:cNvPicPr>
          <p:nvPr/>
        </p:nvPicPr>
        <p:blipFill>
          <a:blip r:embed="rId2"/>
          <a:stretch>
            <a:fillRect/>
          </a:stretch>
        </p:blipFill>
        <p:spPr>
          <a:xfrm>
            <a:off x="1042557" y="4388679"/>
            <a:ext cx="4060477" cy="2384408"/>
          </a:xfrm>
          <a:prstGeom prst="rect">
            <a:avLst/>
          </a:prstGeom>
        </p:spPr>
      </p:pic>
      <p:cxnSp>
        <p:nvCxnSpPr>
          <p:cNvPr id="19" name="直線コネクタ 18">
            <a:extLst>
              <a:ext uri="{FF2B5EF4-FFF2-40B4-BE49-F238E27FC236}">
                <a16:creationId xmlns:a16="http://schemas.microsoft.com/office/drawing/2014/main" id="{919E0E78-41DD-9E48-4610-EB0A98E822B5}"/>
              </a:ext>
            </a:extLst>
          </p:cNvPr>
          <p:cNvCxnSpPr/>
          <p:nvPr/>
        </p:nvCxnSpPr>
        <p:spPr>
          <a:xfrm>
            <a:off x="2229207" y="4782139"/>
            <a:ext cx="0" cy="16141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6794B8BD-5B9E-9ECF-FB67-305B3D16A880}"/>
              </a:ext>
            </a:extLst>
          </p:cNvPr>
          <p:cNvCxnSpPr/>
          <p:nvPr/>
        </p:nvCxnSpPr>
        <p:spPr>
          <a:xfrm>
            <a:off x="3846513" y="4773785"/>
            <a:ext cx="0" cy="1614196"/>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DA4F9C3D-0DAE-C7E6-B970-5F745D461625}"/>
              </a:ext>
            </a:extLst>
          </p:cNvPr>
          <p:cNvSpPr txBox="1"/>
          <p:nvPr/>
        </p:nvSpPr>
        <p:spPr>
          <a:xfrm>
            <a:off x="1817507" y="6396335"/>
            <a:ext cx="68320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歳</a:t>
            </a:r>
          </a:p>
        </p:txBody>
      </p:sp>
      <p:sp>
        <p:nvSpPr>
          <p:cNvPr id="22" name="テキスト ボックス 21">
            <a:extLst>
              <a:ext uri="{FF2B5EF4-FFF2-40B4-BE49-F238E27FC236}">
                <a16:creationId xmlns:a16="http://schemas.microsoft.com/office/drawing/2014/main" id="{CC6B4B05-8A05-89C0-A615-20CDE956AC1A}"/>
              </a:ext>
            </a:extLst>
          </p:cNvPr>
          <p:cNvSpPr txBox="1"/>
          <p:nvPr/>
        </p:nvSpPr>
        <p:spPr>
          <a:xfrm>
            <a:off x="2677490" y="6396335"/>
            <a:ext cx="68320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歳</a:t>
            </a:r>
          </a:p>
        </p:txBody>
      </p:sp>
      <p:sp>
        <p:nvSpPr>
          <p:cNvPr id="23" name="テキスト ボックス 22">
            <a:extLst>
              <a:ext uri="{FF2B5EF4-FFF2-40B4-BE49-F238E27FC236}">
                <a16:creationId xmlns:a16="http://schemas.microsoft.com/office/drawing/2014/main" id="{5E6C43A9-F679-8925-0B61-7A87CEF19ACD}"/>
              </a:ext>
            </a:extLst>
          </p:cNvPr>
          <p:cNvSpPr txBox="1"/>
          <p:nvPr/>
        </p:nvSpPr>
        <p:spPr>
          <a:xfrm>
            <a:off x="3576042" y="6396335"/>
            <a:ext cx="68320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3</a:t>
            </a:r>
            <a:r>
              <a:rPr kumimoji="1" lang="ja-JP" altLang="en-US" sz="2400" dirty="0">
                <a:latin typeface="メイリオ" panose="020B0604030504040204" pitchFamily="50" charset="-128"/>
                <a:ea typeface="メイリオ" panose="020B0604030504040204" pitchFamily="50" charset="-128"/>
              </a:rPr>
              <a:t>歳</a:t>
            </a:r>
          </a:p>
        </p:txBody>
      </p:sp>
      <p:graphicFrame>
        <p:nvGraphicFramePr>
          <p:cNvPr id="24" name="表 23">
            <a:extLst>
              <a:ext uri="{FF2B5EF4-FFF2-40B4-BE49-F238E27FC236}">
                <a16:creationId xmlns:a16="http://schemas.microsoft.com/office/drawing/2014/main" id="{6BE2DF9D-D8C7-A81C-6993-A8BAEEE6562D}"/>
              </a:ext>
            </a:extLst>
          </p:cNvPr>
          <p:cNvGraphicFramePr>
            <a:graphicFrameLocks noGrp="1"/>
          </p:cNvGraphicFramePr>
          <p:nvPr/>
        </p:nvGraphicFramePr>
        <p:xfrm>
          <a:off x="6197841" y="1997639"/>
          <a:ext cx="5902313" cy="4801282"/>
        </p:xfrm>
        <a:graphic>
          <a:graphicData uri="http://schemas.openxmlformats.org/drawingml/2006/table">
            <a:tbl>
              <a:tblPr>
                <a:tableStyleId>{5C22544A-7EE6-4342-B048-85BDC9FD1C3A}</a:tableStyleId>
              </a:tblPr>
              <a:tblGrid>
                <a:gridCol w="700571">
                  <a:extLst>
                    <a:ext uri="{9D8B030D-6E8A-4147-A177-3AD203B41FA5}">
                      <a16:colId xmlns:a16="http://schemas.microsoft.com/office/drawing/2014/main" val="778994262"/>
                    </a:ext>
                  </a:extLst>
                </a:gridCol>
                <a:gridCol w="928257">
                  <a:extLst>
                    <a:ext uri="{9D8B030D-6E8A-4147-A177-3AD203B41FA5}">
                      <a16:colId xmlns:a16="http://schemas.microsoft.com/office/drawing/2014/main" val="2264625836"/>
                    </a:ext>
                  </a:extLst>
                </a:gridCol>
                <a:gridCol w="928257">
                  <a:extLst>
                    <a:ext uri="{9D8B030D-6E8A-4147-A177-3AD203B41FA5}">
                      <a16:colId xmlns:a16="http://schemas.microsoft.com/office/drawing/2014/main" val="1988903283"/>
                    </a:ext>
                  </a:extLst>
                </a:gridCol>
                <a:gridCol w="560457">
                  <a:extLst>
                    <a:ext uri="{9D8B030D-6E8A-4147-A177-3AD203B41FA5}">
                      <a16:colId xmlns:a16="http://schemas.microsoft.com/office/drawing/2014/main" val="2173653896"/>
                    </a:ext>
                  </a:extLst>
                </a:gridCol>
                <a:gridCol w="817662">
                  <a:extLst>
                    <a:ext uri="{9D8B030D-6E8A-4147-A177-3AD203B41FA5}">
                      <a16:colId xmlns:a16="http://schemas.microsoft.com/office/drawing/2014/main" val="374984435"/>
                    </a:ext>
                  </a:extLst>
                </a:gridCol>
                <a:gridCol w="1038852">
                  <a:extLst>
                    <a:ext uri="{9D8B030D-6E8A-4147-A177-3AD203B41FA5}">
                      <a16:colId xmlns:a16="http://schemas.microsoft.com/office/drawing/2014/main" val="80226917"/>
                    </a:ext>
                  </a:extLst>
                </a:gridCol>
                <a:gridCol w="928257">
                  <a:extLst>
                    <a:ext uri="{9D8B030D-6E8A-4147-A177-3AD203B41FA5}">
                      <a16:colId xmlns:a16="http://schemas.microsoft.com/office/drawing/2014/main" val="2989875900"/>
                    </a:ext>
                  </a:extLst>
                </a:gridCol>
              </a:tblGrid>
              <a:tr h="946366">
                <a:tc>
                  <a:txBody>
                    <a:bodyPr/>
                    <a:lstStyle/>
                    <a:p>
                      <a:pPr algn="ctr" fontAlgn="ctr"/>
                      <a:r>
                        <a:rPr lang="ja-JP" altLang="en-US" sz="1800" u="none" strike="noStrike">
                          <a:effectLst/>
                        </a:rPr>
                        <a:t>年齢</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zh-TW" altLang="en-US" sz="1800" u="none" strike="noStrike">
                          <a:effectLst/>
                        </a:rPr>
                        <a:t>自動車保有数</a:t>
                      </a:r>
                      <a:endParaRPr lang="zh-TW"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持ち家か</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子供の数</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dirty="0">
                          <a:effectLst/>
                        </a:rPr>
                        <a:t>婚姻状況</a:t>
                      </a:r>
                      <a:endParaRPr lang="ja-JP" alt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犬を飼っている</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ボートを購入</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795055029"/>
                  </a:ext>
                </a:extLst>
              </a:tr>
              <a:tr h="321243">
                <a:tc>
                  <a:txBody>
                    <a:bodyPr/>
                    <a:lstStyle/>
                    <a:p>
                      <a:pPr algn="r" fontAlgn="ctr"/>
                      <a:r>
                        <a:rPr lang="en-US" altLang="ja-JP" sz="1800" u="none" strike="noStrike">
                          <a:effectLst/>
                        </a:rPr>
                        <a:t>66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未亡人</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661334757"/>
                  </a:ext>
                </a:extLst>
              </a:tr>
              <a:tr h="321243">
                <a:tc>
                  <a:txBody>
                    <a:bodyPr/>
                    <a:lstStyle/>
                    <a:p>
                      <a:pPr algn="r" fontAlgn="ctr"/>
                      <a:r>
                        <a:rPr lang="en-US" altLang="ja-JP" sz="1800" u="none" strike="noStrike">
                          <a:effectLst/>
                        </a:rPr>
                        <a:t>52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078897263"/>
                  </a:ext>
                </a:extLst>
              </a:tr>
              <a:tr h="321243">
                <a:tc>
                  <a:txBody>
                    <a:bodyPr/>
                    <a:lstStyle/>
                    <a:p>
                      <a:pPr algn="r" fontAlgn="ctr"/>
                      <a:r>
                        <a:rPr lang="en-US" altLang="ja-JP" sz="1800" u="none" strike="noStrike">
                          <a:effectLst/>
                        </a:rPr>
                        <a:t>22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789082753"/>
                  </a:ext>
                </a:extLst>
              </a:tr>
              <a:tr h="321243">
                <a:tc>
                  <a:txBody>
                    <a:bodyPr/>
                    <a:lstStyle/>
                    <a:p>
                      <a:pPr algn="r" fontAlgn="ctr"/>
                      <a:r>
                        <a:rPr lang="en-US" altLang="ja-JP" sz="1800" u="none" strike="noStrike">
                          <a:effectLst/>
                        </a:rPr>
                        <a:t>25</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782928449"/>
                  </a:ext>
                </a:extLst>
              </a:tr>
              <a:tr h="321243">
                <a:tc>
                  <a:txBody>
                    <a:bodyPr/>
                    <a:lstStyle/>
                    <a:p>
                      <a:pPr algn="r" fontAlgn="ctr"/>
                      <a:r>
                        <a:rPr lang="en-US" altLang="ja-JP" sz="1800" u="none" strike="noStrike">
                          <a:effectLst/>
                        </a:rPr>
                        <a:t>44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655692288"/>
                  </a:ext>
                </a:extLst>
              </a:tr>
              <a:tr h="321243">
                <a:tc>
                  <a:txBody>
                    <a:bodyPr/>
                    <a:lstStyle/>
                    <a:p>
                      <a:pPr algn="r" fontAlgn="ctr"/>
                      <a:r>
                        <a:rPr lang="en-US" altLang="ja-JP" sz="1800" u="none" strike="noStrike">
                          <a:effectLst/>
                        </a:rPr>
                        <a:t>39</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981702502"/>
                  </a:ext>
                </a:extLst>
              </a:tr>
              <a:tr h="321243">
                <a:tc>
                  <a:txBody>
                    <a:bodyPr/>
                    <a:lstStyle/>
                    <a:p>
                      <a:pPr algn="r" fontAlgn="ctr"/>
                      <a:r>
                        <a:rPr lang="en-US" altLang="ja-JP" sz="1800" u="none" strike="noStrike">
                          <a:effectLst/>
                        </a:rPr>
                        <a:t>26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480307327"/>
                  </a:ext>
                </a:extLst>
              </a:tr>
              <a:tr h="321243">
                <a:tc>
                  <a:txBody>
                    <a:bodyPr/>
                    <a:lstStyle/>
                    <a:p>
                      <a:pPr algn="r" fontAlgn="ctr"/>
                      <a:r>
                        <a:rPr lang="en-US" altLang="ja-JP" sz="1800" u="none" strike="noStrike">
                          <a:effectLst/>
                        </a:rPr>
                        <a:t>40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431038178"/>
                  </a:ext>
                </a:extLst>
              </a:tr>
              <a:tr h="321243">
                <a:tc>
                  <a:txBody>
                    <a:bodyPr/>
                    <a:lstStyle/>
                    <a:p>
                      <a:pPr algn="r" fontAlgn="ctr"/>
                      <a:r>
                        <a:rPr lang="en-US" altLang="ja-JP" sz="1800" u="none" strike="noStrike">
                          <a:effectLst/>
                        </a:rPr>
                        <a:t>53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537383986"/>
                  </a:ext>
                </a:extLst>
              </a:tr>
              <a:tr h="321243">
                <a:tc>
                  <a:txBody>
                    <a:bodyPr/>
                    <a:lstStyle/>
                    <a:p>
                      <a:pPr algn="r" fontAlgn="ctr"/>
                      <a:r>
                        <a:rPr lang="en-US" altLang="ja-JP" sz="1800" u="none" strike="noStrike">
                          <a:effectLst/>
                        </a:rPr>
                        <a:t>64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509526112"/>
                  </a:ext>
                </a:extLst>
              </a:tr>
              <a:tr h="321243">
                <a:tc>
                  <a:txBody>
                    <a:bodyPr/>
                    <a:lstStyle/>
                    <a:p>
                      <a:pPr algn="r" fontAlgn="ctr"/>
                      <a:r>
                        <a:rPr lang="en-US" altLang="ja-JP" sz="1800" u="none" strike="noStrike">
                          <a:effectLst/>
                        </a:rPr>
                        <a:t>58</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146115356"/>
                  </a:ext>
                </a:extLst>
              </a:tr>
              <a:tr h="321243">
                <a:tc>
                  <a:txBody>
                    <a:bodyPr/>
                    <a:lstStyle/>
                    <a:p>
                      <a:pPr algn="r" fontAlgn="ctr"/>
                      <a:r>
                        <a:rPr lang="en-US" altLang="ja-JP" sz="1800" u="none" strike="noStrike">
                          <a:effectLst/>
                        </a:rPr>
                        <a:t>33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n</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872024280"/>
                  </a:ext>
                </a:extLst>
              </a:tr>
            </a:tbl>
          </a:graphicData>
        </a:graphic>
      </p:graphicFrame>
    </p:spTree>
    <p:extLst>
      <p:ext uri="{BB962C8B-B14F-4D97-AF65-F5344CB8AC3E}">
        <p14:creationId xmlns:p14="http://schemas.microsoft.com/office/powerpoint/2010/main" val="2311338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440CFB98-1AF1-0964-B253-B26D9E22A9B0}"/>
              </a:ext>
            </a:extLst>
          </p:cNvPr>
          <p:cNvGraphicFramePr>
            <a:graphicFrameLocks noGrp="1"/>
          </p:cNvGraphicFramePr>
          <p:nvPr/>
        </p:nvGraphicFramePr>
        <p:xfrm>
          <a:off x="6006233" y="5449078"/>
          <a:ext cx="5902313" cy="905070"/>
        </p:xfrm>
        <a:graphic>
          <a:graphicData uri="http://schemas.openxmlformats.org/drawingml/2006/table">
            <a:tbl>
              <a:tblPr>
                <a:tableStyleId>{5C22544A-7EE6-4342-B048-85BDC9FD1C3A}</a:tableStyleId>
              </a:tblPr>
              <a:tblGrid>
                <a:gridCol w="700571">
                  <a:extLst>
                    <a:ext uri="{9D8B030D-6E8A-4147-A177-3AD203B41FA5}">
                      <a16:colId xmlns:a16="http://schemas.microsoft.com/office/drawing/2014/main" val="2655372538"/>
                    </a:ext>
                  </a:extLst>
                </a:gridCol>
                <a:gridCol w="928257">
                  <a:extLst>
                    <a:ext uri="{9D8B030D-6E8A-4147-A177-3AD203B41FA5}">
                      <a16:colId xmlns:a16="http://schemas.microsoft.com/office/drawing/2014/main" val="2485936935"/>
                    </a:ext>
                  </a:extLst>
                </a:gridCol>
                <a:gridCol w="928257">
                  <a:extLst>
                    <a:ext uri="{9D8B030D-6E8A-4147-A177-3AD203B41FA5}">
                      <a16:colId xmlns:a16="http://schemas.microsoft.com/office/drawing/2014/main" val="3548012294"/>
                    </a:ext>
                  </a:extLst>
                </a:gridCol>
                <a:gridCol w="560457">
                  <a:extLst>
                    <a:ext uri="{9D8B030D-6E8A-4147-A177-3AD203B41FA5}">
                      <a16:colId xmlns:a16="http://schemas.microsoft.com/office/drawing/2014/main" val="1931672777"/>
                    </a:ext>
                  </a:extLst>
                </a:gridCol>
                <a:gridCol w="928257">
                  <a:extLst>
                    <a:ext uri="{9D8B030D-6E8A-4147-A177-3AD203B41FA5}">
                      <a16:colId xmlns:a16="http://schemas.microsoft.com/office/drawing/2014/main" val="3654084342"/>
                    </a:ext>
                  </a:extLst>
                </a:gridCol>
                <a:gridCol w="928257">
                  <a:extLst>
                    <a:ext uri="{9D8B030D-6E8A-4147-A177-3AD203B41FA5}">
                      <a16:colId xmlns:a16="http://schemas.microsoft.com/office/drawing/2014/main" val="4026741258"/>
                    </a:ext>
                  </a:extLst>
                </a:gridCol>
                <a:gridCol w="928257">
                  <a:extLst>
                    <a:ext uri="{9D8B030D-6E8A-4147-A177-3AD203B41FA5}">
                      <a16:colId xmlns:a16="http://schemas.microsoft.com/office/drawing/2014/main" val="3600549766"/>
                    </a:ext>
                  </a:extLst>
                </a:gridCol>
              </a:tblGrid>
              <a:tr h="301690">
                <a:tc>
                  <a:txBody>
                    <a:bodyPr/>
                    <a:lstStyle/>
                    <a:p>
                      <a:pPr algn="r" fontAlgn="ctr"/>
                      <a:r>
                        <a:rPr lang="en-US" altLang="ja-JP" sz="1800" u="none" strike="noStrike">
                          <a:effectLst/>
                        </a:rPr>
                        <a:t>46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949607010"/>
                  </a:ext>
                </a:extLst>
              </a:tr>
              <a:tr h="301690">
                <a:tc>
                  <a:txBody>
                    <a:bodyPr/>
                    <a:lstStyle/>
                    <a:p>
                      <a:pPr algn="r" fontAlgn="ctr"/>
                      <a:r>
                        <a:rPr lang="en-US" altLang="ja-JP" sz="1800" u="none" strike="noStrike">
                          <a:effectLst/>
                        </a:rPr>
                        <a:t>52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66858039"/>
                  </a:ext>
                </a:extLst>
              </a:tr>
              <a:tr h="301690">
                <a:tc>
                  <a:txBody>
                    <a:bodyPr/>
                    <a:lstStyle/>
                    <a:p>
                      <a:pPr algn="r" fontAlgn="ctr"/>
                      <a:r>
                        <a:rPr lang="en-US" altLang="ja-JP" sz="1800" u="none" strike="noStrike">
                          <a:effectLst/>
                        </a:rPr>
                        <a:t>22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dirty="0">
                          <a:effectLst/>
                        </a:rPr>
                        <a:t>0</a:t>
                      </a:r>
                      <a:endParaRPr lang="en-US" altLang="ja-JP"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n</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969548975"/>
                  </a:ext>
                </a:extLst>
              </a:tr>
            </a:tbl>
          </a:graphicData>
        </a:graphic>
      </p:graphicFrame>
      <p:graphicFrame>
        <p:nvGraphicFramePr>
          <p:cNvPr id="5" name="表 4">
            <a:extLst>
              <a:ext uri="{FF2B5EF4-FFF2-40B4-BE49-F238E27FC236}">
                <a16:creationId xmlns:a16="http://schemas.microsoft.com/office/drawing/2014/main" id="{B661700A-3B63-E9EA-8ADA-0130A310ECB1}"/>
              </a:ext>
            </a:extLst>
          </p:cNvPr>
          <p:cNvGraphicFramePr>
            <a:graphicFrameLocks noGrp="1"/>
          </p:cNvGraphicFramePr>
          <p:nvPr/>
        </p:nvGraphicFramePr>
        <p:xfrm>
          <a:off x="6006233" y="279919"/>
          <a:ext cx="5902313" cy="4801282"/>
        </p:xfrm>
        <a:graphic>
          <a:graphicData uri="http://schemas.openxmlformats.org/drawingml/2006/table">
            <a:tbl>
              <a:tblPr>
                <a:tableStyleId>{5C22544A-7EE6-4342-B048-85BDC9FD1C3A}</a:tableStyleId>
              </a:tblPr>
              <a:tblGrid>
                <a:gridCol w="700571">
                  <a:extLst>
                    <a:ext uri="{9D8B030D-6E8A-4147-A177-3AD203B41FA5}">
                      <a16:colId xmlns:a16="http://schemas.microsoft.com/office/drawing/2014/main" val="778994262"/>
                    </a:ext>
                  </a:extLst>
                </a:gridCol>
                <a:gridCol w="928257">
                  <a:extLst>
                    <a:ext uri="{9D8B030D-6E8A-4147-A177-3AD203B41FA5}">
                      <a16:colId xmlns:a16="http://schemas.microsoft.com/office/drawing/2014/main" val="2264625836"/>
                    </a:ext>
                  </a:extLst>
                </a:gridCol>
                <a:gridCol w="928257">
                  <a:extLst>
                    <a:ext uri="{9D8B030D-6E8A-4147-A177-3AD203B41FA5}">
                      <a16:colId xmlns:a16="http://schemas.microsoft.com/office/drawing/2014/main" val="1988903283"/>
                    </a:ext>
                  </a:extLst>
                </a:gridCol>
                <a:gridCol w="560457">
                  <a:extLst>
                    <a:ext uri="{9D8B030D-6E8A-4147-A177-3AD203B41FA5}">
                      <a16:colId xmlns:a16="http://schemas.microsoft.com/office/drawing/2014/main" val="2173653896"/>
                    </a:ext>
                  </a:extLst>
                </a:gridCol>
                <a:gridCol w="817662">
                  <a:extLst>
                    <a:ext uri="{9D8B030D-6E8A-4147-A177-3AD203B41FA5}">
                      <a16:colId xmlns:a16="http://schemas.microsoft.com/office/drawing/2014/main" val="374984435"/>
                    </a:ext>
                  </a:extLst>
                </a:gridCol>
                <a:gridCol w="1038852">
                  <a:extLst>
                    <a:ext uri="{9D8B030D-6E8A-4147-A177-3AD203B41FA5}">
                      <a16:colId xmlns:a16="http://schemas.microsoft.com/office/drawing/2014/main" val="80226917"/>
                    </a:ext>
                  </a:extLst>
                </a:gridCol>
                <a:gridCol w="928257">
                  <a:extLst>
                    <a:ext uri="{9D8B030D-6E8A-4147-A177-3AD203B41FA5}">
                      <a16:colId xmlns:a16="http://schemas.microsoft.com/office/drawing/2014/main" val="2989875900"/>
                    </a:ext>
                  </a:extLst>
                </a:gridCol>
              </a:tblGrid>
              <a:tr h="946366">
                <a:tc>
                  <a:txBody>
                    <a:bodyPr/>
                    <a:lstStyle/>
                    <a:p>
                      <a:pPr algn="ctr" fontAlgn="ctr"/>
                      <a:r>
                        <a:rPr lang="ja-JP" altLang="en-US" sz="1800" u="none" strike="noStrike">
                          <a:effectLst/>
                        </a:rPr>
                        <a:t>年齢</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zh-TW" altLang="en-US" sz="1800" u="none" strike="noStrike">
                          <a:effectLst/>
                        </a:rPr>
                        <a:t>自動車保有数</a:t>
                      </a:r>
                      <a:endParaRPr lang="zh-TW"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持ち家か</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子供の数</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dirty="0">
                          <a:effectLst/>
                        </a:rPr>
                        <a:t>婚姻状況</a:t>
                      </a:r>
                      <a:endParaRPr lang="ja-JP" alt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犬を飼っている</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ボートを購入</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795055029"/>
                  </a:ext>
                </a:extLst>
              </a:tr>
              <a:tr h="321243">
                <a:tc>
                  <a:txBody>
                    <a:bodyPr/>
                    <a:lstStyle/>
                    <a:p>
                      <a:pPr algn="r" fontAlgn="ctr"/>
                      <a:r>
                        <a:rPr lang="en-US" altLang="ja-JP" sz="1800" u="none" strike="noStrike">
                          <a:effectLst/>
                        </a:rPr>
                        <a:t>66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未亡人</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661334757"/>
                  </a:ext>
                </a:extLst>
              </a:tr>
              <a:tr h="321243">
                <a:tc>
                  <a:txBody>
                    <a:bodyPr/>
                    <a:lstStyle/>
                    <a:p>
                      <a:pPr algn="r" fontAlgn="ctr"/>
                      <a:r>
                        <a:rPr lang="en-US" altLang="ja-JP" sz="1800" u="none" strike="noStrike">
                          <a:effectLst/>
                        </a:rPr>
                        <a:t>52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078897263"/>
                  </a:ext>
                </a:extLst>
              </a:tr>
              <a:tr h="321243">
                <a:tc>
                  <a:txBody>
                    <a:bodyPr/>
                    <a:lstStyle/>
                    <a:p>
                      <a:pPr algn="r" fontAlgn="ctr"/>
                      <a:r>
                        <a:rPr lang="en-US" altLang="ja-JP" sz="1800" u="none" strike="noStrike">
                          <a:effectLst/>
                        </a:rPr>
                        <a:t>22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789082753"/>
                  </a:ext>
                </a:extLst>
              </a:tr>
              <a:tr h="321243">
                <a:tc>
                  <a:txBody>
                    <a:bodyPr/>
                    <a:lstStyle/>
                    <a:p>
                      <a:pPr algn="r" fontAlgn="ctr"/>
                      <a:r>
                        <a:rPr lang="en-US" altLang="ja-JP" sz="1800" u="none" strike="noStrike">
                          <a:effectLst/>
                        </a:rPr>
                        <a:t>25</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782928449"/>
                  </a:ext>
                </a:extLst>
              </a:tr>
              <a:tr h="321243">
                <a:tc>
                  <a:txBody>
                    <a:bodyPr/>
                    <a:lstStyle/>
                    <a:p>
                      <a:pPr algn="r" fontAlgn="ctr"/>
                      <a:r>
                        <a:rPr lang="en-US" altLang="ja-JP" sz="1800" u="none" strike="noStrike">
                          <a:effectLst/>
                        </a:rPr>
                        <a:t>44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655692288"/>
                  </a:ext>
                </a:extLst>
              </a:tr>
              <a:tr h="321243">
                <a:tc>
                  <a:txBody>
                    <a:bodyPr/>
                    <a:lstStyle/>
                    <a:p>
                      <a:pPr algn="r" fontAlgn="ctr"/>
                      <a:r>
                        <a:rPr lang="en-US" altLang="ja-JP" sz="1800" u="none" strike="noStrike">
                          <a:effectLst/>
                        </a:rPr>
                        <a:t>39</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981702502"/>
                  </a:ext>
                </a:extLst>
              </a:tr>
              <a:tr h="321243">
                <a:tc>
                  <a:txBody>
                    <a:bodyPr/>
                    <a:lstStyle/>
                    <a:p>
                      <a:pPr algn="r" fontAlgn="ctr"/>
                      <a:r>
                        <a:rPr lang="en-US" altLang="ja-JP" sz="1800" u="none" strike="noStrike">
                          <a:effectLst/>
                        </a:rPr>
                        <a:t>26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480307327"/>
                  </a:ext>
                </a:extLst>
              </a:tr>
              <a:tr h="321243">
                <a:tc>
                  <a:txBody>
                    <a:bodyPr/>
                    <a:lstStyle/>
                    <a:p>
                      <a:pPr algn="r" fontAlgn="ctr"/>
                      <a:r>
                        <a:rPr lang="en-US" altLang="ja-JP" sz="1800" u="none" strike="noStrike">
                          <a:effectLst/>
                        </a:rPr>
                        <a:t>40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431038178"/>
                  </a:ext>
                </a:extLst>
              </a:tr>
              <a:tr h="321243">
                <a:tc>
                  <a:txBody>
                    <a:bodyPr/>
                    <a:lstStyle/>
                    <a:p>
                      <a:pPr algn="r" fontAlgn="ctr"/>
                      <a:r>
                        <a:rPr lang="en-US" altLang="ja-JP" sz="1800" u="none" strike="noStrike">
                          <a:effectLst/>
                        </a:rPr>
                        <a:t>53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537383986"/>
                  </a:ext>
                </a:extLst>
              </a:tr>
              <a:tr h="321243">
                <a:tc>
                  <a:txBody>
                    <a:bodyPr/>
                    <a:lstStyle/>
                    <a:p>
                      <a:pPr algn="r" fontAlgn="ctr"/>
                      <a:r>
                        <a:rPr lang="en-US" altLang="ja-JP" sz="1800" u="none" strike="noStrike">
                          <a:effectLst/>
                        </a:rPr>
                        <a:t>64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509526112"/>
                  </a:ext>
                </a:extLst>
              </a:tr>
              <a:tr h="321243">
                <a:tc>
                  <a:txBody>
                    <a:bodyPr/>
                    <a:lstStyle/>
                    <a:p>
                      <a:pPr algn="r" fontAlgn="ctr"/>
                      <a:r>
                        <a:rPr lang="en-US" altLang="ja-JP" sz="1800" u="none" strike="noStrike">
                          <a:effectLst/>
                        </a:rPr>
                        <a:t>58</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146115356"/>
                  </a:ext>
                </a:extLst>
              </a:tr>
              <a:tr h="321243">
                <a:tc>
                  <a:txBody>
                    <a:bodyPr/>
                    <a:lstStyle/>
                    <a:p>
                      <a:pPr algn="r" fontAlgn="ctr"/>
                      <a:r>
                        <a:rPr lang="en-US" altLang="ja-JP" sz="1800" u="none" strike="noStrike">
                          <a:effectLst/>
                        </a:rPr>
                        <a:t>33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n</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872024280"/>
                  </a:ext>
                </a:extLst>
              </a:tr>
            </a:tbl>
          </a:graphicData>
        </a:graphic>
      </p:graphicFrame>
      <p:sp>
        <p:nvSpPr>
          <p:cNvPr id="6" name="四角形: 角を丸くする 5">
            <a:extLst>
              <a:ext uri="{FF2B5EF4-FFF2-40B4-BE49-F238E27FC236}">
                <a16:creationId xmlns:a16="http://schemas.microsoft.com/office/drawing/2014/main" id="{29F7E466-A820-F9EA-4EF9-72211E4E6EA6}"/>
              </a:ext>
            </a:extLst>
          </p:cNvPr>
          <p:cNvSpPr/>
          <p:nvPr/>
        </p:nvSpPr>
        <p:spPr>
          <a:xfrm>
            <a:off x="5747657" y="5346441"/>
            <a:ext cx="6270172" cy="74644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9E3262AE-B269-88A5-1F97-9445000EF90D}"/>
              </a:ext>
            </a:extLst>
          </p:cNvPr>
          <p:cNvSpPr/>
          <p:nvPr/>
        </p:nvSpPr>
        <p:spPr>
          <a:xfrm>
            <a:off x="208384" y="1551992"/>
            <a:ext cx="4932783" cy="74644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C943B58-4EC6-9952-9B87-39F5F304D004}"/>
              </a:ext>
            </a:extLst>
          </p:cNvPr>
          <p:cNvSpPr txBox="1"/>
          <p:nvPr/>
        </p:nvSpPr>
        <p:spPr>
          <a:xfrm>
            <a:off x="283454" y="1551992"/>
            <a:ext cx="4718179"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新たに</a:t>
            </a:r>
            <a:r>
              <a:rPr kumimoji="1" lang="en-US" altLang="ja-JP" sz="2000" dirty="0">
                <a:latin typeface="メイリオ" panose="020B0604030504040204" pitchFamily="50" charset="-128"/>
                <a:ea typeface="メイリオ" panose="020B0604030504040204" pitchFamily="50" charset="-128"/>
              </a:rPr>
              <a:t>3</a:t>
            </a:r>
            <a:r>
              <a:rPr kumimoji="1" lang="ja-JP" altLang="en-US" sz="2000" dirty="0">
                <a:latin typeface="メイリオ" panose="020B0604030504040204" pitchFamily="50" charset="-128"/>
                <a:ea typeface="メイリオ" panose="020B0604030504040204" pitchFamily="50" charset="-128"/>
              </a:rPr>
              <a:t>つのデータを入手したところ子供数が人口統計上の外れ値だった</a:t>
            </a:r>
          </a:p>
        </p:txBody>
      </p:sp>
      <p:sp>
        <p:nvSpPr>
          <p:cNvPr id="9" name="テキスト ボックス 8">
            <a:extLst>
              <a:ext uri="{FF2B5EF4-FFF2-40B4-BE49-F238E27FC236}">
                <a16:creationId xmlns:a16="http://schemas.microsoft.com/office/drawing/2014/main" id="{4F360C4B-1921-6C41-8847-88C784B959D8}"/>
              </a:ext>
            </a:extLst>
          </p:cNvPr>
          <p:cNvSpPr txBox="1"/>
          <p:nvPr/>
        </p:nvSpPr>
        <p:spPr>
          <a:xfrm>
            <a:off x="193046" y="3153745"/>
            <a:ext cx="5118970" cy="1569660"/>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人力機械学習ルールは当てはまりが悪くなる！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子供の数をルールに入れない方が実は当てはまりがいい</a:t>
            </a:r>
          </a:p>
        </p:txBody>
      </p:sp>
      <p:sp>
        <p:nvSpPr>
          <p:cNvPr id="10" name="矢印: 下 9">
            <a:extLst>
              <a:ext uri="{FF2B5EF4-FFF2-40B4-BE49-F238E27FC236}">
                <a16:creationId xmlns:a16="http://schemas.microsoft.com/office/drawing/2014/main" id="{9322F6B7-5BFC-AC61-73B2-90C24303C18C}"/>
              </a:ext>
            </a:extLst>
          </p:cNvPr>
          <p:cNvSpPr/>
          <p:nvPr/>
        </p:nvSpPr>
        <p:spPr>
          <a:xfrm>
            <a:off x="2080727" y="2575249"/>
            <a:ext cx="1343608" cy="4758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1377F0C-02DC-3E3B-AAC7-BA8537C316A4}"/>
              </a:ext>
            </a:extLst>
          </p:cNvPr>
          <p:cNvSpPr txBox="1"/>
          <p:nvPr/>
        </p:nvSpPr>
        <p:spPr>
          <a:xfrm>
            <a:off x="484678" y="5081201"/>
            <a:ext cx="5262979" cy="769441"/>
          </a:xfrm>
          <a:prstGeom prst="rect">
            <a:avLst/>
          </a:prstGeom>
          <a:noFill/>
        </p:spPr>
        <p:txBody>
          <a:bodyPr wrap="none" rtlCol="0">
            <a:spAutoFit/>
          </a:bodyPr>
          <a:lstStyle/>
          <a:p>
            <a:pPr algn="l"/>
            <a:r>
              <a:rPr kumimoji="1" lang="ja-JP" altLang="en-US" sz="4400" b="1" dirty="0">
                <a:latin typeface="メイリオ" panose="020B0604030504040204" pitchFamily="50" charset="-128"/>
                <a:ea typeface="メイリオ" panose="020B0604030504040204" pitchFamily="50" charset="-128"/>
              </a:rPr>
              <a:t>過学習（過剰適合）</a:t>
            </a:r>
          </a:p>
        </p:txBody>
      </p:sp>
    </p:spTree>
    <p:extLst>
      <p:ext uri="{BB962C8B-B14F-4D97-AF65-F5344CB8AC3E}">
        <p14:creationId xmlns:p14="http://schemas.microsoft.com/office/powerpoint/2010/main" val="3858460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207F426-77CD-223F-EF06-7100F3068C5F}"/>
              </a:ext>
            </a:extLst>
          </p:cNvPr>
          <p:cNvSpPr txBox="1"/>
          <p:nvPr/>
        </p:nvSpPr>
        <p:spPr>
          <a:xfrm>
            <a:off x="155784" y="391886"/>
            <a:ext cx="2236510"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過学習とは</a:t>
            </a:r>
          </a:p>
        </p:txBody>
      </p:sp>
      <p:graphicFrame>
        <p:nvGraphicFramePr>
          <p:cNvPr id="3" name="表 2">
            <a:extLst>
              <a:ext uri="{FF2B5EF4-FFF2-40B4-BE49-F238E27FC236}">
                <a16:creationId xmlns:a16="http://schemas.microsoft.com/office/drawing/2014/main" id="{F7AD67A7-E506-8E16-6FA7-543DCF8FA6DE}"/>
              </a:ext>
            </a:extLst>
          </p:cNvPr>
          <p:cNvGraphicFramePr>
            <a:graphicFrameLocks noGrp="1"/>
          </p:cNvGraphicFramePr>
          <p:nvPr/>
        </p:nvGraphicFramePr>
        <p:xfrm>
          <a:off x="6236260" y="5561045"/>
          <a:ext cx="5902313" cy="905070"/>
        </p:xfrm>
        <a:graphic>
          <a:graphicData uri="http://schemas.openxmlformats.org/drawingml/2006/table">
            <a:tbl>
              <a:tblPr>
                <a:tableStyleId>{5C22544A-7EE6-4342-B048-85BDC9FD1C3A}</a:tableStyleId>
              </a:tblPr>
              <a:tblGrid>
                <a:gridCol w="700571">
                  <a:extLst>
                    <a:ext uri="{9D8B030D-6E8A-4147-A177-3AD203B41FA5}">
                      <a16:colId xmlns:a16="http://schemas.microsoft.com/office/drawing/2014/main" val="2655372538"/>
                    </a:ext>
                  </a:extLst>
                </a:gridCol>
                <a:gridCol w="928257">
                  <a:extLst>
                    <a:ext uri="{9D8B030D-6E8A-4147-A177-3AD203B41FA5}">
                      <a16:colId xmlns:a16="http://schemas.microsoft.com/office/drawing/2014/main" val="2485936935"/>
                    </a:ext>
                  </a:extLst>
                </a:gridCol>
                <a:gridCol w="928257">
                  <a:extLst>
                    <a:ext uri="{9D8B030D-6E8A-4147-A177-3AD203B41FA5}">
                      <a16:colId xmlns:a16="http://schemas.microsoft.com/office/drawing/2014/main" val="3548012294"/>
                    </a:ext>
                  </a:extLst>
                </a:gridCol>
                <a:gridCol w="560457">
                  <a:extLst>
                    <a:ext uri="{9D8B030D-6E8A-4147-A177-3AD203B41FA5}">
                      <a16:colId xmlns:a16="http://schemas.microsoft.com/office/drawing/2014/main" val="1931672777"/>
                    </a:ext>
                  </a:extLst>
                </a:gridCol>
                <a:gridCol w="928257">
                  <a:extLst>
                    <a:ext uri="{9D8B030D-6E8A-4147-A177-3AD203B41FA5}">
                      <a16:colId xmlns:a16="http://schemas.microsoft.com/office/drawing/2014/main" val="3654084342"/>
                    </a:ext>
                  </a:extLst>
                </a:gridCol>
                <a:gridCol w="928257">
                  <a:extLst>
                    <a:ext uri="{9D8B030D-6E8A-4147-A177-3AD203B41FA5}">
                      <a16:colId xmlns:a16="http://schemas.microsoft.com/office/drawing/2014/main" val="4026741258"/>
                    </a:ext>
                  </a:extLst>
                </a:gridCol>
                <a:gridCol w="928257">
                  <a:extLst>
                    <a:ext uri="{9D8B030D-6E8A-4147-A177-3AD203B41FA5}">
                      <a16:colId xmlns:a16="http://schemas.microsoft.com/office/drawing/2014/main" val="3600549766"/>
                    </a:ext>
                  </a:extLst>
                </a:gridCol>
              </a:tblGrid>
              <a:tr h="301690">
                <a:tc>
                  <a:txBody>
                    <a:bodyPr/>
                    <a:lstStyle/>
                    <a:p>
                      <a:pPr algn="r" fontAlgn="ctr"/>
                      <a:r>
                        <a:rPr lang="en-US" altLang="ja-JP" sz="1800" u="none" strike="noStrike">
                          <a:effectLst/>
                        </a:rPr>
                        <a:t>46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949607010"/>
                  </a:ext>
                </a:extLst>
              </a:tr>
              <a:tr h="301690">
                <a:tc>
                  <a:txBody>
                    <a:bodyPr/>
                    <a:lstStyle/>
                    <a:p>
                      <a:pPr algn="r" fontAlgn="ctr"/>
                      <a:r>
                        <a:rPr lang="en-US" altLang="ja-JP" sz="1800" u="none" strike="noStrike">
                          <a:effectLst/>
                        </a:rPr>
                        <a:t>52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b="0" i="0" u="none" strike="noStrike" dirty="0">
                          <a:solidFill>
                            <a:srgbClr val="000000"/>
                          </a:solidFill>
                          <a:effectLst/>
                          <a:latin typeface="游ゴシック" panose="020B0400000000000000" pitchFamily="50" charset="-128"/>
                          <a:ea typeface="游ゴシック" panose="020B0400000000000000" pitchFamily="50" charset="-128"/>
                        </a:rPr>
                        <a:t>y</a:t>
                      </a: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66858039"/>
                  </a:ext>
                </a:extLst>
              </a:tr>
              <a:tr h="301690">
                <a:tc>
                  <a:txBody>
                    <a:bodyPr/>
                    <a:lstStyle/>
                    <a:p>
                      <a:pPr algn="r" fontAlgn="ctr"/>
                      <a:r>
                        <a:rPr lang="en-US" altLang="ja-JP" sz="1800" u="none" strike="noStrike">
                          <a:effectLst/>
                        </a:rPr>
                        <a:t>22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dirty="0">
                          <a:effectLst/>
                        </a:rPr>
                        <a:t>0</a:t>
                      </a:r>
                      <a:endParaRPr lang="en-US" altLang="ja-JP"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y</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n</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969548975"/>
                  </a:ext>
                </a:extLst>
              </a:tr>
            </a:tbl>
          </a:graphicData>
        </a:graphic>
      </p:graphicFrame>
      <p:graphicFrame>
        <p:nvGraphicFramePr>
          <p:cNvPr id="4" name="表 3">
            <a:extLst>
              <a:ext uri="{FF2B5EF4-FFF2-40B4-BE49-F238E27FC236}">
                <a16:creationId xmlns:a16="http://schemas.microsoft.com/office/drawing/2014/main" id="{3759CBC3-A2A6-FF4F-DE6B-2371789FC7F4}"/>
              </a:ext>
            </a:extLst>
          </p:cNvPr>
          <p:cNvGraphicFramePr>
            <a:graphicFrameLocks noGrp="1"/>
          </p:cNvGraphicFramePr>
          <p:nvPr/>
        </p:nvGraphicFramePr>
        <p:xfrm>
          <a:off x="6236260" y="391886"/>
          <a:ext cx="5902313" cy="4801282"/>
        </p:xfrm>
        <a:graphic>
          <a:graphicData uri="http://schemas.openxmlformats.org/drawingml/2006/table">
            <a:tbl>
              <a:tblPr>
                <a:tableStyleId>{5C22544A-7EE6-4342-B048-85BDC9FD1C3A}</a:tableStyleId>
              </a:tblPr>
              <a:tblGrid>
                <a:gridCol w="700571">
                  <a:extLst>
                    <a:ext uri="{9D8B030D-6E8A-4147-A177-3AD203B41FA5}">
                      <a16:colId xmlns:a16="http://schemas.microsoft.com/office/drawing/2014/main" val="778994262"/>
                    </a:ext>
                  </a:extLst>
                </a:gridCol>
                <a:gridCol w="928257">
                  <a:extLst>
                    <a:ext uri="{9D8B030D-6E8A-4147-A177-3AD203B41FA5}">
                      <a16:colId xmlns:a16="http://schemas.microsoft.com/office/drawing/2014/main" val="2264625836"/>
                    </a:ext>
                  </a:extLst>
                </a:gridCol>
                <a:gridCol w="928257">
                  <a:extLst>
                    <a:ext uri="{9D8B030D-6E8A-4147-A177-3AD203B41FA5}">
                      <a16:colId xmlns:a16="http://schemas.microsoft.com/office/drawing/2014/main" val="1988903283"/>
                    </a:ext>
                  </a:extLst>
                </a:gridCol>
                <a:gridCol w="560457">
                  <a:extLst>
                    <a:ext uri="{9D8B030D-6E8A-4147-A177-3AD203B41FA5}">
                      <a16:colId xmlns:a16="http://schemas.microsoft.com/office/drawing/2014/main" val="2173653896"/>
                    </a:ext>
                  </a:extLst>
                </a:gridCol>
                <a:gridCol w="817662">
                  <a:extLst>
                    <a:ext uri="{9D8B030D-6E8A-4147-A177-3AD203B41FA5}">
                      <a16:colId xmlns:a16="http://schemas.microsoft.com/office/drawing/2014/main" val="374984435"/>
                    </a:ext>
                  </a:extLst>
                </a:gridCol>
                <a:gridCol w="1038852">
                  <a:extLst>
                    <a:ext uri="{9D8B030D-6E8A-4147-A177-3AD203B41FA5}">
                      <a16:colId xmlns:a16="http://schemas.microsoft.com/office/drawing/2014/main" val="80226917"/>
                    </a:ext>
                  </a:extLst>
                </a:gridCol>
                <a:gridCol w="928257">
                  <a:extLst>
                    <a:ext uri="{9D8B030D-6E8A-4147-A177-3AD203B41FA5}">
                      <a16:colId xmlns:a16="http://schemas.microsoft.com/office/drawing/2014/main" val="2989875900"/>
                    </a:ext>
                  </a:extLst>
                </a:gridCol>
              </a:tblGrid>
              <a:tr h="946366">
                <a:tc>
                  <a:txBody>
                    <a:bodyPr/>
                    <a:lstStyle/>
                    <a:p>
                      <a:pPr algn="ctr" fontAlgn="ctr"/>
                      <a:r>
                        <a:rPr lang="ja-JP" altLang="en-US" sz="1800" u="none" strike="noStrike">
                          <a:effectLst/>
                        </a:rPr>
                        <a:t>年齢</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zh-TW" altLang="en-US" sz="1800" u="none" strike="noStrike">
                          <a:effectLst/>
                        </a:rPr>
                        <a:t>自動車保有数</a:t>
                      </a:r>
                      <a:endParaRPr lang="zh-TW"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持ち家か</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子供の数</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dirty="0">
                          <a:effectLst/>
                        </a:rPr>
                        <a:t>婚姻状況</a:t>
                      </a:r>
                      <a:endParaRPr lang="ja-JP" alt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犬を飼っている</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ボートを購入</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795055029"/>
                  </a:ext>
                </a:extLst>
              </a:tr>
              <a:tr h="321243">
                <a:tc>
                  <a:txBody>
                    <a:bodyPr/>
                    <a:lstStyle/>
                    <a:p>
                      <a:pPr algn="r" fontAlgn="ctr"/>
                      <a:r>
                        <a:rPr lang="en-US" altLang="ja-JP" sz="1800" u="none" strike="noStrike">
                          <a:effectLst/>
                        </a:rPr>
                        <a:t>66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未亡人</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661334757"/>
                  </a:ext>
                </a:extLst>
              </a:tr>
              <a:tr h="321243">
                <a:tc>
                  <a:txBody>
                    <a:bodyPr/>
                    <a:lstStyle/>
                    <a:p>
                      <a:pPr algn="r" fontAlgn="ctr"/>
                      <a:r>
                        <a:rPr lang="en-US" altLang="ja-JP" sz="1800" u="none" strike="noStrike">
                          <a:effectLst/>
                        </a:rPr>
                        <a:t>52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078897263"/>
                  </a:ext>
                </a:extLst>
              </a:tr>
              <a:tr h="321243">
                <a:tc>
                  <a:txBody>
                    <a:bodyPr/>
                    <a:lstStyle/>
                    <a:p>
                      <a:pPr algn="r" fontAlgn="ctr"/>
                      <a:r>
                        <a:rPr lang="en-US" altLang="ja-JP" sz="1800" u="none" strike="noStrike">
                          <a:effectLst/>
                        </a:rPr>
                        <a:t>22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789082753"/>
                  </a:ext>
                </a:extLst>
              </a:tr>
              <a:tr h="321243">
                <a:tc>
                  <a:txBody>
                    <a:bodyPr/>
                    <a:lstStyle/>
                    <a:p>
                      <a:pPr algn="r" fontAlgn="ctr"/>
                      <a:r>
                        <a:rPr lang="en-US" altLang="ja-JP" sz="1800" u="none" strike="noStrike">
                          <a:effectLst/>
                        </a:rPr>
                        <a:t>25</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782928449"/>
                  </a:ext>
                </a:extLst>
              </a:tr>
              <a:tr h="321243">
                <a:tc>
                  <a:txBody>
                    <a:bodyPr/>
                    <a:lstStyle/>
                    <a:p>
                      <a:pPr algn="r" fontAlgn="ctr"/>
                      <a:r>
                        <a:rPr lang="en-US" altLang="ja-JP" sz="1800" u="none" strike="noStrike">
                          <a:effectLst/>
                        </a:rPr>
                        <a:t>44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655692288"/>
                  </a:ext>
                </a:extLst>
              </a:tr>
              <a:tr h="321243">
                <a:tc>
                  <a:txBody>
                    <a:bodyPr/>
                    <a:lstStyle/>
                    <a:p>
                      <a:pPr algn="r" fontAlgn="ctr"/>
                      <a:r>
                        <a:rPr lang="en-US" altLang="ja-JP" sz="1800" u="none" strike="noStrike">
                          <a:effectLst/>
                        </a:rPr>
                        <a:t>39</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981702502"/>
                  </a:ext>
                </a:extLst>
              </a:tr>
              <a:tr h="321243">
                <a:tc>
                  <a:txBody>
                    <a:bodyPr/>
                    <a:lstStyle/>
                    <a:p>
                      <a:pPr algn="r" fontAlgn="ctr"/>
                      <a:r>
                        <a:rPr lang="en-US" altLang="ja-JP" sz="1800" u="none" strike="noStrike">
                          <a:effectLst/>
                        </a:rPr>
                        <a:t>26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480307327"/>
                  </a:ext>
                </a:extLst>
              </a:tr>
              <a:tr h="321243">
                <a:tc>
                  <a:txBody>
                    <a:bodyPr/>
                    <a:lstStyle/>
                    <a:p>
                      <a:pPr algn="r" fontAlgn="ctr"/>
                      <a:r>
                        <a:rPr lang="en-US" altLang="ja-JP" sz="1800" u="none" strike="noStrike">
                          <a:effectLst/>
                        </a:rPr>
                        <a:t>40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431038178"/>
                  </a:ext>
                </a:extLst>
              </a:tr>
              <a:tr h="321243">
                <a:tc>
                  <a:txBody>
                    <a:bodyPr/>
                    <a:lstStyle/>
                    <a:p>
                      <a:pPr algn="r" fontAlgn="ctr"/>
                      <a:r>
                        <a:rPr lang="en-US" altLang="ja-JP" sz="1800" u="none" strike="noStrike">
                          <a:effectLst/>
                        </a:rPr>
                        <a:t>53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537383986"/>
                  </a:ext>
                </a:extLst>
              </a:tr>
              <a:tr h="321243">
                <a:tc>
                  <a:txBody>
                    <a:bodyPr/>
                    <a:lstStyle/>
                    <a:p>
                      <a:pPr algn="r" fontAlgn="ctr"/>
                      <a:r>
                        <a:rPr lang="en-US" altLang="ja-JP" sz="1800" u="none" strike="noStrike">
                          <a:effectLst/>
                        </a:rPr>
                        <a:t>64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509526112"/>
                  </a:ext>
                </a:extLst>
              </a:tr>
              <a:tr h="321243">
                <a:tc>
                  <a:txBody>
                    <a:bodyPr/>
                    <a:lstStyle/>
                    <a:p>
                      <a:pPr algn="r" fontAlgn="ctr"/>
                      <a:r>
                        <a:rPr lang="en-US" altLang="ja-JP" sz="1800" u="none" strike="noStrike">
                          <a:effectLst/>
                        </a:rPr>
                        <a:t>58</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146115356"/>
                  </a:ext>
                </a:extLst>
              </a:tr>
              <a:tr h="321243">
                <a:tc>
                  <a:txBody>
                    <a:bodyPr/>
                    <a:lstStyle/>
                    <a:p>
                      <a:pPr algn="r" fontAlgn="ctr"/>
                      <a:r>
                        <a:rPr lang="en-US" altLang="ja-JP" sz="1800" u="none" strike="noStrike">
                          <a:effectLst/>
                        </a:rPr>
                        <a:t>33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n</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872024280"/>
                  </a:ext>
                </a:extLst>
              </a:tr>
            </a:tbl>
          </a:graphicData>
        </a:graphic>
      </p:graphicFrame>
      <p:sp>
        <p:nvSpPr>
          <p:cNvPr id="6" name="テキスト ボックス 5">
            <a:extLst>
              <a:ext uri="{FF2B5EF4-FFF2-40B4-BE49-F238E27FC236}">
                <a16:creationId xmlns:a16="http://schemas.microsoft.com/office/drawing/2014/main" id="{B6853A09-739C-D48E-D953-27A38E79EB70}"/>
              </a:ext>
            </a:extLst>
          </p:cNvPr>
          <p:cNvSpPr txBox="1"/>
          <p:nvPr/>
        </p:nvSpPr>
        <p:spPr>
          <a:xfrm>
            <a:off x="155784" y="1296956"/>
            <a:ext cx="5150498" cy="1938992"/>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与えられたデータセット（訓練データ）だけから当てはまりを最大化するように学習したために当てはまりの汎用性（テストデータ）が損なわれる学習の状態</a:t>
            </a:r>
          </a:p>
        </p:txBody>
      </p:sp>
      <p:sp>
        <p:nvSpPr>
          <p:cNvPr id="7" name="左中かっこ 6">
            <a:extLst>
              <a:ext uri="{FF2B5EF4-FFF2-40B4-BE49-F238E27FC236}">
                <a16:creationId xmlns:a16="http://schemas.microsoft.com/office/drawing/2014/main" id="{CC6FF9D6-7C96-AB85-8B2F-1292CBF5C623}"/>
              </a:ext>
            </a:extLst>
          </p:cNvPr>
          <p:cNvSpPr/>
          <p:nvPr/>
        </p:nvSpPr>
        <p:spPr>
          <a:xfrm>
            <a:off x="5856386" y="391886"/>
            <a:ext cx="379874" cy="480128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左中かっこ 7">
            <a:extLst>
              <a:ext uri="{FF2B5EF4-FFF2-40B4-BE49-F238E27FC236}">
                <a16:creationId xmlns:a16="http://schemas.microsoft.com/office/drawing/2014/main" id="{30F44128-F449-AFAC-4BBC-38BA5AA40B7A}"/>
              </a:ext>
            </a:extLst>
          </p:cNvPr>
          <p:cNvSpPr/>
          <p:nvPr/>
        </p:nvSpPr>
        <p:spPr>
          <a:xfrm>
            <a:off x="5823943" y="5561045"/>
            <a:ext cx="379874" cy="9050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B41D865D-D30D-0EC5-AF0F-2271826FAB68}"/>
              </a:ext>
            </a:extLst>
          </p:cNvPr>
          <p:cNvSpPr txBox="1"/>
          <p:nvPr/>
        </p:nvSpPr>
        <p:spPr>
          <a:xfrm rot="16200000">
            <a:off x="4816229" y="2518321"/>
            <a:ext cx="1699624" cy="400110"/>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訓練データ</a:t>
            </a:r>
          </a:p>
        </p:txBody>
      </p:sp>
      <p:sp>
        <p:nvSpPr>
          <p:cNvPr id="10" name="テキスト ボックス 9">
            <a:extLst>
              <a:ext uri="{FF2B5EF4-FFF2-40B4-BE49-F238E27FC236}">
                <a16:creationId xmlns:a16="http://schemas.microsoft.com/office/drawing/2014/main" id="{0B1AD406-AB33-ED9D-BB8E-B27C30476BEA}"/>
              </a:ext>
            </a:extLst>
          </p:cNvPr>
          <p:cNvSpPr txBox="1"/>
          <p:nvPr/>
        </p:nvSpPr>
        <p:spPr>
          <a:xfrm rot="16200000">
            <a:off x="4649627" y="5673565"/>
            <a:ext cx="1968759" cy="400110"/>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テストデータ</a:t>
            </a:r>
          </a:p>
        </p:txBody>
      </p:sp>
      <p:sp>
        <p:nvSpPr>
          <p:cNvPr id="11" name="テキスト ボックス 10">
            <a:extLst>
              <a:ext uri="{FF2B5EF4-FFF2-40B4-BE49-F238E27FC236}">
                <a16:creationId xmlns:a16="http://schemas.microsoft.com/office/drawing/2014/main" id="{A312EE11-A873-FB15-DA4C-2686F63E2822}"/>
              </a:ext>
            </a:extLst>
          </p:cNvPr>
          <p:cNvSpPr txBox="1"/>
          <p:nvPr/>
        </p:nvSpPr>
        <p:spPr>
          <a:xfrm>
            <a:off x="-2836" y="3705233"/>
            <a:ext cx="5892960"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年齢 </a:t>
            </a:r>
            <a:r>
              <a:rPr kumimoji="1" lang="en-US" altLang="ja-JP" sz="2400" dirty="0">
                <a:latin typeface="メイリオ" panose="020B0604030504040204" pitchFamily="50" charset="-128"/>
                <a:ea typeface="メイリオ" panose="020B0604030504040204" pitchFamily="50" charset="-128"/>
              </a:rPr>
              <a:t>&gt; 45 and  </a:t>
            </a:r>
            <a:r>
              <a:rPr kumimoji="1" lang="ja-JP" altLang="en-US" sz="2400" dirty="0">
                <a:latin typeface="メイリオ" panose="020B0604030504040204" pitchFamily="50" charset="-128"/>
                <a:ea typeface="メイリオ" panose="020B0604030504040204" pitchFamily="50" charset="-128"/>
              </a:rPr>
              <a:t>持ち家 </a:t>
            </a:r>
            <a:r>
              <a:rPr kumimoji="1" lang="en-US" altLang="ja-JP" sz="2400" dirty="0">
                <a:latin typeface="メイリオ" panose="020B0604030504040204" pitchFamily="50" charset="-128"/>
                <a:ea typeface="メイリオ" panose="020B0604030504040204" pitchFamily="50" charset="-128"/>
              </a:rPr>
              <a:t>and 1</a:t>
            </a:r>
            <a:r>
              <a:rPr kumimoji="1" lang="ja-JP" altLang="en-US" sz="2400" dirty="0">
                <a:latin typeface="メイリオ" panose="020B0604030504040204" pitchFamily="50" charset="-128"/>
                <a:ea typeface="メイリオ" panose="020B0604030504040204" pitchFamily="50" charset="-128"/>
              </a:rPr>
              <a:t>≦子供 ≦</a:t>
            </a:r>
            <a:r>
              <a:rPr kumimoji="1" lang="en-US" altLang="ja-JP" sz="2400" dirty="0">
                <a:latin typeface="メイリオ" panose="020B0604030504040204" pitchFamily="50" charset="-128"/>
                <a:ea typeface="メイリオ" panose="020B0604030504040204" pitchFamily="50" charset="-128"/>
              </a:rPr>
              <a:t> 3</a:t>
            </a:r>
            <a:endParaRPr kumimoji="1" lang="ja-JP" altLang="en-US" sz="24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9F9D2B2F-766D-5114-F939-7395FFF6DF8D}"/>
              </a:ext>
            </a:extLst>
          </p:cNvPr>
          <p:cNvSpPr txBox="1"/>
          <p:nvPr/>
        </p:nvSpPr>
        <p:spPr>
          <a:xfrm>
            <a:off x="0" y="3287417"/>
            <a:ext cx="2031325" cy="461665"/>
          </a:xfrm>
          <a:prstGeom prst="rect">
            <a:avLst/>
          </a:prstGeom>
          <a:noFill/>
        </p:spPr>
        <p:txBody>
          <a:bodyPr wrap="none" rtlCol="0">
            <a:spAutoFit/>
          </a:bodyPr>
          <a:lstStyle/>
          <a:p>
            <a:pPr algn="l"/>
            <a:r>
              <a:rPr kumimoji="1" lang="ja-JP" altLang="en-US" sz="2400" u="sng" dirty="0">
                <a:latin typeface="メイリオ" panose="020B0604030504040204" pitchFamily="50" charset="-128"/>
                <a:ea typeface="メイリオ" panose="020B0604030504040204" pitchFamily="50" charset="-128"/>
              </a:rPr>
              <a:t>過学習ルール</a:t>
            </a:r>
          </a:p>
        </p:txBody>
      </p:sp>
      <p:sp>
        <p:nvSpPr>
          <p:cNvPr id="13" name="テキスト ボックス 12">
            <a:extLst>
              <a:ext uri="{FF2B5EF4-FFF2-40B4-BE49-F238E27FC236}">
                <a16:creationId xmlns:a16="http://schemas.microsoft.com/office/drawing/2014/main" id="{F486BBDA-AF09-DBED-4754-4759D55E1E82}"/>
              </a:ext>
            </a:extLst>
          </p:cNvPr>
          <p:cNvSpPr txBox="1"/>
          <p:nvPr/>
        </p:nvSpPr>
        <p:spPr>
          <a:xfrm>
            <a:off x="53427" y="4726928"/>
            <a:ext cx="3262432" cy="461665"/>
          </a:xfrm>
          <a:prstGeom prst="rect">
            <a:avLst/>
          </a:prstGeom>
          <a:noFill/>
        </p:spPr>
        <p:txBody>
          <a:bodyPr wrap="none" rtlCol="0">
            <a:spAutoFit/>
          </a:bodyPr>
          <a:lstStyle/>
          <a:p>
            <a:pPr algn="l"/>
            <a:r>
              <a:rPr kumimoji="1" lang="ja-JP" altLang="en-US" sz="2400" u="sng" dirty="0">
                <a:latin typeface="メイリオ" panose="020B0604030504040204" pitchFamily="50" charset="-128"/>
                <a:ea typeface="メイリオ" panose="020B0604030504040204" pitchFamily="50" charset="-128"/>
              </a:rPr>
              <a:t>汎化性能が高いルール</a:t>
            </a:r>
          </a:p>
        </p:txBody>
      </p:sp>
      <p:sp>
        <p:nvSpPr>
          <p:cNvPr id="14" name="テキスト ボックス 13">
            <a:extLst>
              <a:ext uri="{FF2B5EF4-FFF2-40B4-BE49-F238E27FC236}">
                <a16:creationId xmlns:a16="http://schemas.microsoft.com/office/drawing/2014/main" id="{60C479C8-CFF9-DDFA-8BB6-2AB341DA8362}"/>
              </a:ext>
            </a:extLst>
          </p:cNvPr>
          <p:cNvSpPr txBox="1"/>
          <p:nvPr/>
        </p:nvSpPr>
        <p:spPr>
          <a:xfrm>
            <a:off x="53427" y="5193168"/>
            <a:ext cx="3533340"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年齢 </a:t>
            </a:r>
            <a:r>
              <a:rPr kumimoji="1" lang="en-US" altLang="ja-JP" sz="2400" dirty="0">
                <a:latin typeface="メイリオ" panose="020B0604030504040204" pitchFamily="50" charset="-128"/>
                <a:ea typeface="メイリオ" panose="020B0604030504040204" pitchFamily="50" charset="-128"/>
              </a:rPr>
              <a:t>&gt; 45 and  </a:t>
            </a:r>
            <a:r>
              <a:rPr kumimoji="1" lang="ja-JP" altLang="en-US" sz="2400" dirty="0">
                <a:latin typeface="メイリオ" panose="020B0604030504040204" pitchFamily="50" charset="-128"/>
                <a:ea typeface="メイリオ" panose="020B0604030504040204" pitchFamily="50" charset="-128"/>
              </a:rPr>
              <a:t>持ち家 </a:t>
            </a:r>
          </a:p>
        </p:txBody>
      </p:sp>
      <p:sp>
        <p:nvSpPr>
          <p:cNvPr id="15" name="矢印: 下 14">
            <a:extLst>
              <a:ext uri="{FF2B5EF4-FFF2-40B4-BE49-F238E27FC236}">
                <a16:creationId xmlns:a16="http://schemas.microsoft.com/office/drawing/2014/main" id="{AB04AF0C-FBD7-4928-0EF1-5EAA7FDF8C5B}"/>
              </a:ext>
            </a:extLst>
          </p:cNvPr>
          <p:cNvSpPr/>
          <p:nvPr/>
        </p:nvSpPr>
        <p:spPr>
          <a:xfrm>
            <a:off x="2031325" y="4166898"/>
            <a:ext cx="1122422" cy="4178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74835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3CFA998-827C-4883-9885-1AD6107B9D7C}"/>
              </a:ext>
            </a:extLst>
          </p:cNvPr>
          <p:cNvSpPr txBox="1"/>
          <p:nvPr/>
        </p:nvSpPr>
        <p:spPr>
          <a:xfrm>
            <a:off x="1" y="849366"/>
            <a:ext cx="6316824"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「持ち家」ルールだけでボート買うかどうか</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を予測？</a:t>
            </a:r>
          </a:p>
        </p:txBody>
      </p:sp>
      <p:sp>
        <p:nvSpPr>
          <p:cNvPr id="4" name="テキスト ボックス 3">
            <a:extLst>
              <a:ext uri="{FF2B5EF4-FFF2-40B4-BE49-F238E27FC236}">
                <a16:creationId xmlns:a16="http://schemas.microsoft.com/office/drawing/2014/main" id="{6DFF25A3-EC83-47A3-B9CD-BA632FD51411}"/>
              </a:ext>
            </a:extLst>
          </p:cNvPr>
          <p:cNvSpPr txBox="1"/>
          <p:nvPr/>
        </p:nvSpPr>
        <p:spPr>
          <a:xfrm>
            <a:off x="238232" y="2561782"/>
            <a:ext cx="5759798"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家もっていても若いうちは、住宅ローンに追い回されて余裕がないかも。。</a:t>
            </a:r>
          </a:p>
        </p:txBody>
      </p:sp>
      <p:sp>
        <p:nvSpPr>
          <p:cNvPr id="5" name="テキスト ボックス 4">
            <a:extLst>
              <a:ext uri="{FF2B5EF4-FFF2-40B4-BE49-F238E27FC236}">
                <a16:creationId xmlns:a16="http://schemas.microsoft.com/office/drawing/2014/main" id="{9BD60BD7-79A8-4E43-B6AD-633A0CB0F81B}"/>
              </a:ext>
            </a:extLst>
          </p:cNvPr>
          <p:cNvSpPr txBox="1"/>
          <p:nvPr/>
        </p:nvSpPr>
        <p:spPr>
          <a:xfrm>
            <a:off x="465899" y="1912850"/>
            <a:ext cx="191988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持ち家</a:t>
            </a:r>
            <a:r>
              <a:rPr kumimoji="1" lang="en-US" altLang="ja-JP" sz="2400" dirty="0">
                <a:latin typeface="メイリオ" panose="020B0604030504040204" pitchFamily="50" charset="-128"/>
                <a:ea typeface="メイリオ" panose="020B0604030504040204" pitchFamily="50" charset="-128"/>
              </a:rPr>
              <a:t>yes</a:t>
            </a:r>
            <a:r>
              <a:rPr kumimoji="1" lang="ja-JP" altLang="en-US" sz="2400" dirty="0">
                <a:latin typeface="メイリオ" panose="020B0604030504040204" pitchFamily="50" charset="-128"/>
                <a:ea typeface="メイリオ" panose="020B0604030504040204" pitchFamily="50" charset="-128"/>
              </a:rPr>
              <a:t>　</a:t>
            </a:r>
          </a:p>
        </p:txBody>
      </p:sp>
      <p:sp>
        <p:nvSpPr>
          <p:cNvPr id="6" name="矢印: 右 5">
            <a:extLst>
              <a:ext uri="{FF2B5EF4-FFF2-40B4-BE49-F238E27FC236}">
                <a16:creationId xmlns:a16="http://schemas.microsoft.com/office/drawing/2014/main" id="{1FC8B3AE-1974-4D04-8258-8580E502ED23}"/>
              </a:ext>
            </a:extLst>
          </p:cNvPr>
          <p:cNvSpPr/>
          <p:nvPr/>
        </p:nvSpPr>
        <p:spPr>
          <a:xfrm>
            <a:off x="2579610" y="1885813"/>
            <a:ext cx="678426" cy="461665"/>
          </a:xfrm>
          <a:prstGeom prst="rightArrow">
            <a:avLst>
              <a:gd name="adj1" fmla="val 50000"/>
              <a:gd name="adj2" fmla="val 7870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CFAE0F96-811E-4EE7-96A6-D97C6F857620}"/>
              </a:ext>
            </a:extLst>
          </p:cNvPr>
          <p:cNvSpPr txBox="1"/>
          <p:nvPr/>
        </p:nvSpPr>
        <p:spPr>
          <a:xfrm>
            <a:off x="3356361" y="1885812"/>
            <a:ext cx="203132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ボート買う？</a:t>
            </a:r>
          </a:p>
        </p:txBody>
      </p:sp>
      <p:sp>
        <p:nvSpPr>
          <p:cNvPr id="2" name="テキスト ボックス 1">
            <a:extLst>
              <a:ext uri="{FF2B5EF4-FFF2-40B4-BE49-F238E27FC236}">
                <a16:creationId xmlns:a16="http://schemas.microsoft.com/office/drawing/2014/main" id="{2DAAD0D4-883C-7B21-AF0E-DF4114436B1D}"/>
              </a:ext>
            </a:extLst>
          </p:cNvPr>
          <p:cNvSpPr txBox="1"/>
          <p:nvPr/>
        </p:nvSpPr>
        <p:spPr>
          <a:xfrm>
            <a:off x="195943" y="216189"/>
            <a:ext cx="3877985"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ルールを単純化する</a:t>
            </a:r>
          </a:p>
        </p:txBody>
      </p:sp>
      <p:graphicFrame>
        <p:nvGraphicFramePr>
          <p:cNvPr id="8" name="表 7">
            <a:extLst>
              <a:ext uri="{FF2B5EF4-FFF2-40B4-BE49-F238E27FC236}">
                <a16:creationId xmlns:a16="http://schemas.microsoft.com/office/drawing/2014/main" id="{10F1F358-1200-E635-6D16-A0B76FD253AD}"/>
              </a:ext>
            </a:extLst>
          </p:cNvPr>
          <p:cNvGraphicFramePr>
            <a:graphicFrameLocks noGrp="1"/>
          </p:cNvGraphicFramePr>
          <p:nvPr/>
        </p:nvGraphicFramePr>
        <p:xfrm>
          <a:off x="6236260" y="5561045"/>
          <a:ext cx="5902313" cy="905070"/>
        </p:xfrm>
        <a:graphic>
          <a:graphicData uri="http://schemas.openxmlformats.org/drawingml/2006/table">
            <a:tbl>
              <a:tblPr>
                <a:tableStyleId>{5C22544A-7EE6-4342-B048-85BDC9FD1C3A}</a:tableStyleId>
              </a:tblPr>
              <a:tblGrid>
                <a:gridCol w="700571">
                  <a:extLst>
                    <a:ext uri="{9D8B030D-6E8A-4147-A177-3AD203B41FA5}">
                      <a16:colId xmlns:a16="http://schemas.microsoft.com/office/drawing/2014/main" val="2655372538"/>
                    </a:ext>
                  </a:extLst>
                </a:gridCol>
                <a:gridCol w="928257">
                  <a:extLst>
                    <a:ext uri="{9D8B030D-6E8A-4147-A177-3AD203B41FA5}">
                      <a16:colId xmlns:a16="http://schemas.microsoft.com/office/drawing/2014/main" val="2485936935"/>
                    </a:ext>
                  </a:extLst>
                </a:gridCol>
                <a:gridCol w="928257">
                  <a:extLst>
                    <a:ext uri="{9D8B030D-6E8A-4147-A177-3AD203B41FA5}">
                      <a16:colId xmlns:a16="http://schemas.microsoft.com/office/drawing/2014/main" val="3548012294"/>
                    </a:ext>
                  </a:extLst>
                </a:gridCol>
                <a:gridCol w="560457">
                  <a:extLst>
                    <a:ext uri="{9D8B030D-6E8A-4147-A177-3AD203B41FA5}">
                      <a16:colId xmlns:a16="http://schemas.microsoft.com/office/drawing/2014/main" val="1931672777"/>
                    </a:ext>
                  </a:extLst>
                </a:gridCol>
                <a:gridCol w="928257">
                  <a:extLst>
                    <a:ext uri="{9D8B030D-6E8A-4147-A177-3AD203B41FA5}">
                      <a16:colId xmlns:a16="http://schemas.microsoft.com/office/drawing/2014/main" val="3654084342"/>
                    </a:ext>
                  </a:extLst>
                </a:gridCol>
                <a:gridCol w="928257">
                  <a:extLst>
                    <a:ext uri="{9D8B030D-6E8A-4147-A177-3AD203B41FA5}">
                      <a16:colId xmlns:a16="http://schemas.microsoft.com/office/drawing/2014/main" val="4026741258"/>
                    </a:ext>
                  </a:extLst>
                </a:gridCol>
                <a:gridCol w="928257">
                  <a:extLst>
                    <a:ext uri="{9D8B030D-6E8A-4147-A177-3AD203B41FA5}">
                      <a16:colId xmlns:a16="http://schemas.microsoft.com/office/drawing/2014/main" val="3600549766"/>
                    </a:ext>
                  </a:extLst>
                </a:gridCol>
              </a:tblGrid>
              <a:tr h="301690">
                <a:tc>
                  <a:txBody>
                    <a:bodyPr/>
                    <a:lstStyle/>
                    <a:p>
                      <a:pPr algn="r" fontAlgn="ctr"/>
                      <a:r>
                        <a:rPr lang="en-US" altLang="ja-JP" sz="1800" u="none" strike="noStrike">
                          <a:effectLst/>
                        </a:rPr>
                        <a:t>46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949607010"/>
                  </a:ext>
                </a:extLst>
              </a:tr>
              <a:tr h="301690">
                <a:tc>
                  <a:txBody>
                    <a:bodyPr/>
                    <a:lstStyle/>
                    <a:p>
                      <a:pPr algn="r" fontAlgn="ctr"/>
                      <a:r>
                        <a:rPr lang="en-US" altLang="ja-JP" sz="1800" u="none" strike="noStrike">
                          <a:effectLst/>
                        </a:rPr>
                        <a:t>52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b="0" i="0" u="none" strike="noStrike" dirty="0">
                          <a:solidFill>
                            <a:srgbClr val="000000"/>
                          </a:solidFill>
                          <a:effectLst/>
                          <a:latin typeface="游ゴシック" panose="020B0400000000000000" pitchFamily="50" charset="-128"/>
                          <a:ea typeface="游ゴシック" panose="020B0400000000000000" pitchFamily="50" charset="-128"/>
                        </a:rPr>
                        <a:t>n</a:t>
                      </a: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66858039"/>
                  </a:ext>
                </a:extLst>
              </a:tr>
              <a:tr h="301690">
                <a:tc>
                  <a:txBody>
                    <a:bodyPr/>
                    <a:lstStyle/>
                    <a:p>
                      <a:pPr algn="r" fontAlgn="ctr"/>
                      <a:r>
                        <a:rPr lang="en-US" altLang="ja-JP" sz="1800" u="none" strike="noStrike">
                          <a:effectLst/>
                        </a:rPr>
                        <a:t>22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dirty="0">
                          <a:effectLst/>
                        </a:rPr>
                        <a:t>0</a:t>
                      </a:r>
                      <a:endParaRPr lang="en-US" altLang="ja-JP"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y</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n</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969548975"/>
                  </a:ext>
                </a:extLst>
              </a:tr>
            </a:tbl>
          </a:graphicData>
        </a:graphic>
      </p:graphicFrame>
      <p:graphicFrame>
        <p:nvGraphicFramePr>
          <p:cNvPr id="10" name="表 9">
            <a:extLst>
              <a:ext uri="{FF2B5EF4-FFF2-40B4-BE49-F238E27FC236}">
                <a16:creationId xmlns:a16="http://schemas.microsoft.com/office/drawing/2014/main" id="{7B29F0E7-A92C-4B0E-A90D-7F22D97C5381}"/>
              </a:ext>
            </a:extLst>
          </p:cNvPr>
          <p:cNvGraphicFramePr>
            <a:graphicFrameLocks noGrp="1"/>
          </p:cNvGraphicFramePr>
          <p:nvPr/>
        </p:nvGraphicFramePr>
        <p:xfrm>
          <a:off x="6236260" y="391886"/>
          <a:ext cx="5902313" cy="4801282"/>
        </p:xfrm>
        <a:graphic>
          <a:graphicData uri="http://schemas.openxmlformats.org/drawingml/2006/table">
            <a:tbl>
              <a:tblPr>
                <a:tableStyleId>{5C22544A-7EE6-4342-B048-85BDC9FD1C3A}</a:tableStyleId>
              </a:tblPr>
              <a:tblGrid>
                <a:gridCol w="700571">
                  <a:extLst>
                    <a:ext uri="{9D8B030D-6E8A-4147-A177-3AD203B41FA5}">
                      <a16:colId xmlns:a16="http://schemas.microsoft.com/office/drawing/2014/main" val="778994262"/>
                    </a:ext>
                  </a:extLst>
                </a:gridCol>
                <a:gridCol w="928257">
                  <a:extLst>
                    <a:ext uri="{9D8B030D-6E8A-4147-A177-3AD203B41FA5}">
                      <a16:colId xmlns:a16="http://schemas.microsoft.com/office/drawing/2014/main" val="2264625836"/>
                    </a:ext>
                  </a:extLst>
                </a:gridCol>
                <a:gridCol w="928257">
                  <a:extLst>
                    <a:ext uri="{9D8B030D-6E8A-4147-A177-3AD203B41FA5}">
                      <a16:colId xmlns:a16="http://schemas.microsoft.com/office/drawing/2014/main" val="1988903283"/>
                    </a:ext>
                  </a:extLst>
                </a:gridCol>
                <a:gridCol w="560457">
                  <a:extLst>
                    <a:ext uri="{9D8B030D-6E8A-4147-A177-3AD203B41FA5}">
                      <a16:colId xmlns:a16="http://schemas.microsoft.com/office/drawing/2014/main" val="2173653896"/>
                    </a:ext>
                  </a:extLst>
                </a:gridCol>
                <a:gridCol w="817662">
                  <a:extLst>
                    <a:ext uri="{9D8B030D-6E8A-4147-A177-3AD203B41FA5}">
                      <a16:colId xmlns:a16="http://schemas.microsoft.com/office/drawing/2014/main" val="374984435"/>
                    </a:ext>
                  </a:extLst>
                </a:gridCol>
                <a:gridCol w="1038852">
                  <a:extLst>
                    <a:ext uri="{9D8B030D-6E8A-4147-A177-3AD203B41FA5}">
                      <a16:colId xmlns:a16="http://schemas.microsoft.com/office/drawing/2014/main" val="80226917"/>
                    </a:ext>
                  </a:extLst>
                </a:gridCol>
                <a:gridCol w="928257">
                  <a:extLst>
                    <a:ext uri="{9D8B030D-6E8A-4147-A177-3AD203B41FA5}">
                      <a16:colId xmlns:a16="http://schemas.microsoft.com/office/drawing/2014/main" val="2989875900"/>
                    </a:ext>
                  </a:extLst>
                </a:gridCol>
              </a:tblGrid>
              <a:tr h="946366">
                <a:tc>
                  <a:txBody>
                    <a:bodyPr/>
                    <a:lstStyle/>
                    <a:p>
                      <a:pPr algn="ctr" fontAlgn="ctr"/>
                      <a:r>
                        <a:rPr lang="ja-JP" altLang="en-US" sz="1800" u="none" strike="noStrike">
                          <a:effectLst/>
                        </a:rPr>
                        <a:t>年齢</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zh-TW" altLang="en-US" sz="1800" u="none" strike="noStrike">
                          <a:effectLst/>
                        </a:rPr>
                        <a:t>自動車保有数</a:t>
                      </a:r>
                      <a:endParaRPr lang="zh-TW"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持ち家か</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子供の数</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dirty="0">
                          <a:effectLst/>
                        </a:rPr>
                        <a:t>婚姻状況</a:t>
                      </a:r>
                      <a:endParaRPr lang="ja-JP" alt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犬を飼っている</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ボートを購入</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795055029"/>
                  </a:ext>
                </a:extLst>
              </a:tr>
              <a:tr h="321243">
                <a:tc>
                  <a:txBody>
                    <a:bodyPr/>
                    <a:lstStyle/>
                    <a:p>
                      <a:pPr algn="r" fontAlgn="ctr"/>
                      <a:r>
                        <a:rPr lang="en-US" altLang="ja-JP" sz="1800" u="none" strike="noStrike">
                          <a:effectLst/>
                        </a:rPr>
                        <a:t>66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未亡人</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661334757"/>
                  </a:ext>
                </a:extLst>
              </a:tr>
              <a:tr h="321243">
                <a:tc>
                  <a:txBody>
                    <a:bodyPr/>
                    <a:lstStyle/>
                    <a:p>
                      <a:pPr algn="r" fontAlgn="ctr"/>
                      <a:r>
                        <a:rPr lang="en-US" altLang="ja-JP" sz="1800" u="none" strike="noStrike">
                          <a:effectLst/>
                        </a:rPr>
                        <a:t>52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078897263"/>
                  </a:ext>
                </a:extLst>
              </a:tr>
              <a:tr h="321243">
                <a:tc>
                  <a:txBody>
                    <a:bodyPr/>
                    <a:lstStyle/>
                    <a:p>
                      <a:pPr algn="r" fontAlgn="ctr"/>
                      <a:r>
                        <a:rPr lang="en-US" altLang="ja-JP" sz="1800" u="none" strike="noStrike">
                          <a:effectLst/>
                        </a:rPr>
                        <a:t>22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789082753"/>
                  </a:ext>
                </a:extLst>
              </a:tr>
              <a:tr h="321243">
                <a:tc>
                  <a:txBody>
                    <a:bodyPr/>
                    <a:lstStyle/>
                    <a:p>
                      <a:pPr algn="r" fontAlgn="ctr"/>
                      <a:r>
                        <a:rPr lang="en-US" altLang="ja-JP" sz="1800" u="none" strike="noStrike">
                          <a:effectLst/>
                        </a:rPr>
                        <a:t>25</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782928449"/>
                  </a:ext>
                </a:extLst>
              </a:tr>
              <a:tr h="321243">
                <a:tc>
                  <a:txBody>
                    <a:bodyPr/>
                    <a:lstStyle/>
                    <a:p>
                      <a:pPr algn="r" fontAlgn="ctr"/>
                      <a:r>
                        <a:rPr lang="en-US" altLang="ja-JP" sz="1800" u="none" strike="noStrike">
                          <a:effectLst/>
                        </a:rPr>
                        <a:t>44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1655692288"/>
                  </a:ext>
                </a:extLst>
              </a:tr>
              <a:tr h="321243">
                <a:tc>
                  <a:txBody>
                    <a:bodyPr/>
                    <a:lstStyle/>
                    <a:p>
                      <a:pPr algn="r" fontAlgn="ctr"/>
                      <a:r>
                        <a:rPr lang="en-US" altLang="ja-JP" sz="1800" u="none" strike="noStrike">
                          <a:effectLst/>
                        </a:rPr>
                        <a:t>39</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981702502"/>
                  </a:ext>
                </a:extLst>
              </a:tr>
              <a:tr h="321243">
                <a:tc>
                  <a:txBody>
                    <a:bodyPr/>
                    <a:lstStyle/>
                    <a:p>
                      <a:pPr algn="r" fontAlgn="ctr"/>
                      <a:r>
                        <a:rPr lang="en-US" altLang="ja-JP" sz="1800" u="none" strike="noStrike">
                          <a:effectLst/>
                        </a:rPr>
                        <a:t>26</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480307327"/>
                  </a:ext>
                </a:extLst>
              </a:tr>
              <a:tr h="321243">
                <a:tc>
                  <a:txBody>
                    <a:bodyPr/>
                    <a:lstStyle/>
                    <a:p>
                      <a:pPr algn="r" fontAlgn="ctr"/>
                      <a:r>
                        <a:rPr lang="en-US" altLang="ja-JP" sz="1800" u="none" strike="noStrike">
                          <a:effectLst/>
                        </a:rPr>
                        <a:t>40</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431038178"/>
                  </a:ext>
                </a:extLst>
              </a:tr>
              <a:tr h="321243">
                <a:tc>
                  <a:txBody>
                    <a:bodyPr/>
                    <a:lstStyle/>
                    <a:p>
                      <a:pPr algn="r" fontAlgn="ctr"/>
                      <a:r>
                        <a:rPr lang="en-US" altLang="ja-JP" sz="1800" u="none" strike="noStrike">
                          <a:effectLst/>
                        </a:rPr>
                        <a:t>53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y</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537383986"/>
                  </a:ext>
                </a:extLst>
              </a:tr>
              <a:tr h="321243">
                <a:tc>
                  <a:txBody>
                    <a:bodyPr/>
                    <a:lstStyle/>
                    <a:p>
                      <a:pPr algn="r" fontAlgn="ctr"/>
                      <a:r>
                        <a:rPr lang="en-US" altLang="ja-JP" sz="1800" u="none" strike="noStrike">
                          <a:effectLst/>
                        </a:rPr>
                        <a:t>64</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y</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離婚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509526112"/>
                  </a:ext>
                </a:extLst>
              </a:tr>
              <a:tr h="321243">
                <a:tc>
                  <a:txBody>
                    <a:bodyPr/>
                    <a:lstStyle/>
                    <a:p>
                      <a:pPr algn="r" fontAlgn="ctr"/>
                      <a:r>
                        <a:rPr lang="en-US" altLang="ja-JP" sz="1800" u="none" strike="noStrike">
                          <a:effectLst/>
                        </a:rPr>
                        <a:t>58</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2</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結婚</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y</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3146115356"/>
                  </a:ext>
                </a:extLst>
              </a:tr>
              <a:tr h="321243">
                <a:tc>
                  <a:txBody>
                    <a:bodyPr/>
                    <a:lstStyle/>
                    <a:p>
                      <a:pPr algn="r" fontAlgn="ctr"/>
                      <a:r>
                        <a:rPr lang="en-US" altLang="ja-JP" sz="1800" u="none" strike="noStrike">
                          <a:effectLst/>
                        </a:rPr>
                        <a:t>33</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r" fontAlgn="ctr"/>
                      <a:r>
                        <a:rPr lang="en-US" altLang="ja-JP" sz="1800" u="none" strike="noStrike">
                          <a:effectLst/>
                        </a:rPr>
                        <a:t>1</a:t>
                      </a:r>
                      <a:endParaRPr lang="en-US" altLang="ja-JP"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l" fontAlgn="ctr"/>
                      <a:r>
                        <a:rPr lang="ja-JP" altLang="en-US" sz="1800" u="none" strike="noStrike">
                          <a:effectLst/>
                        </a:rPr>
                        <a:t>独身</a:t>
                      </a:r>
                      <a:endParaRPr lang="ja-JP" alt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a:effectLst/>
                        </a:rPr>
                        <a:t>n</a:t>
                      </a:r>
                      <a:endParaRPr lang="en-US" sz="1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fontAlgn="ctr"/>
                      <a:r>
                        <a:rPr lang="en-US" sz="1800" u="none" strike="noStrike" dirty="0">
                          <a:effectLst/>
                        </a:rPr>
                        <a:t>n</a:t>
                      </a:r>
                      <a:endParaRPr lang="en-US" sz="1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620" marT="7620" marB="0" anchor="ctr"/>
                </a:tc>
                <a:extLst>
                  <a:ext uri="{0D108BD9-81ED-4DB2-BD59-A6C34878D82A}">
                    <a16:rowId xmlns:a16="http://schemas.microsoft.com/office/drawing/2014/main" val="2872024280"/>
                  </a:ext>
                </a:extLst>
              </a:tr>
            </a:tbl>
          </a:graphicData>
        </a:graphic>
      </p:graphicFrame>
      <p:sp>
        <p:nvSpPr>
          <p:cNvPr id="11" name="テキスト ボックス 10">
            <a:extLst>
              <a:ext uri="{FF2B5EF4-FFF2-40B4-BE49-F238E27FC236}">
                <a16:creationId xmlns:a16="http://schemas.microsoft.com/office/drawing/2014/main" id="{E5374D53-0E8E-B2EC-94E1-138442AC8F66}"/>
              </a:ext>
            </a:extLst>
          </p:cNvPr>
          <p:cNvSpPr txBox="1"/>
          <p:nvPr/>
        </p:nvSpPr>
        <p:spPr>
          <a:xfrm>
            <a:off x="344418" y="4423727"/>
            <a:ext cx="5827236" cy="769441"/>
          </a:xfrm>
          <a:prstGeom prst="rect">
            <a:avLst/>
          </a:prstGeom>
          <a:noFill/>
        </p:spPr>
        <p:txBody>
          <a:bodyPr wrap="none" rtlCol="0">
            <a:spAutoFit/>
          </a:bodyPr>
          <a:lstStyle/>
          <a:p>
            <a:pPr algn="l"/>
            <a:r>
              <a:rPr kumimoji="1" lang="ja-JP" altLang="en-US" sz="4400" b="1" dirty="0">
                <a:latin typeface="メイリオ" panose="020B0604030504040204" pitchFamily="50" charset="-128"/>
                <a:ea typeface="メイリオ" panose="020B0604030504040204" pitchFamily="50" charset="-128"/>
              </a:rPr>
              <a:t>学習不足（適合不足）</a:t>
            </a:r>
          </a:p>
        </p:txBody>
      </p:sp>
      <p:sp>
        <p:nvSpPr>
          <p:cNvPr id="12" name="四角形: 角を丸くする 11">
            <a:extLst>
              <a:ext uri="{FF2B5EF4-FFF2-40B4-BE49-F238E27FC236}">
                <a16:creationId xmlns:a16="http://schemas.microsoft.com/office/drawing/2014/main" id="{E9D08697-3CFF-3A8E-DD23-1490210BE2CC}"/>
              </a:ext>
            </a:extLst>
          </p:cNvPr>
          <p:cNvSpPr/>
          <p:nvPr/>
        </p:nvSpPr>
        <p:spPr>
          <a:xfrm>
            <a:off x="6095999" y="6136143"/>
            <a:ext cx="6013027" cy="32997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45303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01135D21-BE3D-4D71-B81A-D80BAC867641}"/>
              </a:ext>
            </a:extLst>
          </p:cNvPr>
          <p:cNvCxnSpPr>
            <a:cxnSpLocks/>
          </p:cNvCxnSpPr>
          <p:nvPr/>
        </p:nvCxnSpPr>
        <p:spPr>
          <a:xfrm flipV="1">
            <a:off x="3559277" y="1720645"/>
            <a:ext cx="0" cy="13961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FAFD8CD8-3044-4E60-8CEA-E7AD3937FABE}"/>
              </a:ext>
            </a:extLst>
          </p:cNvPr>
          <p:cNvCxnSpPr/>
          <p:nvPr/>
        </p:nvCxnSpPr>
        <p:spPr>
          <a:xfrm>
            <a:off x="3529781" y="3106993"/>
            <a:ext cx="443434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79196D20-BDC9-4D70-BD88-A52D06711C7D}"/>
              </a:ext>
            </a:extLst>
          </p:cNvPr>
          <p:cNvSpPr txBox="1"/>
          <p:nvPr/>
        </p:nvSpPr>
        <p:spPr>
          <a:xfrm>
            <a:off x="7964129" y="2924910"/>
            <a:ext cx="2410007"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モデル（ルール）の複雑さ</a:t>
            </a:r>
          </a:p>
        </p:txBody>
      </p:sp>
      <p:sp>
        <p:nvSpPr>
          <p:cNvPr id="7" name="テキスト ボックス 6">
            <a:extLst>
              <a:ext uri="{FF2B5EF4-FFF2-40B4-BE49-F238E27FC236}">
                <a16:creationId xmlns:a16="http://schemas.microsoft.com/office/drawing/2014/main" id="{62C181C8-6EDB-42A7-B8A6-FB96A806E828}"/>
              </a:ext>
            </a:extLst>
          </p:cNvPr>
          <p:cNvSpPr txBox="1"/>
          <p:nvPr/>
        </p:nvSpPr>
        <p:spPr>
          <a:xfrm>
            <a:off x="5525730" y="3106994"/>
            <a:ext cx="1107996"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年齢</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持ち家</a:t>
            </a:r>
          </a:p>
        </p:txBody>
      </p:sp>
      <p:sp>
        <p:nvSpPr>
          <p:cNvPr id="8" name="テキスト ボックス 7">
            <a:extLst>
              <a:ext uri="{FF2B5EF4-FFF2-40B4-BE49-F238E27FC236}">
                <a16:creationId xmlns:a16="http://schemas.microsoft.com/office/drawing/2014/main" id="{9799DFE1-5028-4C4F-83D2-20E32FB36913}"/>
              </a:ext>
            </a:extLst>
          </p:cNvPr>
          <p:cNvSpPr txBox="1"/>
          <p:nvPr/>
        </p:nvSpPr>
        <p:spPr>
          <a:xfrm>
            <a:off x="2118859" y="1200616"/>
            <a:ext cx="2493027"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テストデータへのあてはまり（精度）</a:t>
            </a:r>
          </a:p>
        </p:txBody>
      </p:sp>
      <p:sp>
        <p:nvSpPr>
          <p:cNvPr id="9" name="テキスト ボックス 8">
            <a:extLst>
              <a:ext uri="{FF2B5EF4-FFF2-40B4-BE49-F238E27FC236}">
                <a16:creationId xmlns:a16="http://schemas.microsoft.com/office/drawing/2014/main" id="{EA956012-2D5B-4A4D-9F07-9FF6090D0DE6}"/>
              </a:ext>
            </a:extLst>
          </p:cNvPr>
          <p:cNvSpPr txBox="1"/>
          <p:nvPr/>
        </p:nvSpPr>
        <p:spPr>
          <a:xfrm>
            <a:off x="4186642" y="3202858"/>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持ち家</a:t>
            </a:r>
          </a:p>
        </p:txBody>
      </p:sp>
      <p:sp>
        <p:nvSpPr>
          <p:cNvPr id="10" name="テキスト ボックス 9">
            <a:extLst>
              <a:ext uri="{FF2B5EF4-FFF2-40B4-BE49-F238E27FC236}">
                <a16:creationId xmlns:a16="http://schemas.microsoft.com/office/drawing/2014/main" id="{DF177719-2FE4-4E36-B56B-E794BA0F352A}"/>
              </a:ext>
            </a:extLst>
          </p:cNvPr>
          <p:cNvSpPr txBox="1"/>
          <p:nvPr/>
        </p:nvSpPr>
        <p:spPr>
          <a:xfrm>
            <a:off x="6778549" y="3126654"/>
            <a:ext cx="1107996" cy="1200329"/>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年齢</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持ち家</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子供</a:t>
            </a:r>
          </a:p>
        </p:txBody>
      </p:sp>
      <p:sp>
        <p:nvSpPr>
          <p:cNvPr id="11" name="正方形/長方形 10">
            <a:extLst>
              <a:ext uri="{FF2B5EF4-FFF2-40B4-BE49-F238E27FC236}">
                <a16:creationId xmlns:a16="http://schemas.microsoft.com/office/drawing/2014/main" id="{D68837B0-14A5-4780-87FE-F7649B7B96E8}"/>
              </a:ext>
            </a:extLst>
          </p:cNvPr>
          <p:cNvSpPr/>
          <p:nvPr/>
        </p:nvSpPr>
        <p:spPr>
          <a:xfrm>
            <a:off x="4378372" y="2536727"/>
            <a:ext cx="467028" cy="5604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F95AFF5-FA4C-4F96-B8DE-0D5411D1BD76}"/>
              </a:ext>
            </a:extLst>
          </p:cNvPr>
          <p:cNvSpPr/>
          <p:nvPr/>
        </p:nvSpPr>
        <p:spPr>
          <a:xfrm>
            <a:off x="5653549" y="1366687"/>
            <a:ext cx="467028" cy="1745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EB97EEBC-2C4F-43C7-AD9C-AF468EDAD132}"/>
              </a:ext>
            </a:extLst>
          </p:cNvPr>
          <p:cNvSpPr/>
          <p:nvPr/>
        </p:nvSpPr>
        <p:spPr>
          <a:xfrm>
            <a:off x="6911525" y="1986119"/>
            <a:ext cx="467028" cy="11307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ACA1FE34-02B1-40BE-BAAF-CE194ED5B521}"/>
              </a:ext>
            </a:extLst>
          </p:cNvPr>
          <p:cNvSpPr txBox="1"/>
          <p:nvPr/>
        </p:nvSpPr>
        <p:spPr>
          <a:xfrm>
            <a:off x="1321095" y="4108636"/>
            <a:ext cx="2865547" cy="1200329"/>
          </a:xfrm>
          <a:prstGeom prst="rect">
            <a:avLst/>
          </a:prstGeom>
          <a:noFill/>
        </p:spPr>
        <p:txBody>
          <a:bodyPr wrap="square" rtlCol="0">
            <a:spAutoFit/>
          </a:bodyPr>
          <a:lstStyle/>
          <a:p>
            <a:pPr algn="l"/>
            <a:r>
              <a:rPr kumimoji="1" lang="ja-JP" altLang="en-US" b="1" u="sng" dirty="0">
                <a:latin typeface="メイリオ" panose="020B0604030504040204" pitchFamily="50" charset="-128"/>
                <a:ea typeface="メイリオ" panose="020B0604030504040204" pitchFamily="50" charset="-128"/>
              </a:rPr>
              <a:t>適合不足</a:t>
            </a:r>
            <a:endParaRPr kumimoji="1" lang="en-US" altLang="ja-JP" b="1" u="sng"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モデル（ルール）の説明力が弱い（重要な特徴量が欠落）</a:t>
            </a:r>
          </a:p>
        </p:txBody>
      </p:sp>
      <p:sp>
        <p:nvSpPr>
          <p:cNvPr id="16" name="テキスト ボックス 15">
            <a:extLst>
              <a:ext uri="{FF2B5EF4-FFF2-40B4-BE49-F238E27FC236}">
                <a16:creationId xmlns:a16="http://schemas.microsoft.com/office/drawing/2014/main" id="{226F92AE-B773-40E1-9EE9-4B8D99F283D8}"/>
              </a:ext>
            </a:extLst>
          </p:cNvPr>
          <p:cNvSpPr txBox="1"/>
          <p:nvPr/>
        </p:nvSpPr>
        <p:spPr>
          <a:xfrm>
            <a:off x="8255631" y="4118461"/>
            <a:ext cx="3936369" cy="1200329"/>
          </a:xfrm>
          <a:prstGeom prst="rect">
            <a:avLst/>
          </a:prstGeom>
          <a:noFill/>
        </p:spPr>
        <p:txBody>
          <a:bodyPr wrap="square" rtlCol="0">
            <a:spAutoFit/>
          </a:bodyPr>
          <a:lstStyle/>
          <a:p>
            <a:pPr algn="l"/>
            <a:r>
              <a:rPr kumimoji="1" lang="ja-JP" altLang="en-US" b="1" u="sng" dirty="0">
                <a:latin typeface="メイリオ" panose="020B0604030504040204" pitchFamily="50" charset="-128"/>
                <a:ea typeface="メイリオ" panose="020B0604030504040204" pitchFamily="50" charset="-128"/>
              </a:rPr>
              <a:t>過剰適合（過学習）</a:t>
            </a:r>
            <a:endParaRPr kumimoji="1" lang="en-US" altLang="ja-JP" b="1" u="sng"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ルール（モデル）が過度に訓練データに適合（余計な特徴量がまぎれこんでいる）</a:t>
            </a:r>
          </a:p>
        </p:txBody>
      </p:sp>
      <p:sp>
        <p:nvSpPr>
          <p:cNvPr id="17" name="矢印: 左右 16">
            <a:extLst>
              <a:ext uri="{FF2B5EF4-FFF2-40B4-BE49-F238E27FC236}">
                <a16:creationId xmlns:a16="http://schemas.microsoft.com/office/drawing/2014/main" id="{996E1DA3-6ED2-4B64-AF4B-D7D4A7F56F35}"/>
              </a:ext>
            </a:extLst>
          </p:cNvPr>
          <p:cNvSpPr/>
          <p:nvPr/>
        </p:nvSpPr>
        <p:spPr>
          <a:xfrm>
            <a:off x="4454289" y="4395461"/>
            <a:ext cx="3336772" cy="646327"/>
          </a:xfrm>
          <a:prstGeom prst="leftRightArrow">
            <a:avLst>
              <a:gd name="adj1" fmla="val 50000"/>
              <a:gd name="adj2" fmla="val 81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697F7E3-4E8B-476B-91A2-433F72B9C84B}"/>
              </a:ext>
            </a:extLst>
          </p:cNvPr>
          <p:cNvSpPr txBox="1"/>
          <p:nvPr/>
        </p:nvSpPr>
        <p:spPr>
          <a:xfrm>
            <a:off x="2273149" y="5711717"/>
            <a:ext cx="9010800"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この例では、モデルの複雑さ ∝ ルールを構成する特徴量の数</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となっているが、かならずしもそうではないので注意！</a:t>
            </a:r>
          </a:p>
        </p:txBody>
      </p:sp>
      <p:sp>
        <p:nvSpPr>
          <p:cNvPr id="2" name="テキスト ボックス 1">
            <a:extLst>
              <a:ext uri="{FF2B5EF4-FFF2-40B4-BE49-F238E27FC236}">
                <a16:creationId xmlns:a16="http://schemas.microsoft.com/office/drawing/2014/main" id="{1940C237-458E-73AA-FCA6-3288D6C9194B}"/>
              </a:ext>
            </a:extLst>
          </p:cNvPr>
          <p:cNvSpPr txBox="1"/>
          <p:nvPr/>
        </p:nvSpPr>
        <p:spPr>
          <a:xfrm>
            <a:off x="359682" y="261214"/>
            <a:ext cx="10443885"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適度に複雑なルール（モデル）で汎化性能が最大になる</a:t>
            </a:r>
          </a:p>
        </p:txBody>
      </p:sp>
    </p:spTree>
    <p:extLst>
      <p:ext uri="{BB962C8B-B14F-4D97-AF65-F5344CB8AC3E}">
        <p14:creationId xmlns:p14="http://schemas.microsoft.com/office/powerpoint/2010/main" val="1199232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AE640DB-E3E7-4099-A01A-2024B77994F2}"/>
              </a:ext>
            </a:extLst>
          </p:cNvPr>
          <p:cNvSpPr txBox="1"/>
          <p:nvPr/>
        </p:nvSpPr>
        <p:spPr>
          <a:xfrm>
            <a:off x="559501" y="327789"/>
            <a:ext cx="3877985"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モデルの複雑性の例</a:t>
            </a:r>
          </a:p>
        </p:txBody>
      </p:sp>
      <p:sp>
        <p:nvSpPr>
          <p:cNvPr id="3" name="テキスト ボックス 2">
            <a:extLst>
              <a:ext uri="{FF2B5EF4-FFF2-40B4-BE49-F238E27FC236}">
                <a16:creationId xmlns:a16="http://schemas.microsoft.com/office/drawing/2014/main" id="{13E29866-7284-48E6-92EE-74FE9B106D9B}"/>
              </a:ext>
            </a:extLst>
          </p:cNvPr>
          <p:cNvSpPr txBox="1"/>
          <p:nvPr/>
        </p:nvSpPr>
        <p:spPr>
          <a:xfrm>
            <a:off x="623666" y="1051925"/>
            <a:ext cx="11568334" cy="1569660"/>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人間かそうじゃないかを機械学習で判定する</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特徴量</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髪の毛がある、二足歩行、よく笑う、英語を話す　言語を話す</a:t>
            </a:r>
          </a:p>
        </p:txBody>
      </p:sp>
      <p:sp>
        <p:nvSpPr>
          <p:cNvPr id="4" name="テキスト ボックス 3">
            <a:extLst>
              <a:ext uri="{FF2B5EF4-FFF2-40B4-BE49-F238E27FC236}">
                <a16:creationId xmlns:a16="http://schemas.microsoft.com/office/drawing/2014/main" id="{796845E1-CD49-42A9-B414-57ABF77AB083}"/>
              </a:ext>
            </a:extLst>
          </p:cNvPr>
          <p:cNvSpPr txBox="1"/>
          <p:nvPr/>
        </p:nvSpPr>
        <p:spPr>
          <a:xfrm>
            <a:off x="1006221" y="3031688"/>
            <a:ext cx="8494633" cy="830997"/>
          </a:xfrm>
          <a:prstGeom prst="rect">
            <a:avLst/>
          </a:prstGeom>
          <a:noFill/>
          <a:ln>
            <a:solidFill>
              <a:schemeClr val="bg1">
                <a:lumMod val="50000"/>
              </a:schemeClr>
            </a:solidFill>
          </a:ln>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訓練データ　　：　たまたま全て西欧人のおじさんデータ</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テストデータ　：　地球上の全哺乳類</a:t>
            </a:r>
          </a:p>
        </p:txBody>
      </p:sp>
      <p:sp>
        <p:nvSpPr>
          <p:cNvPr id="5" name="テキスト ボックス 4">
            <a:extLst>
              <a:ext uri="{FF2B5EF4-FFF2-40B4-BE49-F238E27FC236}">
                <a16:creationId xmlns:a16="http://schemas.microsoft.com/office/drawing/2014/main" id="{A4AD1FF9-7E22-AE69-83D7-F4F547530015}"/>
              </a:ext>
            </a:extLst>
          </p:cNvPr>
          <p:cNvSpPr txBox="1"/>
          <p:nvPr/>
        </p:nvSpPr>
        <p:spPr>
          <a:xfrm>
            <a:off x="1006221" y="4697602"/>
            <a:ext cx="800219" cy="461665"/>
          </a:xfrm>
          <a:prstGeom prst="rect">
            <a:avLst/>
          </a:prstGeom>
          <a:noFill/>
        </p:spPr>
        <p:txBody>
          <a:bodyPr wrap="none" rtlCol="0">
            <a:spAutoFit/>
          </a:bodyPr>
          <a:lstStyle/>
          <a:p>
            <a:pPr algn="l"/>
            <a:r>
              <a:rPr kumimoji="1" lang="ja-JP" altLang="en-US" sz="2400" u="sng" dirty="0">
                <a:latin typeface="メイリオ" panose="020B0604030504040204" pitchFamily="50" charset="-128"/>
                <a:ea typeface="メイリオ" panose="020B0604030504040204" pitchFamily="50" charset="-128"/>
              </a:rPr>
              <a:t>演習</a:t>
            </a:r>
          </a:p>
        </p:txBody>
      </p:sp>
      <p:sp>
        <p:nvSpPr>
          <p:cNvPr id="6" name="テキスト ボックス 5">
            <a:extLst>
              <a:ext uri="{FF2B5EF4-FFF2-40B4-BE49-F238E27FC236}">
                <a16:creationId xmlns:a16="http://schemas.microsoft.com/office/drawing/2014/main" id="{67E5BC5E-7F90-F62F-00F1-A34BACEA6A80}"/>
              </a:ext>
            </a:extLst>
          </p:cNvPr>
          <p:cNvSpPr txBox="1"/>
          <p:nvPr/>
        </p:nvSpPr>
        <p:spPr>
          <a:xfrm>
            <a:off x="1006221" y="5159267"/>
            <a:ext cx="5455340" cy="830997"/>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過学習を起こしそうな特徴量は？</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学習不足を起こしそうな特徴量は？</a:t>
            </a:r>
          </a:p>
        </p:txBody>
      </p:sp>
    </p:spTree>
    <p:extLst>
      <p:ext uri="{BB962C8B-B14F-4D97-AF65-F5344CB8AC3E}">
        <p14:creationId xmlns:p14="http://schemas.microsoft.com/office/powerpoint/2010/main" val="39899039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5ED9B87-5C22-46B1-B735-2CEF0AE40A2D}"/>
              </a:ext>
            </a:extLst>
          </p:cNvPr>
          <p:cNvSpPr txBox="1"/>
          <p:nvPr/>
        </p:nvSpPr>
        <p:spPr>
          <a:xfrm>
            <a:off x="458346" y="413078"/>
            <a:ext cx="5929828" cy="523220"/>
          </a:xfrm>
          <a:prstGeom prst="rect">
            <a:avLst/>
          </a:prstGeom>
          <a:noFill/>
        </p:spPr>
        <p:txBody>
          <a:bodyPr wrap="none" rtlCol="0">
            <a:spAutoFit/>
          </a:bodyPr>
          <a:lstStyle/>
          <a:p>
            <a:pPr algn="l"/>
            <a:r>
              <a:rPr kumimoji="1" lang="ja-JP" altLang="en-US" sz="2800" b="1" dirty="0">
                <a:latin typeface="メイリオ" panose="020B0604030504040204" pitchFamily="50" charset="-128"/>
                <a:ea typeface="メイリオ" panose="020B0604030504040204" pitchFamily="50" charset="-128"/>
              </a:rPr>
              <a:t>モデルの複雑性（単純性）と過学習</a:t>
            </a:r>
          </a:p>
        </p:txBody>
      </p:sp>
      <p:sp>
        <p:nvSpPr>
          <p:cNvPr id="3" name="テキスト ボックス 2">
            <a:extLst>
              <a:ext uri="{FF2B5EF4-FFF2-40B4-BE49-F238E27FC236}">
                <a16:creationId xmlns:a16="http://schemas.microsoft.com/office/drawing/2014/main" id="{83E91C3D-A7E3-4830-A81B-635CA3DFA140}"/>
              </a:ext>
            </a:extLst>
          </p:cNvPr>
          <p:cNvSpPr txBox="1"/>
          <p:nvPr/>
        </p:nvSpPr>
        <p:spPr>
          <a:xfrm>
            <a:off x="9704896" y="2561367"/>
            <a:ext cx="553998" cy="1323439"/>
          </a:xfrm>
          <a:prstGeom prst="rect">
            <a:avLst/>
          </a:prstGeom>
          <a:noFill/>
        </p:spPr>
        <p:txBody>
          <a:bodyPr vert="eaVert" wrap="none" rtlCol="0">
            <a:spAutoFit/>
          </a:bodyPr>
          <a:lstStyle/>
          <a:p>
            <a:pPr algn="l"/>
            <a:r>
              <a:rPr kumimoji="1" lang="ja-JP" altLang="en-US" sz="2400" dirty="0">
                <a:latin typeface="メイリオ" panose="020B0604030504040204" pitchFamily="50" charset="-128"/>
                <a:ea typeface="メイリオ" panose="020B0604030504040204" pitchFamily="50" charset="-128"/>
              </a:rPr>
              <a:t>複雑性大</a:t>
            </a:r>
          </a:p>
        </p:txBody>
      </p:sp>
      <p:sp>
        <p:nvSpPr>
          <p:cNvPr id="4" name="テキスト ボックス 3">
            <a:extLst>
              <a:ext uri="{FF2B5EF4-FFF2-40B4-BE49-F238E27FC236}">
                <a16:creationId xmlns:a16="http://schemas.microsoft.com/office/drawing/2014/main" id="{52F85544-2C1D-49AB-888F-C2FA35DE803A}"/>
              </a:ext>
            </a:extLst>
          </p:cNvPr>
          <p:cNvSpPr txBox="1"/>
          <p:nvPr/>
        </p:nvSpPr>
        <p:spPr>
          <a:xfrm>
            <a:off x="1708748" y="2494192"/>
            <a:ext cx="553998" cy="1323439"/>
          </a:xfrm>
          <a:prstGeom prst="rect">
            <a:avLst/>
          </a:prstGeom>
          <a:noFill/>
        </p:spPr>
        <p:txBody>
          <a:bodyPr vert="eaVert" wrap="none" rtlCol="0">
            <a:spAutoFit/>
          </a:bodyPr>
          <a:lstStyle/>
          <a:p>
            <a:pPr algn="l"/>
            <a:r>
              <a:rPr kumimoji="1" lang="ja-JP" altLang="en-US" sz="2400" dirty="0">
                <a:latin typeface="メイリオ" panose="020B0604030504040204" pitchFamily="50" charset="-128"/>
                <a:ea typeface="メイリオ" panose="020B0604030504040204" pitchFamily="50" charset="-128"/>
              </a:rPr>
              <a:t>複雑性小</a:t>
            </a:r>
          </a:p>
        </p:txBody>
      </p:sp>
      <p:sp>
        <p:nvSpPr>
          <p:cNvPr id="5" name="テキスト ボックス 4">
            <a:extLst>
              <a:ext uri="{FF2B5EF4-FFF2-40B4-BE49-F238E27FC236}">
                <a16:creationId xmlns:a16="http://schemas.microsoft.com/office/drawing/2014/main" id="{48EEAFE1-D0F9-4D75-B822-FF13403C48C7}"/>
              </a:ext>
            </a:extLst>
          </p:cNvPr>
          <p:cNvSpPr txBox="1"/>
          <p:nvPr/>
        </p:nvSpPr>
        <p:spPr>
          <a:xfrm>
            <a:off x="9704896" y="4648585"/>
            <a:ext cx="553998" cy="1015663"/>
          </a:xfrm>
          <a:prstGeom prst="rect">
            <a:avLst/>
          </a:prstGeom>
          <a:noFill/>
        </p:spPr>
        <p:txBody>
          <a:bodyPr vert="eaVert" wrap="none" rtlCol="0">
            <a:spAutoFit/>
          </a:bodyPr>
          <a:lstStyle/>
          <a:p>
            <a:pPr algn="l"/>
            <a:r>
              <a:rPr kumimoji="1" lang="ja-JP" altLang="en-US" sz="2400" dirty="0">
                <a:latin typeface="メイリオ" panose="020B0604030504040204" pitchFamily="50" charset="-128"/>
                <a:ea typeface="メイリオ" panose="020B0604030504040204" pitchFamily="50" charset="-128"/>
              </a:rPr>
              <a:t>過学習</a:t>
            </a:r>
          </a:p>
        </p:txBody>
      </p:sp>
      <p:sp>
        <p:nvSpPr>
          <p:cNvPr id="6" name="テキスト ボックス 5">
            <a:extLst>
              <a:ext uri="{FF2B5EF4-FFF2-40B4-BE49-F238E27FC236}">
                <a16:creationId xmlns:a16="http://schemas.microsoft.com/office/drawing/2014/main" id="{25A883EE-F14A-4574-91DE-00819D90C325}"/>
              </a:ext>
            </a:extLst>
          </p:cNvPr>
          <p:cNvSpPr txBox="1"/>
          <p:nvPr/>
        </p:nvSpPr>
        <p:spPr>
          <a:xfrm>
            <a:off x="1708748" y="4427522"/>
            <a:ext cx="553998" cy="1323439"/>
          </a:xfrm>
          <a:prstGeom prst="rect">
            <a:avLst/>
          </a:prstGeom>
          <a:noFill/>
        </p:spPr>
        <p:txBody>
          <a:bodyPr vert="eaVert" wrap="none" rtlCol="0">
            <a:spAutoFit/>
          </a:bodyPr>
          <a:lstStyle/>
          <a:p>
            <a:pPr algn="l"/>
            <a:r>
              <a:rPr kumimoji="1" lang="ja-JP" altLang="en-US" sz="2400" dirty="0">
                <a:latin typeface="メイリオ" panose="020B0604030504040204" pitchFamily="50" charset="-128"/>
                <a:ea typeface="メイリオ" panose="020B0604030504040204" pitchFamily="50" charset="-128"/>
              </a:rPr>
              <a:t>過少適合</a:t>
            </a:r>
          </a:p>
        </p:txBody>
      </p:sp>
      <p:sp>
        <p:nvSpPr>
          <p:cNvPr id="7" name="矢印: 下 6">
            <a:extLst>
              <a:ext uri="{FF2B5EF4-FFF2-40B4-BE49-F238E27FC236}">
                <a16:creationId xmlns:a16="http://schemas.microsoft.com/office/drawing/2014/main" id="{6114EEA0-F8AC-4A34-B44E-6A4DF1A57F26}"/>
              </a:ext>
            </a:extLst>
          </p:cNvPr>
          <p:cNvSpPr/>
          <p:nvPr/>
        </p:nvSpPr>
        <p:spPr>
          <a:xfrm>
            <a:off x="1806843" y="3884804"/>
            <a:ext cx="357808" cy="4755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9" name="矢印: 下 8">
            <a:extLst>
              <a:ext uri="{FF2B5EF4-FFF2-40B4-BE49-F238E27FC236}">
                <a16:creationId xmlns:a16="http://schemas.microsoft.com/office/drawing/2014/main" id="{60524085-E5CD-4275-8807-97CE1DD94445}"/>
              </a:ext>
            </a:extLst>
          </p:cNvPr>
          <p:cNvSpPr/>
          <p:nvPr/>
        </p:nvSpPr>
        <p:spPr>
          <a:xfrm>
            <a:off x="9802991" y="3951977"/>
            <a:ext cx="357808" cy="4755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10" name="テキスト ボックス 9">
            <a:extLst>
              <a:ext uri="{FF2B5EF4-FFF2-40B4-BE49-F238E27FC236}">
                <a16:creationId xmlns:a16="http://schemas.microsoft.com/office/drawing/2014/main" id="{D3136503-690D-4A15-A1CA-CC064F139723}"/>
              </a:ext>
            </a:extLst>
          </p:cNvPr>
          <p:cNvSpPr txBox="1"/>
          <p:nvPr/>
        </p:nvSpPr>
        <p:spPr>
          <a:xfrm>
            <a:off x="4187548" y="2991691"/>
            <a:ext cx="326243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ボートを買う買わない</a:t>
            </a:r>
          </a:p>
        </p:txBody>
      </p:sp>
      <p:sp>
        <p:nvSpPr>
          <p:cNvPr id="11" name="テキスト ボックス 10">
            <a:extLst>
              <a:ext uri="{FF2B5EF4-FFF2-40B4-BE49-F238E27FC236}">
                <a16:creationId xmlns:a16="http://schemas.microsoft.com/office/drawing/2014/main" id="{4C3BF4EA-949A-4652-9225-B57F17C8EAA4}"/>
              </a:ext>
            </a:extLst>
          </p:cNvPr>
          <p:cNvSpPr txBox="1"/>
          <p:nvPr/>
        </p:nvSpPr>
        <p:spPr>
          <a:xfrm>
            <a:off x="2306071" y="2743656"/>
            <a:ext cx="1980029" cy="400110"/>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特徴量の選択数</a:t>
            </a:r>
          </a:p>
        </p:txBody>
      </p:sp>
      <p:sp>
        <p:nvSpPr>
          <p:cNvPr id="12" name="テキスト ボックス 11">
            <a:extLst>
              <a:ext uri="{FF2B5EF4-FFF2-40B4-BE49-F238E27FC236}">
                <a16:creationId xmlns:a16="http://schemas.microsoft.com/office/drawing/2014/main" id="{FE1B2776-2E89-4905-82B3-F4D0B487DA30}"/>
              </a:ext>
            </a:extLst>
          </p:cNvPr>
          <p:cNvSpPr txBox="1"/>
          <p:nvPr/>
        </p:nvSpPr>
        <p:spPr>
          <a:xfrm>
            <a:off x="8173279" y="3025962"/>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：多</a:t>
            </a:r>
          </a:p>
        </p:txBody>
      </p:sp>
      <p:sp>
        <p:nvSpPr>
          <p:cNvPr id="13" name="テキスト ボックス 12">
            <a:extLst>
              <a:ext uri="{FF2B5EF4-FFF2-40B4-BE49-F238E27FC236}">
                <a16:creationId xmlns:a16="http://schemas.microsoft.com/office/drawing/2014/main" id="{2CC691E7-D05D-4D9E-B467-BABCFCCB017B}"/>
              </a:ext>
            </a:extLst>
          </p:cNvPr>
          <p:cNvSpPr txBox="1"/>
          <p:nvPr/>
        </p:nvSpPr>
        <p:spPr>
          <a:xfrm>
            <a:off x="2833568" y="3025962"/>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：小</a:t>
            </a:r>
          </a:p>
        </p:txBody>
      </p:sp>
      <p:sp>
        <p:nvSpPr>
          <p:cNvPr id="14" name="テキスト ボックス 13">
            <a:extLst>
              <a:ext uri="{FF2B5EF4-FFF2-40B4-BE49-F238E27FC236}">
                <a16:creationId xmlns:a16="http://schemas.microsoft.com/office/drawing/2014/main" id="{B6F24BF2-50DD-43EA-A700-314B30E9021F}"/>
              </a:ext>
            </a:extLst>
          </p:cNvPr>
          <p:cNvSpPr txBox="1"/>
          <p:nvPr/>
        </p:nvSpPr>
        <p:spPr>
          <a:xfrm>
            <a:off x="5165461" y="4356336"/>
            <a:ext cx="1261884" cy="523220"/>
          </a:xfrm>
          <a:prstGeom prst="rect">
            <a:avLst/>
          </a:prstGeom>
          <a:noFill/>
        </p:spPr>
        <p:txBody>
          <a:bodyPr wrap="none" rtlCol="0">
            <a:spAutoFit/>
          </a:bodyPr>
          <a:lstStyle/>
          <a:p>
            <a:pPr algn="l"/>
            <a:r>
              <a:rPr kumimoji="1" lang="ja-JP" altLang="en-US" sz="2800" dirty="0">
                <a:latin typeface="メイリオ" panose="020B0604030504040204" pitchFamily="50" charset="-128"/>
                <a:ea typeface="メイリオ" panose="020B0604030504040204" pitchFamily="50" charset="-128"/>
              </a:rPr>
              <a:t>決定木</a:t>
            </a:r>
          </a:p>
        </p:txBody>
      </p:sp>
      <p:sp>
        <p:nvSpPr>
          <p:cNvPr id="15" name="テキスト ボックス 14">
            <a:extLst>
              <a:ext uri="{FF2B5EF4-FFF2-40B4-BE49-F238E27FC236}">
                <a16:creationId xmlns:a16="http://schemas.microsoft.com/office/drawing/2014/main" id="{A094E1DA-A836-46CD-AED7-7B53B7F761BA}"/>
              </a:ext>
            </a:extLst>
          </p:cNvPr>
          <p:cNvSpPr txBox="1"/>
          <p:nvPr/>
        </p:nvSpPr>
        <p:spPr>
          <a:xfrm>
            <a:off x="2461030" y="4292184"/>
            <a:ext cx="1563248" cy="707886"/>
          </a:xfrm>
          <a:prstGeom prst="rect">
            <a:avLst/>
          </a:prstGeom>
          <a:noFill/>
        </p:spPr>
        <p:txBody>
          <a:bodyPr wrap="none" rtlCol="0">
            <a:spAutoFit/>
          </a:bodyPr>
          <a:lstStyle/>
          <a:p>
            <a:pPr algn="l"/>
            <a:r>
              <a:rPr kumimoji="1" lang="en-US" altLang="ja-JP" sz="2000" dirty="0" err="1">
                <a:latin typeface="メイリオ" panose="020B0604030504040204" pitchFamily="50" charset="-128"/>
                <a:ea typeface="メイリオ" panose="020B0604030504040204" pitchFamily="50" charset="-128"/>
              </a:rPr>
              <a:t>Max_depth</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：小</a:t>
            </a:r>
          </a:p>
        </p:txBody>
      </p:sp>
      <p:sp>
        <p:nvSpPr>
          <p:cNvPr id="22" name="吹き出し: 左右矢印 21">
            <a:extLst>
              <a:ext uri="{FF2B5EF4-FFF2-40B4-BE49-F238E27FC236}">
                <a16:creationId xmlns:a16="http://schemas.microsoft.com/office/drawing/2014/main" id="{2D007880-9234-41F9-B08D-BD82FDB29ADE}"/>
              </a:ext>
            </a:extLst>
          </p:cNvPr>
          <p:cNvSpPr/>
          <p:nvPr/>
        </p:nvSpPr>
        <p:spPr>
          <a:xfrm>
            <a:off x="4059155" y="2775703"/>
            <a:ext cx="3358829" cy="880606"/>
          </a:xfrm>
          <a:prstGeom prst="leftRightArrowCallout">
            <a:avLst>
              <a:gd name="adj1" fmla="val 40802"/>
              <a:gd name="adj2" fmla="val 28386"/>
              <a:gd name="adj3" fmla="val 25000"/>
              <a:gd name="adj4" fmla="val 4812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吹き出し: 左右矢印 23">
            <a:extLst>
              <a:ext uri="{FF2B5EF4-FFF2-40B4-BE49-F238E27FC236}">
                <a16:creationId xmlns:a16="http://schemas.microsoft.com/office/drawing/2014/main" id="{A57013D9-7901-4C53-A561-614288A69519}"/>
              </a:ext>
            </a:extLst>
          </p:cNvPr>
          <p:cNvSpPr/>
          <p:nvPr/>
        </p:nvSpPr>
        <p:spPr>
          <a:xfrm>
            <a:off x="4116989" y="4153383"/>
            <a:ext cx="3358829" cy="880606"/>
          </a:xfrm>
          <a:prstGeom prst="leftRightArrowCallout">
            <a:avLst>
              <a:gd name="adj1" fmla="val 40802"/>
              <a:gd name="adj2" fmla="val 28386"/>
              <a:gd name="adj3" fmla="val 25000"/>
              <a:gd name="adj4" fmla="val 4812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C7D4ED0D-8160-468C-BA35-CA665F5DC79B}"/>
              </a:ext>
            </a:extLst>
          </p:cNvPr>
          <p:cNvSpPr txBox="1"/>
          <p:nvPr/>
        </p:nvSpPr>
        <p:spPr>
          <a:xfrm>
            <a:off x="7475818" y="2721939"/>
            <a:ext cx="1980029" cy="400110"/>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特徴量の選択数</a:t>
            </a:r>
          </a:p>
        </p:txBody>
      </p:sp>
      <p:sp>
        <p:nvSpPr>
          <p:cNvPr id="8" name="テキスト ボックス 7">
            <a:extLst>
              <a:ext uri="{FF2B5EF4-FFF2-40B4-BE49-F238E27FC236}">
                <a16:creationId xmlns:a16="http://schemas.microsoft.com/office/drawing/2014/main" id="{2BF40CB6-03F8-6EF9-7293-34CF8049FF00}"/>
              </a:ext>
            </a:extLst>
          </p:cNvPr>
          <p:cNvSpPr txBox="1"/>
          <p:nvPr/>
        </p:nvSpPr>
        <p:spPr>
          <a:xfrm>
            <a:off x="458346" y="1039864"/>
            <a:ext cx="8533105" cy="830997"/>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モデルの複雑性が大きくなるほど過学習の傾向が高くなる</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モデルの複雑性を制御するものは機械学習によって異なる</a:t>
            </a:r>
          </a:p>
        </p:txBody>
      </p:sp>
      <p:sp>
        <p:nvSpPr>
          <p:cNvPr id="18" name="テキスト ボックス 17">
            <a:extLst>
              <a:ext uri="{FF2B5EF4-FFF2-40B4-BE49-F238E27FC236}">
                <a16:creationId xmlns:a16="http://schemas.microsoft.com/office/drawing/2014/main" id="{3865AEB1-036A-31D8-B768-1A3086DB66DC}"/>
              </a:ext>
            </a:extLst>
          </p:cNvPr>
          <p:cNvSpPr txBox="1"/>
          <p:nvPr/>
        </p:nvSpPr>
        <p:spPr>
          <a:xfrm>
            <a:off x="7684208" y="4326103"/>
            <a:ext cx="1563248" cy="707886"/>
          </a:xfrm>
          <a:prstGeom prst="rect">
            <a:avLst/>
          </a:prstGeom>
          <a:noFill/>
        </p:spPr>
        <p:txBody>
          <a:bodyPr wrap="none" rtlCol="0">
            <a:spAutoFit/>
          </a:bodyPr>
          <a:lstStyle/>
          <a:p>
            <a:pPr algn="l"/>
            <a:r>
              <a:rPr kumimoji="1" lang="en-US" altLang="ja-JP" sz="2000" dirty="0" err="1">
                <a:latin typeface="メイリオ" panose="020B0604030504040204" pitchFamily="50" charset="-128"/>
                <a:ea typeface="メイリオ" panose="020B0604030504040204" pitchFamily="50" charset="-128"/>
              </a:rPr>
              <a:t>Max_depth</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：大</a:t>
            </a:r>
          </a:p>
        </p:txBody>
      </p:sp>
    </p:spTree>
    <p:extLst>
      <p:ext uri="{BB962C8B-B14F-4D97-AF65-F5344CB8AC3E}">
        <p14:creationId xmlns:p14="http://schemas.microsoft.com/office/powerpoint/2010/main" val="126210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1634B65-2178-7FE1-1246-2CE2A0DF982C}"/>
              </a:ext>
            </a:extLst>
          </p:cNvPr>
          <p:cNvSpPr txBox="1"/>
          <p:nvPr/>
        </p:nvSpPr>
        <p:spPr>
          <a:xfrm>
            <a:off x="871268" y="2734574"/>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演習</a:t>
            </a:r>
          </a:p>
        </p:txBody>
      </p:sp>
    </p:spTree>
    <p:extLst>
      <p:ext uri="{BB962C8B-B14F-4D97-AF65-F5344CB8AC3E}">
        <p14:creationId xmlns:p14="http://schemas.microsoft.com/office/powerpoint/2010/main" val="1425260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FB55E86-E9EF-8D05-F519-50D12096526F}"/>
              </a:ext>
            </a:extLst>
          </p:cNvPr>
          <p:cNvSpPr txBox="1"/>
          <p:nvPr/>
        </p:nvSpPr>
        <p:spPr>
          <a:xfrm>
            <a:off x="707367" y="836762"/>
            <a:ext cx="5322291"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Iris dataset</a:t>
            </a:r>
            <a:r>
              <a:rPr kumimoji="1" lang="ja-JP" altLang="en-US" sz="3200" dirty="0">
                <a:latin typeface="メイリオ" panose="020B0604030504040204" pitchFamily="50" charset="-128"/>
                <a:ea typeface="メイリオ" panose="020B0604030504040204" pitchFamily="50" charset="-128"/>
              </a:rPr>
              <a:t>を決定木で分類</a:t>
            </a:r>
          </a:p>
        </p:txBody>
      </p:sp>
      <p:sp>
        <p:nvSpPr>
          <p:cNvPr id="3" name="テキスト ボックス 2">
            <a:extLst>
              <a:ext uri="{FF2B5EF4-FFF2-40B4-BE49-F238E27FC236}">
                <a16:creationId xmlns:a16="http://schemas.microsoft.com/office/drawing/2014/main" id="{C470FE83-8D98-C710-586F-E09ABC83C60B}"/>
              </a:ext>
            </a:extLst>
          </p:cNvPr>
          <p:cNvSpPr txBox="1"/>
          <p:nvPr/>
        </p:nvSpPr>
        <p:spPr>
          <a:xfrm>
            <a:off x="526212" y="2035835"/>
            <a:ext cx="11267856" cy="1938992"/>
          </a:xfrm>
          <a:prstGeom prst="rect">
            <a:avLst/>
          </a:prstGeom>
          <a:noFill/>
        </p:spPr>
        <p:txBody>
          <a:bodyPr wrap="square" rtlCol="0">
            <a:spAutoFit/>
          </a:bodyPr>
          <a:lstStyle/>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3</a:t>
            </a:r>
            <a:r>
              <a:rPr kumimoji="1" lang="ja-JP" altLang="en-US" sz="2400" dirty="0">
                <a:latin typeface="メイリオ" panose="020B0604030504040204" pitchFamily="50" charset="-128"/>
                <a:ea typeface="メイリオ" panose="020B0604030504040204" pitchFamily="50" charset="-128"/>
              </a:rPr>
              <a:t>品種の分類だが、今までの平面上のプロットが</a:t>
            </a:r>
            <a:r>
              <a:rPr kumimoji="1" lang="en-US" altLang="ja-JP" sz="2400" dirty="0">
                <a:latin typeface="メイリオ" panose="020B0604030504040204" pitchFamily="50" charset="-128"/>
                <a:ea typeface="メイリオ" panose="020B0604030504040204" pitchFamily="50" charset="-128"/>
              </a:rPr>
              <a:t>3</a:t>
            </a:r>
            <a:r>
              <a:rPr kumimoji="1" lang="ja-JP" altLang="en-US" sz="2400" dirty="0">
                <a:latin typeface="メイリオ" panose="020B0604030504040204" pitchFamily="50" charset="-128"/>
                <a:ea typeface="メイリオ" panose="020B0604030504040204" pitchFamily="50" charset="-128"/>
              </a:rPr>
              <a:t>色であれば同じことになる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つまり</a:t>
            </a:r>
            <a:r>
              <a:rPr kumimoji="1" lang="en-US" altLang="ja-JP" sz="2400" dirty="0">
                <a:latin typeface="メイリオ" panose="020B0604030504040204" pitchFamily="50" charset="-128"/>
                <a:ea typeface="メイリオ" panose="020B0604030504040204" pitchFamily="50" charset="-128"/>
              </a:rPr>
              <a:t>3</a:t>
            </a:r>
            <a:r>
              <a:rPr kumimoji="1" lang="ja-JP" altLang="en-US" sz="2400" dirty="0">
                <a:latin typeface="メイリオ" panose="020B0604030504040204" pitchFamily="50" charset="-128"/>
                <a:ea typeface="メイリオ" panose="020B0604030504040204" pitchFamily="50" charset="-128"/>
              </a:rPr>
              <a:t>色のプロットで縦（横）線を引いたときに純度が最大になる境界をみつける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特徴量は</a:t>
            </a:r>
            <a:r>
              <a:rPr kumimoji="1" lang="en-US" altLang="ja-JP" sz="2400" dirty="0">
                <a:latin typeface="メイリオ" panose="020B0604030504040204" pitchFamily="50" charset="-128"/>
                <a:ea typeface="メイリオ" panose="020B0604030504040204" pitchFamily="50" charset="-128"/>
              </a:rPr>
              <a:t>4</a:t>
            </a:r>
            <a:r>
              <a:rPr kumimoji="1" lang="ja-JP" altLang="en-US" sz="2400" dirty="0">
                <a:latin typeface="メイリオ" panose="020B0604030504040204" pitchFamily="50" charset="-128"/>
                <a:ea typeface="メイリオ" panose="020B0604030504040204" pitchFamily="50" charset="-128"/>
              </a:rPr>
              <a:t>次元だった。今までの例は</a:t>
            </a: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次元</a:t>
            </a:r>
            <a:r>
              <a:rPr kumimoji="1" lang="en-US" altLang="ja-JP" sz="2400" dirty="0">
                <a:latin typeface="メイリオ" panose="020B0604030504040204" pitchFamily="50" charset="-128"/>
                <a:ea typeface="メイリオ" panose="020B0604030504040204" pitchFamily="50" charset="-128"/>
              </a:rPr>
              <a:t>(X[0],X[1])</a:t>
            </a:r>
            <a:r>
              <a:rPr kumimoji="1" lang="ja-JP" altLang="en-US" sz="2400" dirty="0">
                <a:latin typeface="メイリオ" panose="020B0604030504040204" pitchFamily="50" charset="-128"/>
                <a:ea typeface="メイリオ" panose="020B0604030504040204" pitchFamily="50" charset="-128"/>
              </a:rPr>
              <a:t>。これを</a:t>
            </a:r>
            <a:r>
              <a:rPr kumimoji="1" lang="en-US" altLang="ja-JP" sz="2400" dirty="0">
                <a:latin typeface="メイリオ" panose="020B0604030504040204" pitchFamily="50" charset="-128"/>
                <a:ea typeface="メイリオ" panose="020B0604030504040204" pitchFamily="50" charset="-128"/>
              </a:rPr>
              <a:t>4</a:t>
            </a:r>
            <a:r>
              <a:rPr kumimoji="1" lang="ja-JP" altLang="en-US" sz="2400" dirty="0">
                <a:latin typeface="メイリオ" panose="020B0604030504040204" pitchFamily="50" charset="-128"/>
                <a:ea typeface="メイリオ" panose="020B0604030504040204" pitchFamily="50" charset="-128"/>
              </a:rPr>
              <a:t>次元空間に拡張して境界線を引くという意味では同じことをやっている</a:t>
            </a:r>
          </a:p>
        </p:txBody>
      </p:sp>
      <p:pic>
        <p:nvPicPr>
          <p:cNvPr id="5" name="Picture 2" descr="Jupyter Notebookの後継？Jupyter Labをつかってみた - いっきのblog">
            <a:extLst>
              <a:ext uri="{FF2B5EF4-FFF2-40B4-BE49-F238E27FC236}">
                <a16:creationId xmlns:a16="http://schemas.microsoft.com/office/drawing/2014/main" id="{9CA231FD-6CAB-DBA5-DDEC-793DF3444C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5900" y="394159"/>
            <a:ext cx="1047321" cy="1144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620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7977046-A043-49DD-9F2C-DED4910CC2B4}"/>
              </a:ext>
            </a:extLst>
          </p:cNvPr>
          <p:cNvSpPr txBox="1"/>
          <p:nvPr/>
        </p:nvSpPr>
        <p:spPr>
          <a:xfrm>
            <a:off x="372421" y="2652520"/>
            <a:ext cx="7305261" cy="523220"/>
          </a:xfrm>
          <a:prstGeom prst="rect">
            <a:avLst/>
          </a:prstGeom>
          <a:noFill/>
        </p:spPr>
        <p:txBody>
          <a:bodyPr wrap="square" rtlCol="0">
            <a:spAutoFit/>
          </a:bodyPr>
          <a:lstStyle/>
          <a:p>
            <a:pPr algn="l"/>
            <a:r>
              <a:rPr kumimoji="1" lang="ja-JP" altLang="en-US" sz="2800" dirty="0">
                <a:latin typeface="メイリオ" panose="020B0604030504040204" pitchFamily="50" charset="-128"/>
                <a:ea typeface="メイリオ" panose="020B0604030504040204" pitchFamily="50" charset="-128"/>
              </a:rPr>
              <a:t>自然言語データと決定木</a:t>
            </a:r>
          </a:p>
        </p:txBody>
      </p:sp>
    </p:spTree>
    <p:extLst>
      <p:ext uri="{BB962C8B-B14F-4D97-AF65-F5344CB8AC3E}">
        <p14:creationId xmlns:p14="http://schemas.microsoft.com/office/powerpoint/2010/main" val="169283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40055AC-55DA-716C-5100-DE04D37EE79D}"/>
              </a:ext>
            </a:extLst>
          </p:cNvPr>
          <p:cNvSpPr txBox="1"/>
          <p:nvPr/>
        </p:nvSpPr>
        <p:spPr>
          <a:xfrm>
            <a:off x="159729" y="210634"/>
            <a:ext cx="9397124"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プリン</a:t>
            </a:r>
            <a:r>
              <a:rPr kumimoji="1" lang="en-US" altLang="ja-JP" sz="3200" dirty="0">
                <a:latin typeface="メイリオ" panose="020B0604030504040204" pitchFamily="50" charset="-128"/>
                <a:ea typeface="メイリオ" panose="020B0604030504040204" pitchFamily="50" charset="-128"/>
              </a:rPr>
              <a:t>/</a:t>
            </a:r>
            <a:r>
              <a:rPr kumimoji="1" lang="ja-JP" altLang="en-US" sz="3200" dirty="0">
                <a:latin typeface="メイリオ" panose="020B0604030504040204" pitchFamily="50" charset="-128"/>
                <a:ea typeface="メイリオ" panose="020B0604030504040204" pitchFamily="50" charset="-128"/>
              </a:rPr>
              <a:t>シュークリームを食感の違いから分類する</a:t>
            </a:r>
          </a:p>
        </p:txBody>
      </p:sp>
      <p:pic>
        <p:nvPicPr>
          <p:cNvPr id="5" name="図 4">
            <a:extLst>
              <a:ext uri="{FF2B5EF4-FFF2-40B4-BE49-F238E27FC236}">
                <a16:creationId xmlns:a16="http://schemas.microsoft.com/office/drawing/2014/main" id="{52EE3D17-C3EF-3CB7-623E-8CFD9848F535}"/>
              </a:ext>
            </a:extLst>
          </p:cNvPr>
          <p:cNvPicPr>
            <a:picLocks noChangeAspect="1"/>
          </p:cNvPicPr>
          <p:nvPr/>
        </p:nvPicPr>
        <p:blipFill>
          <a:blip r:embed="rId2"/>
          <a:stretch>
            <a:fillRect/>
          </a:stretch>
        </p:blipFill>
        <p:spPr>
          <a:xfrm>
            <a:off x="159729" y="945874"/>
            <a:ext cx="2806844" cy="2590933"/>
          </a:xfrm>
          <a:prstGeom prst="rect">
            <a:avLst/>
          </a:prstGeom>
        </p:spPr>
      </p:pic>
      <p:pic>
        <p:nvPicPr>
          <p:cNvPr id="7" name="図 6">
            <a:extLst>
              <a:ext uri="{FF2B5EF4-FFF2-40B4-BE49-F238E27FC236}">
                <a16:creationId xmlns:a16="http://schemas.microsoft.com/office/drawing/2014/main" id="{D796FC73-297D-F64D-2BA9-8F6C997C6DD8}"/>
              </a:ext>
            </a:extLst>
          </p:cNvPr>
          <p:cNvPicPr>
            <a:picLocks noChangeAspect="1"/>
          </p:cNvPicPr>
          <p:nvPr/>
        </p:nvPicPr>
        <p:blipFill>
          <a:blip r:embed="rId3"/>
          <a:stretch>
            <a:fillRect/>
          </a:stretch>
        </p:blipFill>
        <p:spPr>
          <a:xfrm>
            <a:off x="3022129" y="945874"/>
            <a:ext cx="9169871" cy="4064209"/>
          </a:xfrm>
          <a:prstGeom prst="rect">
            <a:avLst/>
          </a:prstGeom>
        </p:spPr>
      </p:pic>
      <p:sp>
        <p:nvSpPr>
          <p:cNvPr id="3" name="テキスト ボックス 2">
            <a:extLst>
              <a:ext uri="{FF2B5EF4-FFF2-40B4-BE49-F238E27FC236}">
                <a16:creationId xmlns:a16="http://schemas.microsoft.com/office/drawing/2014/main" id="{6BF15F90-CB67-D3B9-AFC7-52F34F2D9BEE}"/>
              </a:ext>
            </a:extLst>
          </p:cNvPr>
          <p:cNvSpPr txBox="1"/>
          <p:nvPr/>
        </p:nvSpPr>
        <p:spPr>
          <a:xfrm>
            <a:off x="500332" y="4884504"/>
            <a:ext cx="10287628" cy="1938992"/>
          </a:xfrm>
          <a:prstGeom prst="rect">
            <a:avLst/>
          </a:prstGeom>
          <a:noFill/>
        </p:spPr>
        <p:txBody>
          <a:bodyPr wrap="square" rtlCol="0">
            <a:spAutoFit/>
          </a:bodyPr>
          <a:lstStyle/>
          <a:p>
            <a:r>
              <a:rPr lang="ja-JP" altLang="ja-JP" sz="2000" dirty="0">
                <a:latin typeface="メイリオ" panose="020B0604030504040204" pitchFamily="50" charset="-128"/>
                <a:ea typeface="メイリオ" panose="020B0604030504040204" pitchFamily="50" charset="-128"/>
              </a:rPr>
              <a:t>いつもオーブンで30分しますが、すが入るので19分にしたら</a:t>
            </a:r>
            <a:r>
              <a:rPr lang="ja-JP" altLang="ja-JP" sz="2000" u="sng" dirty="0">
                <a:latin typeface="メイリオ" panose="020B0604030504040204" pitchFamily="50" charset="-128"/>
                <a:ea typeface="メイリオ" panose="020B0604030504040204" pitchFamily="50" charset="-128"/>
              </a:rPr>
              <a:t>プルンプルン</a:t>
            </a:r>
            <a:r>
              <a:rPr lang="ja-JP" altLang="ja-JP" sz="2000" dirty="0">
                <a:latin typeface="メイリオ" panose="020B0604030504040204" pitchFamily="50" charset="-128"/>
                <a:ea typeface="メイリオ" panose="020B0604030504040204" pitchFamily="50" charset="-128"/>
              </a:rPr>
              <a:t>に出来て、美味しさに感激しました！また作ります！</a:t>
            </a:r>
            <a:endParaRPr lang="en-US" altLang="ja-JP" sz="2000" dirty="0">
              <a:latin typeface="メイリオ" panose="020B0604030504040204" pitchFamily="50" charset="-128"/>
              <a:ea typeface="メイリオ" panose="020B0604030504040204" pitchFamily="50" charset="-128"/>
            </a:endParaRPr>
          </a:p>
          <a:p>
            <a:endParaRPr kumimoji="1" lang="en-US" altLang="ja-JP" sz="2000" dirty="0">
              <a:latin typeface="メイリオ" panose="020B0604030504040204" pitchFamily="50" charset="-128"/>
              <a:ea typeface="メイリオ" panose="020B0604030504040204" pitchFamily="50" charset="-128"/>
            </a:endParaRPr>
          </a:p>
          <a:p>
            <a:r>
              <a:rPr lang="ja-JP" altLang="ja-JP" sz="2000" dirty="0">
                <a:latin typeface="メイリオ" panose="020B0604030504040204" pitchFamily="50" charset="-128"/>
                <a:ea typeface="メイリオ" panose="020B0604030504040204" pitchFamily="50" charset="-128"/>
              </a:rPr>
              <a:t>柔らか</a:t>
            </a:r>
            <a:r>
              <a:rPr lang="ja-JP" altLang="ja-JP" sz="2000" u="sng" dirty="0">
                <a:latin typeface="メイリオ" panose="020B0604030504040204" pitchFamily="50" charset="-128"/>
                <a:ea typeface="メイリオ" panose="020B0604030504040204" pitchFamily="50" charset="-128"/>
              </a:rPr>
              <a:t>とろとろ</a:t>
            </a:r>
            <a:r>
              <a:rPr lang="ja-JP" altLang="ja-JP" sz="2000" dirty="0">
                <a:latin typeface="メイリオ" panose="020B0604030504040204" pitchFamily="50" charset="-128"/>
                <a:ea typeface="メイリオ" panose="020B0604030504040204" pitchFamily="50" charset="-128"/>
              </a:rPr>
              <a:t>プリンができました♪</a:t>
            </a:r>
            <a:endParaRPr lang="en-US" altLang="ja-JP" sz="2000" dirty="0">
              <a:latin typeface="メイリオ" panose="020B0604030504040204" pitchFamily="50" charset="-128"/>
              <a:ea typeface="メイリオ" panose="020B0604030504040204" pitchFamily="50" charset="-128"/>
            </a:endParaRPr>
          </a:p>
          <a:p>
            <a:endParaRPr kumimoji="1" lang="en-US" altLang="ja-JP" sz="2000" dirty="0">
              <a:latin typeface="メイリオ" panose="020B0604030504040204" pitchFamily="50" charset="-128"/>
              <a:ea typeface="メイリオ" panose="020B0604030504040204" pitchFamily="50" charset="-128"/>
            </a:endParaRPr>
          </a:p>
          <a:p>
            <a:r>
              <a:rPr lang="ja-JP" altLang="ja-JP" sz="2000" dirty="0">
                <a:latin typeface="メイリオ" panose="020B0604030504040204" pitchFamily="50" charset="-128"/>
                <a:ea typeface="メイリオ" panose="020B0604030504040204" pitchFamily="50" charset="-128"/>
              </a:rPr>
              <a:t>鍋にお湯張り3分→15分放置で、</a:t>
            </a:r>
            <a:r>
              <a:rPr lang="ja-JP" altLang="ja-JP" sz="2000" u="sng" dirty="0">
                <a:latin typeface="メイリオ" panose="020B0604030504040204" pitchFamily="50" charset="-128"/>
                <a:ea typeface="メイリオ" panose="020B0604030504040204" pitchFamily="50" charset="-128"/>
              </a:rPr>
              <a:t>ふるんふるん</a:t>
            </a:r>
            <a:r>
              <a:rPr lang="ja-JP" altLang="ja-JP" sz="2000" dirty="0">
                <a:latin typeface="メイリオ" panose="020B0604030504040204" pitchFamily="50" charset="-128"/>
                <a:ea typeface="メイリオ" panose="020B0604030504040204" pitchFamily="50" charset="-128"/>
              </a:rPr>
              <a:t>♪レシピありがとうございます♡</a:t>
            </a:r>
            <a:endParaRPr kumimoji="1" lang="ja-JP" altLang="en-US" sz="20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FC41CFF-518A-D398-889F-F9D85B5FCAA0}"/>
              </a:ext>
            </a:extLst>
          </p:cNvPr>
          <p:cNvSpPr txBox="1"/>
          <p:nvPr/>
        </p:nvSpPr>
        <p:spPr>
          <a:xfrm>
            <a:off x="310548" y="4433866"/>
            <a:ext cx="4801314" cy="461665"/>
          </a:xfrm>
          <a:prstGeom prst="rect">
            <a:avLst/>
          </a:prstGeom>
          <a:noFill/>
        </p:spPr>
        <p:txBody>
          <a:bodyPr wrap="none" rtlCol="0">
            <a:spAutoFit/>
          </a:bodyPr>
          <a:lstStyle/>
          <a:p>
            <a:pPr algn="l"/>
            <a:r>
              <a:rPr kumimoji="1" lang="ja-JP" altLang="en-US" sz="2400" b="1" dirty="0">
                <a:latin typeface="メイリオ" panose="020B0604030504040204" pitchFamily="50" charset="-128"/>
                <a:ea typeface="メイリオ" panose="020B0604030504040204" pitchFamily="50" charset="-128"/>
              </a:rPr>
              <a:t>つくれぽから食感語彙を取り出す</a:t>
            </a:r>
          </a:p>
        </p:txBody>
      </p:sp>
      <p:sp>
        <p:nvSpPr>
          <p:cNvPr id="9" name="正方形/長方形 8">
            <a:extLst>
              <a:ext uri="{FF2B5EF4-FFF2-40B4-BE49-F238E27FC236}">
                <a16:creationId xmlns:a16="http://schemas.microsoft.com/office/drawing/2014/main" id="{770CE52D-568D-A266-56E7-F76A58A926B6}"/>
              </a:ext>
            </a:extLst>
          </p:cNvPr>
          <p:cNvSpPr/>
          <p:nvPr/>
        </p:nvSpPr>
        <p:spPr>
          <a:xfrm>
            <a:off x="379562" y="4843775"/>
            <a:ext cx="10696755" cy="193899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59572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055B722-D000-FEA2-0308-FC4184089A23}"/>
              </a:ext>
            </a:extLst>
          </p:cNvPr>
          <p:cNvSpPr txBox="1"/>
          <p:nvPr/>
        </p:nvSpPr>
        <p:spPr>
          <a:xfrm>
            <a:off x="474454" y="465827"/>
            <a:ext cx="387798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データセットを確認</a:t>
            </a:r>
          </a:p>
        </p:txBody>
      </p:sp>
      <p:sp>
        <p:nvSpPr>
          <p:cNvPr id="3" name="テキスト ボックス 2">
            <a:extLst>
              <a:ext uri="{FF2B5EF4-FFF2-40B4-BE49-F238E27FC236}">
                <a16:creationId xmlns:a16="http://schemas.microsoft.com/office/drawing/2014/main" id="{2C6A2ED4-6537-1A6B-52AE-CE904F6F6923}"/>
              </a:ext>
            </a:extLst>
          </p:cNvPr>
          <p:cNvSpPr txBox="1"/>
          <p:nvPr/>
        </p:nvSpPr>
        <p:spPr>
          <a:xfrm>
            <a:off x="524262" y="1362974"/>
            <a:ext cx="4094006" cy="461665"/>
          </a:xfrm>
          <a:prstGeom prst="rect">
            <a:avLst/>
          </a:prstGeom>
          <a:noFill/>
        </p:spPr>
        <p:txBody>
          <a:bodyPr wrap="none" rtlCol="0">
            <a:spAutoFit/>
          </a:bodyPr>
          <a:lstStyle/>
          <a:p>
            <a:r>
              <a:rPr kumimoji="1" lang="en-US" altLang="ja-JP" sz="2400" dirty="0">
                <a:latin typeface="メイリオ" panose="020B0604030504040204" pitchFamily="50" charset="-128"/>
                <a:ea typeface="メイリオ" panose="020B0604030504040204" pitchFamily="50" charset="-128"/>
              </a:rPr>
              <a:t>cookpad_texture_bow.csv</a:t>
            </a:r>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916BF17E-6D3D-52F7-8F0C-F026AEC335AD}"/>
              </a:ext>
            </a:extLst>
          </p:cNvPr>
          <p:cNvSpPr txBox="1"/>
          <p:nvPr/>
        </p:nvSpPr>
        <p:spPr>
          <a:xfrm>
            <a:off x="629729" y="2242868"/>
            <a:ext cx="8526693" cy="1200329"/>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レシピ数：約</a:t>
            </a:r>
            <a:r>
              <a:rPr kumimoji="1" lang="en-US" altLang="ja-JP" sz="2400" dirty="0">
                <a:latin typeface="メイリオ" panose="020B0604030504040204" pitchFamily="50" charset="-128"/>
                <a:ea typeface="メイリオ" panose="020B0604030504040204" pitchFamily="50" charset="-128"/>
              </a:rPr>
              <a:t>380</a:t>
            </a:r>
            <a:r>
              <a:rPr kumimoji="1" lang="ja-JP" altLang="en-US" sz="2400" dirty="0">
                <a:latin typeface="メイリオ" panose="020B0604030504040204" pitchFamily="50" charset="-128"/>
                <a:ea typeface="メイリオ" panose="020B0604030504040204" pitchFamily="50" charset="-128"/>
              </a:rPr>
              <a:t>件</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教師ラベル：プリン</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シュークリーム</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特徴量：</a:t>
            </a:r>
            <a:r>
              <a:rPr kumimoji="1" lang="en-US" altLang="ja-JP" sz="2400" dirty="0">
                <a:latin typeface="メイリオ" panose="020B0604030504040204" pitchFamily="50" charset="-128"/>
                <a:ea typeface="メイリオ" panose="020B0604030504040204" pitchFamily="50" charset="-128"/>
              </a:rPr>
              <a:t>24</a:t>
            </a:r>
            <a:r>
              <a:rPr kumimoji="1" lang="ja-JP" altLang="en-US" sz="2400" dirty="0">
                <a:latin typeface="メイリオ" panose="020B0604030504040204" pitchFamily="50" charset="-128"/>
                <a:ea typeface="メイリオ" panose="020B0604030504040204" pitchFamily="50" charset="-128"/>
              </a:rPr>
              <a:t>種類の食感語彙（該当があれば</a:t>
            </a:r>
            <a:r>
              <a:rPr kumimoji="1" lang="en-US" altLang="ja-JP" sz="2400" dirty="0">
                <a:latin typeface="メイリオ" panose="020B0604030504040204" pitchFamily="50" charset="-128"/>
                <a:ea typeface="メイリオ" panose="020B0604030504040204" pitchFamily="50" charset="-128"/>
              </a:rPr>
              <a:t>1, </a:t>
            </a:r>
            <a:r>
              <a:rPr kumimoji="1" lang="ja-JP" altLang="en-US" sz="2400" dirty="0">
                <a:latin typeface="メイリオ" panose="020B0604030504040204" pitchFamily="50" charset="-128"/>
                <a:ea typeface="メイリオ" panose="020B0604030504040204" pitchFamily="50" charset="-128"/>
              </a:rPr>
              <a:t>なければ</a:t>
            </a:r>
            <a:r>
              <a:rPr kumimoji="1" lang="en-US" altLang="ja-JP" sz="2400" dirty="0">
                <a:latin typeface="メイリオ" panose="020B0604030504040204" pitchFamily="50" charset="-128"/>
                <a:ea typeface="メイリオ" panose="020B0604030504040204" pitchFamily="50" charset="-128"/>
              </a:rPr>
              <a:t>0)</a:t>
            </a:r>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297ECD2B-FB36-9001-A867-0043E05118BF}"/>
              </a:ext>
            </a:extLst>
          </p:cNvPr>
          <p:cNvSpPr txBox="1"/>
          <p:nvPr/>
        </p:nvSpPr>
        <p:spPr>
          <a:xfrm>
            <a:off x="1095555" y="4692770"/>
            <a:ext cx="901240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食感からプリン </a:t>
            </a:r>
            <a:r>
              <a:rPr kumimoji="1" lang="en-US" altLang="ja-JP" sz="2400" dirty="0">
                <a:latin typeface="メイリオ" panose="020B0604030504040204" pitchFamily="50" charset="-128"/>
                <a:ea typeface="メイリオ" panose="020B0604030504040204" pitchFamily="50" charset="-128"/>
              </a:rPr>
              <a:t>or </a:t>
            </a:r>
            <a:r>
              <a:rPr kumimoji="1" lang="ja-JP" altLang="en-US" sz="2400" dirty="0">
                <a:latin typeface="メイリオ" panose="020B0604030504040204" pitchFamily="50" charset="-128"/>
                <a:ea typeface="メイリオ" panose="020B0604030504040204" pitchFamily="50" charset="-128"/>
              </a:rPr>
              <a:t>シュークリームを予測できるように学習する</a:t>
            </a:r>
          </a:p>
        </p:txBody>
      </p:sp>
      <p:sp>
        <p:nvSpPr>
          <p:cNvPr id="6" name="矢印: 下 5">
            <a:extLst>
              <a:ext uri="{FF2B5EF4-FFF2-40B4-BE49-F238E27FC236}">
                <a16:creationId xmlns:a16="http://schemas.microsoft.com/office/drawing/2014/main" id="{60A789DA-59DA-D021-A455-4D7AF011FF3A}"/>
              </a:ext>
            </a:extLst>
          </p:cNvPr>
          <p:cNvSpPr/>
          <p:nvPr/>
        </p:nvSpPr>
        <p:spPr>
          <a:xfrm>
            <a:off x="4804913" y="3795623"/>
            <a:ext cx="1630393" cy="500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89783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EEADE5C-1039-0BDE-0DA7-AD23441E965F}"/>
              </a:ext>
            </a:extLst>
          </p:cNvPr>
          <p:cNvPicPr>
            <a:picLocks noChangeAspect="1"/>
          </p:cNvPicPr>
          <p:nvPr/>
        </p:nvPicPr>
        <p:blipFill>
          <a:blip r:embed="rId2"/>
          <a:stretch>
            <a:fillRect/>
          </a:stretch>
        </p:blipFill>
        <p:spPr>
          <a:xfrm>
            <a:off x="2276669" y="2010411"/>
            <a:ext cx="9015732" cy="2843346"/>
          </a:xfrm>
          <a:prstGeom prst="rect">
            <a:avLst/>
          </a:prstGeom>
        </p:spPr>
      </p:pic>
      <p:sp>
        <p:nvSpPr>
          <p:cNvPr id="7" name="テキスト ボックス 6">
            <a:extLst>
              <a:ext uri="{FF2B5EF4-FFF2-40B4-BE49-F238E27FC236}">
                <a16:creationId xmlns:a16="http://schemas.microsoft.com/office/drawing/2014/main" id="{E77C404E-29A4-87E7-0ED0-83EBF07BD127}"/>
              </a:ext>
            </a:extLst>
          </p:cNvPr>
          <p:cNvSpPr txBox="1"/>
          <p:nvPr/>
        </p:nvSpPr>
        <p:spPr>
          <a:xfrm>
            <a:off x="0" y="191329"/>
            <a:ext cx="10099240" cy="584775"/>
          </a:xfrm>
          <a:prstGeom prst="rect">
            <a:avLst/>
          </a:prstGeom>
          <a:noFill/>
        </p:spPr>
        <p:txBody>
          <a:bodyPr wrap="none" rtlCol="0">
            <a:spAutoFit/>
          </a:bodyPr>
          <a:lstStyle/>
          <a:p>
            <a:pPr algn="l"/>
            <a:r>
              <a:rPr kumimoji="1" lang="en-US" altLang="ja-JP" sz="3200" b="1" dirty="0" err="1">
                <a:latin typeface="メイリオ" panose="020B0604030504040204" pitchFamily="50" charset="-128"/>
                <a:ea typeface="メイリオ" panose="020B0604030504040204" pitchFamily="50" charset="-128"/>
              </a:rPr>
              <a:t>Cookpad</a:t>
            </a:r>
            <a:r>
              <a:rPr kumimoji="1" lang="ja-JP" altLang="en-US" sz="3200" b="1" dirty="0">
                <a:latin typeface="メイリオ" panose="020B0604030504040204" pitchFamily="50" charset="-128"/>
                <a:ea typeface="メイリオ" panose="020B0604030504040204" pitchFamily="50" charset="-128"/>
              </a:rPr>
              <a:t>食感にもとづくプリン</a:t>
            </a:r>
            <a:r>
              <a:rPr kumimoji="1" lang="en-US" altLang="ja-JP" sz="3200" b="1" dirty="0">
                <a:latin typeface="メイリオ" panose="020B0604030504040204" pitchFamily="50" charset="-128"/>
                <a:ea typeface="メイリオ" panose="020B0604030504040204" pitchFamily="50" charset="-128"/>
              </a:rPr>
              <a:t>/</a:t>
            </a:r>
            <a:r>
              <a:rPr kumimoji="1" lang="ja-JP" altLang="en-US" sz="3200" b="1" dirty="0">
                <a:latin typeface="メイリオ" panose="020B0604030504040204" pitchFamily="50" charset="-128"/>
                <a:ea typeface="メイリオ" panose="020B0604030504040204" pitchFamily="50" charset="-128"/>
              </a:rPr>
              <a:t>シュークリーム判別</a:t>
            </a:r>
          </a:p>
        </p:txBody>
      </p:sp>
      <p:sp>
        <p:nvSpPr>
          <p:cNvPr id="8" name="テキスト ボックス 7">
            <a:extLst>
              <a:ext uri="{FF2B5EF4-FFF2-40B4-BE49-F238E27FC236}">
                <a16:creationId xmlns:a16="http://schemas.microsoft.com/office/drawing/2014/main" id="{E4C8C084-EFAD-31E1-EA35-EE60D49D3A5D}"/>
              </a:ext>
            </a:extLst>
          </p:cNvPr>
          <p:cNvSpPr txBox="1"/>
          <p:nvPr/>
        </p:nvSpPr>
        <p:spPr>
          <a:xfrm>
            <a:off x="305273" y="864744"/>
            <a:ext cx="7712368" cy="1631216"/>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ツリーノードに決定境界の特徴量（食感語彙）を表示している</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色の違いは判別結果（プリン、シュークリーム）の違い</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色の濃淡は、確からしさ（判別領域における純度）を示す</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ツリーは訓練データの学習結果を表していることに注意</a:t>
            </a:r>
            <a:endParaRPr kumimoji="1" lang="en-US" altLang="ja-JP" sz="2000" dirty="0">
              <a:latin typeface="メイリオ" panose="020B0604030504040204" pitchFamily="50" charset="-128"/>
              <a:ea typeface="メイリオ" panose="020B0604030504040204" pitchFamily="50" charset="-128"/>
            </a:endParaRPr>
          </a:p>
          <a:p>
            <a:pPr algn="l"/>
            <a:endParaRPr kumimoji="1" lang="en-US" altLang="ja-JP" sz="20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BE371DD8-85C1-13E1-8ED4-404B74CD1961}"/>
              </a:ext>
            </a:extLst>
          </p:cNvPr>
          <p:cNvSpPr txBox="1"/>
          <p:nvPr/>
        </p:nvSpPr>
        <p:spPr>
          <a:xfrm>
            <a:off x="4875639" y="2993499"/>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D9AFD32E-C7B1-491F-22DB-C4E408DAADC9}"/>
              </a:ext>
            </a:extLst>
          </p:cNvPr>
          <p:cNvSpPr txBox="1"/>
          <p:nvPr/>
        </p:nvSpPr>
        <p:spPr>
          <a:xfrm>
            <a:off x="8271982" y="2998164"/>
            <a:ext cx="9387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a:t>
            </a:r>
            <a:endParaRPr kumimoji="1" lang="ja-JP" altLang="en-US" sz="2400"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F32BB29-47AF-7689-8C84-876DB6E06881}"/>
              </a:ext>
            </a:extLst>
          </p:cNvPr>
          <p:cNvSpPr txBox="1"/>
          <p:nvPr/>
        </p:nvSpPr>
        <p:spPr>
          <a:xfrm>
            <a:off x="1827490" y="5351296"/>
            <a:ext cx="9914090"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ツリーの上から下に向けて各料理がどのような食感特徴で判別されたかを意味解釈できる</a:t>
            </a:r>
          </a:p>
        </p:txBody>
      </p:sp>
      <p:pic>
        <p:nvPicPr>
          <p:cNvPr id="2" name="Picture 2" descr="Jupyter Notebookの後継？Jupyter Labをつかってみた - いっきのblog">
            <a:extLst>
              <a:ext uri="{FF2B5EF4-FFF2-40B4-BE49-F238E27FC236}">
                <a16:creationId xmlns:a16="http://schemas.microsoft.com/office/drawing/2014/main" id="{F4B11288-C074-31B1-D949-33641EFCD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6105" y="1046542"/>
            <a:ext cx="1047321" cy="1144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250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5769BB81-5366-BE95-C3E3-4F57BE25F7BB}"/>
              </a:ext>
            </a:extLst>
          </p:cNvPr>
          <p:cNvPicPr>
            <a:picLocks noChangeAspect="1"/>
          </p:cNvPicPr>
          <p:nvPr/>
        </p:nvPicPr>
        <p:blipFill>
          <a:blip r:embed="rId2"/>
          <a:stretch>
            <a:fillRect/>
          </a:stretch>
        </p:blipFill>
        <p:spPr>
          <a:xfrm>
            <a:off x="573026" y="3076200"/>
            <a:ext cx="11045947" cy="3483627"/>
          </a:xfrm>
          <a:prstGeom prst="rect">
            <a:avLst/>
          </a:prstGeom>
        </p:spPr>
      </p:pic>
      <p:sp>
        <p:nvSpPr>
          <p:cNvPr id="2" name="テキスト ボックス 1">
            <a:extLst>
              <a:ext uri="{FF2B5EF4-FFF2-40B4-BE49-F238E27FC236}">
                <a16:creationId xmlns:a16="http://schemas.microsoft.com/office/drawing/2014/main" id="{0920AEBB-3131-4F12-9EAB-EF97A7173737}"/>
              </a:ext>
            </a:extLst>
          </p:cNvPr>
          <p:cNvSpPr txBox="1"/>
          <p:nvPr/>
        </p:nvSpPr>
        <p:spPr>
          <a:xfrm>
            <a:off x="192163" y="189128"/>
            <a:ext cx="9212778"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木を見ると各特徴量がどう判別に効くかがわかる</a:t>
            </a:r>
          </a:p>
        </p:txBody>
      </p:sp>
      <p:sp>
        <p:nvSpPr>
          <p:cNvPr id="5" name="テキスト ボックス 4">
            <a:extLst>
              <a:ext uri="{FF2B5EF4-FFF2-40B4-BE49-F238E27FC236}">
                <a16:creationId xmlns:a16="http://schemas.microsoft.com/office/drawing/2014/main" id="{88F7685D-5EE2-4485-9F19-1FBA8BA96A0D}"/>
              </a:ext>
            </a:extLst>
          </p:cNvPr>
          <p:cNvSpPr txBox="1"/>
          <p:nvPr/>
        </p:nvSpPr>
        <p:spPr>
          <a:xfrm>
            <a:off x="4033204" y="4204058"/>
            <a:ext cx="845681"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1AFB6BD8-3F96-4A66-9FFC-5FA126F97054}"/>
              </a:ext>
            </a:extLst>
          </p:cNvPr>
          <p:cNvSpPr txBox="1"/>
          <p:nvPr/>
        </p:nvSpPr>
        <p:spPr>
          <a:xfrm>
            <a:off x="7735957" y="4319885"/>
            <a:ext cx="104297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 </a:t>
            </a:r>
            <a:endParaRPr kumimoji="1" lang="ja-JP" altLang="en-US"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18A1CBC-8983-4332-BF99-E43292F85731}"/>
              </a:ext>
            </a:extLst>
          </p:cNvPr>
          <p:cNvSpPr txBox="1"/>
          <p:nvPr/>
        </p:nvSpPr>
        <p:spPr>
          <a:xfrm>
            <a:off x="433986" y="921967"/>
            <a:ext cx="10950461" cy="2246769"/>
          </a:xfrm>
          <a:prstGeom prst="rect">
            <a:avLst/>
          </a:prstGeom>
          <a:noFill/>
        </p:spPr>
        <p:txBody>
          <a:bodyPr wrap="square" rtlCol="0">
            <a:spAutoFit/>
          </a:bodyPr>
          <a:lstStyle/>
          <a:p>
            <a:pPr marL="457200" indent="-457200">
              <a:buFont typeface="+mj-lt"/>
              <a:buAutoNum type="arabicPeriod"/>
            </a:pPr>
            <a:r>
              <a:rPr kumimoji="1" lang="en-US" altLang="ja-JP" sz="2000" dirty="0">
                <a:latin typeface="メイリオ" panose="020B0604030504040204" pitchFamily="50" charset="-128"/>
                <a:ea typeface="メイリオ" panose="020B0604030504040204" pitchFamily="50" charset="-128"/>
              </a:rPr>
              <a:t>&lt;=</a:t>
            </a:r>
            <a:r>
              <a:rPr kumimoji="1" lang="ja-JP" altLang="en-US" sz="2000" dirty="0">
                <a:latin typeface="メイリオ" panose="020B0604030504040204" pitchFamily="50" charset="-128"/>
                <a:ea typeface="メイリオ" panose="020B0604030504040204" pitchFamily="50" charset="-128"/>
              </a:rPr>
              <a:t>は純度を最大化する判別境界を意味する（なのでリーフには表示されない）</a:t>
            </a:r>
            <a:endParaRPr kumimoji="1"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en-US" altLang="ja-JP" sz="2000" dirty="0">
                <a:latin typeface="メイリオ" panose="020B0604030504040204" pitchFamily="50" charset="-128"/>
                <a:ea typeface="メイリオ" panose="020B0604030504040204" pitchFamily="50" charset="-128"/>
              </a:rPr>
              <a:t>samples= </a:t>
            </a:r>
            <a:r>
              <a:rPr kumimoji="1" lang="ja-JP" altLang="en-US" sz="2000" dirty="0">
                <a:latin typeface="メイリオ" panose="020B0604030504040204" pitchFamily="50" charset="-128"/>
                <a:ea typeface="メイリオ" panose="020B0604030504040204" pitchFamily="50" charset="-128"/>
              </a:rPr>
              <a:t>上位ノードでの判別の結果分類された総サンプル数</a:t>
            </a:r>
            <a:endParaRPr kumimoji="1" lang="en-US" altLang="ja-JP" sz="20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en-US" altLang="ja-JP" sz="2000" dirty="0">
                <a:latin typeface="メイリオ" panose="020B0604030504040204" pitchFamily="50" charset="-128"/>
                <a:ea typeface="メイリオ" panose="020B0604030504040204" pitchFamily="50" charset="-128"/>
              </a:rPr>
              <a:t>value = </a:t>
            </a:r>
            <a:r>
              <a:rPr kumimoji="1" lang="ja-JP" altLang="en-US" sz="2000" dirty="0">
                <a:latin typeface="メイリオ" panose="020B0604030504040204" pitchFamily="50" charset="-128"/>
                <a:ea typeface="メイリオ" panose="020B0604030504040204" pitchFamily="50" charset="-128"/>
              </a:rPr>
              <a:t>上記サンプル中の各ラベル内訳</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   </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プリンデータ数，シュークリームデータ数</a:t>
            </a:r>
            <a:r>
              <a:rPr kumimoji="1" lang="en-US" altLang="ja-JP" sz="2000" dirty="0">
                <a:latin typeface="メイリオ" panose="020B0604030504040204" pitchFamily="50" charset="-128"/>
                <a:ea typeface="メイリオ" panose="020B0604030504040204" pitchFamily="50" charset="-128"/>
              </a:rPr>
              <a:t>]</a:t>
            </a:r>
          </a:p>
          <a:p>
            <a:pPr algn="l"/>
            <a:r>
              <a:rPr kumimoji="1" lang="en-US" altLang="ja-JP" sz="2000" dirty="0">
                <a:latin typeface="メイリオ" panose="020B0604030504040204" pitchFamily="50" charset="-128"/>
                <a:ea typeface="メイリオ" panose="020B0604030504040204" pitchFamily="50" charset="-128"/>
              </a:rPr>
              <a:t>4.   </a:t>
            </a:r>
            <a:r>
              <a:rPr kumimoji="1" lang="en-US" altLang="ja-JP" sz="2000" dirty="0" err="1">
                <a:latin typeface="メイリオ" panose="020B0604030504040204" pitchFamily="50" charset="-128"/>
                <a:ea typeface="メイリオ" panose="020B0604030504040204" pitchFamily="50" charset="-128"/>
              </a:rPr>
              <a:t>gini</a:t>
            </a:r>
            <a:r>
              <a:rPr kumimoji="1" lang="en-US" altLang="ja-JP" sz="2000" dirty="0">
                <a:latin typeface="メイリオ" panose="020B0604030504040204" pitchFamily="50" charset="-128"/>
                <a:ea typeface="メイリオ" panose="020B0604030504040204" pitchFamily="50" charset="-128"/>
              </a:rPr>
              <a:t> = </a:t>
            </a:r>
            <a:r>
              <a:rPr kumimoji="1" lang="ja-JP" altLang="en-US" sz="2000" dirty="0">
                <a:latin typeface="メイリオ" panose="020B0604030504040204" pitchFamily="50" charset="-128"/>
                <a:ea typeface="メイリオ" panose="020B0604030504040204" pitchFamily="50" charset="-128"/>
              </a:rPr>
              <a:t>上位ノードでの判別結果の純度（値が小さいほど純度が高い）</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　つまりプリン</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シュークリームどちらかにうまく判別</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　純度が高いほど色が濃くなる</a:t>
            </a:r>
            <a:endParaRPr kumimoji="1" lang="en-US" altLang="ja-JP" sz="2000"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4D248F2-E1FF-4742-AF44-40D63A272B7B}"/>
              </a:ext>
            </a:extLst>
          </p:cNvPr>
          <p:cNvSpPr txBox="1"/>
          <p:nvPr/>
        </p:nvSpPr>
        <p:spPr>
          <a:xfrm>
            <a:off x="4048541" y="4990167"/>
            <a:ext cx="4591878" cy="1815882"/>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sz="1600" dirty="0">
                <a:latin typeface="メイリオ" panose="020B0604030504040204" pitchFamily="50" charset="-128"/>
                <a:ea typeface="メイリオ" panose="020B0604030504040204" pitchFamily="50" charset="-128"/>
              </a:rPr>
              <a:t>なめらか≤</a:t>
            </a:r>
            <a:r>
              <a:rPr kumimoji="1" lang="en-US" altLang="ja-JP" sz="1600" dirty="0">
                <a:latin typeface="メイリオ" panose="020B0604030504040204" pitchFamily="50" charset="-128"/>
                <a:ea typeface="メイリオ" panose="020B0604030504040204" pitchFamily="50" charset="-128"/>
              </a:rPr>
              <a:t>0.141 </a:t>
            </a:r>
            <a:r>
              <a:rPr kumimoji="1" lang="ja-JP" altLang="en-US" sz="1600" dirty="0">
                <a:latin typeface="メイリオ" panose="020B0604030504040204" pitchFamily="50" charset="-128"/>
                <a:ea typeface="メイリオ" panose="020B0604030504040204" pitchFamily="50" charset="-128"/>
              </a:rPr>
              <a:t>の条件で</a:t>
            </a:r>
            <a:r>
              <a:rPr kumimoji="1" lang="en-US" altLang="ja-JP" sz="1600" dirty="0">
                <a:latin typeface="メイリオ" panose="020B0604030504040204" pitchFamily="50" charset="-128"/>
                <a:ea typeface="メイリオ" panose="020B0604030504040204" pitchFamily="50" charset="-128"/>
              </a:rPr>
              <a:t>288</a:t>
            </a:r>
            <a:r>
              <a:rPr kumimoji="1" lang="ja-JP" altLang="en-US" sz="1600" dirty="0">
                <a:latin typeface="メイリオ" panose="020B0604030504040204" pitchFamily="50" charset="-128"/>
                <a:ea typeface="メイリオ" panose="020B0604030504040204" pitchFamily="50" charset="-128"/>
              </a:rPr>
              <a:t>サンプルを</a:t>
            </a:r>
            <a:r>
              <a:rPr kumimoji="1" lang="en-US" altLang="ja-JP" sz="1600" dirty="0">
                <a:latin typeface="メイリオ" panose="020B0604030504040204" pitchFamily="50" charset="-128"/>
                <a:ea typeface="メイリオ" panose="020B0604030504040204" pitchFamily="50" charset="-128"/>
              </a:rPr>
              <a:t>254:34</a:t>
            </a:r>
            <a:r>
              <a:rPr kumimoji="1" lang="ja-JP" altLang="en-US" sz="1600" dirty="0">
                <a:latin typeface="メイリオ" panose="020B0604030504040204" pitchFamily="50" charset="-128"/>
                <a:ea typeface="メイリオ" panose="020B0604030504040204" pitchFamily="50" charset="-128"/>
              </a:rPr>
              <a:t>に分割した。</a:t>
            </a:r>
            <a:endParaRPr kumimoji="1" lang="en-US" altLang="ja-JP" sz="16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l"/>
            </a:pPr>
            <a:r>
              <a:rPr kumimoji="1" lang="ja-JP" altLang="en-US" sz="1600" b="1" dirty="0">
                <a:latin typeface="メイリオ" panose="020B0604030504040204" pitchFamily="50" charset="-128"/>
                <a:ea typeface="メイリオ" panose="020B0604030504040204" pitchFamily="50" charset="-128"/>
              </a:rPr>
              <a:t>なめらかさが大きいとプリン方向</a:t>
            </a:r>
            <a:r>
              <a:rPr kumimoji="1" lang="ja-JP" altLang="en-US" sz="1600" dirty="0">
                <a:latin typeface="メイリオ" panose="020B0604030504040204" pitchFamily="50" charset="-128"/>
                <a:ea typeface="メイリオ" panose="020B0604030504040204" pitchFamily="50" charset="-128"/>
              </a:rPr>
              <a:t>。（右側のノードでプリン純度が高い</a:t>
            </a:r>
            <a:r>
              <a:rPr kumimoji="1" lang="en-US" altLang="ja-JP" sz="1600" dirty="0">
                <a:latin typeface="メイリオ" panose="020B0604030504040204" pitchFamily="50" charset="-128"/>
                <a:ea typeface="メイリオ" panose="020B0604030504040204" pitchFamily="50" charset="-128"/>
              </a:rPr>
              <a:t>[33,1]</a:t>
            </a:r>
            <a:r>
              <a:rPr kumimoji="1" lang="ja-JP" altLang="en-US" sz="1600" dirty="0">
                <a:latin typeface="メイリオ" panose="020B0604030504040204" pitchFamily="50" charset="-128"/>
                <a:ea typeface="メイリオ" panose="020B0604030504040204" pitchFamily="50" charset="-128"/>
              </a:rPr>
              <a:t>）</a:t>
            </a:r>
            <a:endParaRPr kumimoji="1" lang="en-US" altLang="ja-JP" sz="16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l"/>
            </a:pPr>
            <a:r>
              <a:rPr kumimoji="1" lang="ja-JP" altLang="en-US" sz="1600" dirty="0">
                <a:latin typeface="メイリオ" panose="020B0604030504040204" pitchFamily="50" charset="-128"/>
                <a:ea typeface="メイリオ" panose="020B0604030504040204" pitchFamily="50" charset="-128"/>
              </a:rPr>
              <a:t>なめらかさが小さいとどっちともいえない方向（どちらかというとシュークリーム</a:t>
            </a:r>
            <a:r>
              <a:rPr kumimoji="1" lang="en-US" altLang="ja-JP" sz="1600" dirty="0">
                <a:latin typeface="メイリオ" panose="020B0604030504040204" pitchFamily="50" charset="-128"/>
                <a:ea typeface="メイリオ" panose="020B0604030504040204" pitchFamily="50" charset="-128"/>
              </a:rPr>
              <a:t>[116,138]</a:t>
            </a:r>
            <a:r>
              <a:rPr kumimoji="1" lang="ja-JP" altLang="en-US" sz="1600" dirty="0">
                <a:latin typeface="メイリオ" panose="020B0604030504040204" pitchFamily="50" charset="-128"/>
                <a:ea typeface="メイリオ" panose="020B0604030504040204" pitchFamily="50" charset="-128"/>
              </a:rPr>
              <a:t>）</a:t>
            </a:r>
            <a:endParaRPr kumimoji="1" lang="en-US" altLang="ja-JP" sz="16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68A0D352-8597-4870-8B73-FE0C2CD670B5}"/>
              </a:ext>
            </a:extLst>
          </p:cNvPr>
          <p:cNvSpPr txBox="1"/>
          <p:nvPr/>
        </p:nvSpPr>
        <p:spPr>
          <a:xfrm>
            <a:off x="567286" y="3479473"/>
            <a:ext cx="3603211" cy="1323439"/>
          </a:xfrm>
          <a:prstGeom prst="rect">
            <a:avLst/>
          </a:prstGeom>
          <a:noFill/>
        </p:spPr>
        <p:txBody>
          <a:bodyPr wrap="square" rtlCol="0">
            <a:spAutoFit/>
          </a:bodyPr>
          <a:lstStyle/>
          <a:p>
            <a:pPr algn="l"/>
            <a:r>
              <a:rPr kumimoji="1" lang="ja-JP" altLang="en-US" sz="1600" b="1" dirty="0">
                <a:solidFill>
                  <a:srgbClr val="FF0000"/>
                </a:solidFill>
                <a:latin typeface="メイリオ" panose="020B0604030504040204" pitchFamily="50" charset="-128"/>
                <a:ea typeface="メイリオ" panose="020B0604030504040204" pitchFamily="50" charset="-128"/>
              </a:rPr>
              <a:t>注意！</a:t>
            </a:r>
            <a:endParaRPr kumimoji="1" lang="en-US" altLang="ja-JP" sz="1600" b="1" dirty="0">
              <a:solidFill>
                <a:srgbClr val="FF0000"/>
              </a:solidFill>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kumimoji="1" lang="en-US" altLang="ja-JP" sz="1600" dirty="0" err="1">
                <a:latin typeface="メイリオ" panose="020B0604030504040204" pitchFamily="50" charset="-128"/>
                <a:ea typeface="メイリオ" panose="020B0604030504040204" pitchFamily="50" charset="-128"/>
              </a:rPr>
              <a:t>gini,samples,value</a:t>
            </a:r>
            <a:r>
              <a:rPr kumimoji="1" lang="ja-JP" altLang="en-US" sz="1600" dirty="0">
                <a:latin typeface="メイリオ" panose="020B0604030504040204" pitchFamily="50" charset="-128"/>
                <a:ea typeface="メイリオ" panose="020B0604030504040204" pitchFamily="50" charset="-128"/>
              </a:rPr>
              <a:t>は上位ノードで判別された結果データ</a:t>
            </a:r>
            <a:endParaRPr kumimoji="1" lang="en-US" altLang="ja-JP" sz="1600"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kumimoji="1" lang="ja-JP" altLang="en-US" sz="1600" dirty="0">
                <a:latin typeface="メイリオ" panose="020B0604030504040204" pitchFamily="50" charset="-128"/>
                <a:ea typeface="メイリオ" panose="020B0604030504040204" pitchFamily="50" charset="-128"/>
              </a:rPr>
              <a:t>リーフには上記</a:t>
            </a:r>
            <a:r>
              <a:rPr kumimoji="1" lang="en-US" altLang="ja-JP" sz="1600" dirty="0">
                <a:latin typeface="メイリオ" panose="020B0604030504040204" pitchFamily="50" charset="-128"/>
                <a:ea typeface="メイリオ" panose="020B0604030504040204" pitchFamily="50" charset="-128"/>
              </a:rPr>
              <a:t>1.</a:t>
            </a:r>
            <a:r>
              <a:rPr kumimoji="1" lang="ja-JP" altLang="en-US" sz="1600" dirty="0">
                <a:latin typeface="メイリオ" panose="020B0604030504040204" pitchFamily="50" charset="-128"/>
                <a:ea typeface="メイリオ" panose="020B0604030504040204" pitchFamily="50" charset="-128"/>
              </a:rPr>
              <a:t>は表示されない</a:t>
            </a:r>
            <a:endParaRPr kumimoji="1" lang="en-US" altLang="ja-JP" sz="1600"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endParaRPr kumimoji="1" lang="en-US" altLang="ja-JP" sz="1600" dirty="0">
              <a:latin typeface="メイリオ" panose="020B0604030504040204" pitchFamily="50" charset="-128"/>
              <a:ea typeface="メイリオ" panose="020B0604030504040204" pitchFamily="50" charset="-128"/>
            </a:endParaRPr>
          </a:p>
        </p:txBody>
      </p:sp>
      <p:pic>
        <p:nvPicPr>
          <p:cNvPr id="14" name="Picture 2" descr="Jupyter Notebookの後継？Jupyter Labをつかってみた - いっきのblog">
            <a:extLst>
              <a:ext uri="{FF2B5EF4-FFF2-40B4-BE49-F238E27FC236}">
                <a16:creationId xmlns:a16="http://schemas.microsoft.com/office/drawing/2014/main" id="{F978D498-93DB-544B-68DE-829EABBBAB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0693" y="583238"/>
            <a:ext cx="1047321" cy="1144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3771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94236A9F-0172-D771-09B5-87586CD7C94D}"/>
              </a:ext>
            </a:extLst>
          </p:cNvPr>
          <p:cNvSpPr txBox="1"/>
          <p:nvPr/>
        </p:nvSpPr>
        <p:spPr>
          <a:xfrm>
            <a:off x="310926" y="513183"/>
            <a:ext cx="2646878"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ノードの見方</a:t>
            </a:r>
          </a:p>
        </p:txBody>
      </p:sp>
      <p:sp>
        <p:nvSpPr>
          <p:cNvPr id="8" name="テキスト ボックス 7">
            <a:extLst>
              <a:ext uri="{FF2B5EF4-FFF2-40B4-BE49-F238E27FC236}">
                <a16:creationId xmlns:a16="http://schemas.microsoft.com/office/drawing/2014/main" id="{F6FEEDC5-63AE-CD97-77C2-50B7B2CCB48B}"/>
              </a:ext>
            </a:extLst>
          </p:cNvPr>
          <p:cNvSpPr txBox="1"/>
          <p:nvPr/>
        </p:nvSpPr>
        <p:spPr>
          <a:xfrm>
            <a:off x="3082143" y="1736429"/>
            <a:ext cx="41969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&lt;= </a:t>
            </a:r>
            <a:r>
              <a:rPr kumimoji="1" lang="ja-JP" altLang="en-US" sz="2400" dirty="0">
                <a:latin typeface="メイリオ" panose="020B0604030504040204" pitchFamily="50" charset="-128"/>
                <a:ea typeface="メイリオ" panose="020B0604030504040204" pitchFamily="50" charset="-128"/>
              </a:rPr>
              <a:t>下のノードへの分岐条件</a:t>
            </a:r>
          </a:p>
        </p:txBody>
      </p:sp>
      <p:sp>
        <p:nvSpPr>
          <p:cNvPr id="9" name="テキスト ボックス 8">
            <a:extLst>
              <a:ext uri="{FF2B5EF4-FFF2-40B4-BE49-F238E27FC236}">
                <a16:creationId xmlns:a16="http://schemas.microsoft.com/office/drawing/2014/main" id="{85B27941-9533-6D05-3D9D-94905C2464BC}"/>
              </a:ext>
            </a:extLst>
          </p:cNvPr>
          <p:cNvSpPr txBox="1"/>
          <p:nvPr/>
        </p:nvSpPr>
        <p:spPr>
          <a:xfrm>
            <a:off x="5913144" y="4459852"/>
            <a:ext cx="5835252" cy="400110"/>
          </a:xfrm>
          <a:prstGeom prst="rect">
            <a:avLst/>
          </a:prstGeom>
          <a:noFill/>
        </p:spPr>
        <p:txBody>
          <a:bodyPr wrap="none" rtlCol="0">
            <a:spAutoFit/>
          </a:bodyPr>
          <a:lstStyle/>
          <a:p>
            <a:pPr algn="l"/>
            <a:r>
              <a:rPr kumimoji="1" lang="en-US" altLang="ja-JP" sz="2000" dirty="0">
                <a:latin typeface="メイリオ" panose="020B0604030504040204" pitchFamily="50" charset="-128"/>
                <a:ea typeface="メイリオ" panose="020B0604030504040204" pitchFamily="50" charset="-128"/>
              </a:rPr>
              <a:t>Samples:1</a:t>
            </a:r>
            <a:r>
              <a:rPr kumimoji="1" lang="ja-JP" altLang="en-US" sz="2000" dirty="0">
                <a:latin typeface="メイリオ" panose="020B0604030504040204" pitchFamily="50" charset="-128"/>
                <a:ea typeface="メイリオ" panose="020B0604030504040204" pitchFamily="50" charset="-128"/>
              </a:rPr>
              <a:t>つ上のノードで判別されたサンプル数</a:t>
            </a:r>
          </a:p>
        </p:txBody>
      </p:sp>
      <p:sp>
        <p:nvSpPr>
          <p:cNvPr id="10" name="テキスト ボックス 9">
            <a:extLst>
              <a:ext uri="{FF2B5EF4-FFF2-40B4-BE49-F238E27FC236}">
                <a16:creationId xmlns:a16="http://schemas.microsoft.com/office/drawing/2014/main" id="{C134135C-6BAD-5721-3F43-AEF0505D63ED}"/>
              </a:ext>
            </a:extLst>
          </p:cNvPr>
          <p:cNvSpPr txBox="1"/>
          <p:nvPr/>
        </p:nvSpPr>
        <p:spPr>
          <a:xfrm>
            <a:off x="5913144" y="4813982"/>
            <a:ext cx="5913735" cy="400110"/>
          </a:xfrm>
          <a:prstGeom prst="rect">
            <a:avLst/>
          </a:prstGeom>
          <a:noFill/>
        </p:spPr>
        <p:txBody>
          <a:bodyPr wrap="none" rtlCol="0">
            <a:spAutoFit/>
          </a:bodyPr>
          <a:lstStyle/>
          <a:p>
            <a:pPr algn="l"/>
            <a:r>
              <a:rPr kumimoji="1" lang="en-US" altLang="ja-JP" sz="2000" dirty="0">
                <a:latin typeface="メイリオ" panose="020B0604030504040204" pitchFamily="50" charset="-128"/>
                <a:ea typeface="メイリオ" panose="020B0604030504040204" pitchFamily="50" charset="-128"/>
              </a:rPr>
              <a:t>Value:</a:t>
            </a:r>
            <a:r>
              <a:rPr kumimoji="1" lang="ja-JP" altLang="en-US" sz="2000" dirty="0">
                <a:latin typeface="メイリオ" panose="020B0604030504040204" pitchFamily="50" charset="-128"/>
                <a:ea typeface="メイリオ" panose="020B0604030504040204" pitchFamily="50" charset="-128"/>
              </a:rPr>
              <a:t>サンプル数の内訳</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プリン</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シュークリーム</a:t>
            </a:r>
            <a:r>
              <a:rPr kumimoji="1" lang="en-US" altLang="ja-JP" sz="2000" dirty="0">
                <a:latin typeface="メイリオ" panose="020B0604030504040204" pitchFamily="50" charset="-128"/>
                <a:ea typeface="メイリオ" panose="020B0604030504040204" pitchFamily="50" charset="-128"/>
              </a:rPr>
              <a:t>]</a:t>
            </a:r>
            <a:endParaRPr kumimoji="1" lang="ja-JP" altLang="en-US" sz="20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6194FB44-EF16-E77A-0BC2-605B1C57C656}"/>
              </a:ext>
            </a:extLst>
          </p:cNvPr>
          <p:cNvSpPr txBox="1"/>
          <p:nvPr/>
        </p:nvSpPr>
        <p:spPr>
          <a:xfrm>
            <a:off x="5913144" y="5187471"/>
            <a:ext cx="5283591" cy="707886"/>
          </a:xfrm>
          <a:prstGeom prst="rect">
            <a:avLst/>
          </a:prstGeom>
          <a:noFill/>
        </p:spPr>
        <p:txBody>
          <a:bodyPr wrap="square" rtlCol="0">
            <a:spAutoFit/>
          </a:bodyPr>
          <a:lstStyle/>
          <a:p>
            <a:pPr algn="l"/>
            <a:r>
              <a:rPr kumimoji="1" lang="en-US" altLang="ja-JP" sz="2000" dirty="0">
                <a:latin typeface="メイリオ" panose="020B0604030504040204" pitchFamily="50" charset="-128"/>
                <a:ea typeface="メイリオ" panose="020B0604030504040204" pitchFamily="50" charset="-128"/>
              </a:rPr>
              <a:t>Class:</a:t>
            </a:r>
            <a:r>
              <a:rPr kumimoji="1" lang="ja-JP" altLang="en-US" sz="2000" dirty="0">
                <a:latin typeface="メイリオ" panose="020B0604030504040204" pitchFamily="50" charset="-128"/>
                <a:ea typeface="メイリオ" panose="020B0604030504040204" pitchFamily="50" charset="-128"/>
              </a:rPr>
              <a:t>このノードの〇〇らしさ（最大サンプルであるような教師ラベル）</a:t>
            </a:r>
          </a:p>
        </p:txBody>
      </p:sp>
      <p:pic>
        <p:nvPicPr>
          <p:cNvPr id="7" name="図 6">
            <a:extLst>
              <a:ext uri="{FF2B5EF4-FFF2-40B4-BE49-F238E27FC236}">
                <a16:creationId xmlns:a16="http://schemas.microsoft.com/office/drawing/2014/main" id="{1966D827-AB4E-D5AB-34C0-87BC383D8B41}"/>
              </a:ext>
            </a:extLst>
          </p:cNvPr>
          <p:cNvPicPr>
            <a:picLocks noChangeAspect="1"/>
          </p:cNvPicPr>
          <p:nvPr/>
        </p:nvPicPr>
        <p:blipFill>
          <a:blip r:embed="rId2"/>
          <a:stretch>
            <a:fillRect/>
          </a:stretch>
        </p:blipFill>
        <p:spPr>
          <a:xfrm>
            <a:off x="0" y="1470542"/>
            <a:ext cx="3038281" cy="2107195"/>
          </a:xfrm>
          <a:prstGeom prst="rect">
            <a:avLst/>
          </a:prstGeom>
        </p:spPr>
      </p:pic>
      <p:pic>
        <p:nvPicPr>
          <p:cNvPr id="13" name="図 12">
            <a:extLst>
              <a:ext uri="{FF2B5EF4-FFF2-40B4-BE49-F238E27FC236}">
                <a16:creationId xmlns:a16="http://schemas.microsoft.com/office/drawing/2014/main" id="{78FD6373-0931-B7D0-9BB5-B8087160C785}"/>
              </a:ext>
            </a:extLst>
          </p:cNvPr>
          <p:cNvPicPr>
            <a:picLocks noChangeAspect="1"/>
          </p:cNvPicPr>
          <p:nvPr/>
        </p:nvPicPr>
        <p:blipFill>
          <a:blip r:embed="rId3"/>
          <a:stretch>
            <a:fillRect/>
          </a:stretch>
        </p:blipFill>
        <p:spPr>
          <a:xfrm>
            <a:off x="3062677" y="3769792"/>
            <a:ext cx="2932124" cy="1865897"/>
          </a:xfrm>
          <a:prstGeom prst="rect">
            <a:avLst/>
          </a:prstGeom>
        </p:spPr>
      </p:pic>
      <p:cxnSp>
        <p:nvCxnSpPr>
          <p:cNvPr id="15" name="直線矢印コネクタ 14">
            <a:extLst>
              <a:ext uri="{FF2B5EF4-FFF2-40B4-BE49-F238E27FC236}">
                <a16:creationId xmlns:a16="http://schemas.microsoft.com/office/drawing/2014/main" id="{9F59D310-1E54-A35E-8AC7-3202B779BAF6}"/>
              </a:ext>
            </a:extLst>
          </p:cNvPr>
          <p:cNvCxnSpPr>
            <a:endCxn id="13" idx="0"/>
          </p:cNvCxnSpPr>
          <p:nvPr/>
        </p:nvCxnSpPr>
        <p:spPr>
          <a:xfrm>
            <a:off x="2957804" y="3200400"/>
            <a:ext cx="1570935" cy="56939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6FC2C971-70E2-7715-D17F-151792953B2D}"/>
              </a:ext>
            </a:extLst>
          </p:cNvPr>
          <p:cNvSpPr txBox="1"/>
          <p:nvPr/>
        </p:nvSpPr>
        <p:spPr>
          <a:xfrm>
            <a:off x="4151177" y="2138576"/>
            <a:ext cx="7549411" cy="1015663"/>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なめらか≤</a:t>
            </a:r>
            <a:r>
              <a:rPr kumimoji="1" lang="en-US" altLang="ja-JP" sz="2000" dirty="0">
                <a:latin typeface="メイリオ" panose="020B0604030504040204" pitchFamily="50" charset="-128"/>
                <a:ea typeface="メイリオ" panose="020B0604030504040204" pitchFamily="50" charset="-128"/>
              </a:rPr>
              <a:t>0.141 </a:t>
            </a:r>
            <a:r>
              <a:rPr kumimoji="1" lang="ja-JP" altLang="en-US" sz="2000" dirty="0">
                <a:latin typeface="メイリオ" panose="020B0604030504040204" pitchFamily="50" charset="-128"/>
                <a:ea typeface="メイリオ" panose="020B0604030504040204" pitchFamily="50" charset="-128"/>
              </a:rPr>
              <a:t>の条件で</a:t>
            </a:r>
            <a:r>
              <a:rPr kumimoji="1" lang="en-US" altLang="ja-JP" sz="2000" dirty="0">
                <a:latin typeface="メイリオ" panose="020B0604030504040204" pitchFamily="50" charset="-128"/>
                <a:ea typeface="メイリオ" panose="020B0604030504040204" pitchFamily="50" charset="-128"/>
              </a:rPr>
              <a:t>288</a:t>
            </a:r>
            <a:r>
              <a:rPr kumimoji="1" lang="ja-JP" altLang="en-US" sz="2000" dirty="0">
                <a:latin typeface="メイリオ" panose="020B0604030504040204" pitchFamily="50" charset="-128"/>
                <a:ea typeface="メイリオ" panose="020B0604030504040204" pitchFamily="50" charset="-128"/>
              </a:rPr>
              <a:t>サンプルを</a:t>
            </a:r>
            <a:r>
              <a:rPr kumimoji="1" lang="en-US" altLang="ja-JP" sz="2000" dirty="0">
                <a:latin typeface="メイリオ" panose="020B0604030504040204" pitchFamily="50" charset="-128"/>
                <a:ea typeface="メイリオ" panose="020B0604030504040204" pitchFamily="50" charset="-128"/>
              </a:rPr>
              <a:t>254:34</a:t>
            </a:r>
            <a:r>
              <a:rPr kumimoji="1" lang="ja-JP" altLang="en-US" sz="2000" dirty="0">
                <a:latin typeface="メイリオ" panose="020B0604030504040204" pitchFamily="50" charset="-128"/>
                <a:ea typeface="メイリオ" panose="020B0604030504040204" pitchFamily="50" charset="-128"/>
              </a:rPr>
              <a:t>に分割した。</a:t>
            </a:r>
            <a:endParaRPr kumimoji="1" lang="en-US" altLang="ja-JP" sz="20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l"/>
            </a:pPr>
            <a:r>
              <a:rPr kumimoji="1" lang="ja-JP" altLang="en-US" sz="2000" b="1" dirty="0">
                <a:latin typeface="メイリオ" panose="020B0604030504040204" pitchFamily="50" charset="-128"/>
                <a:ea typeface="メイリオ" panose="020B0604030504040204" pitchFamily="50" charset="-128"/>
              </a:rPr>
              <a:t>なめらかさが大きいとプリン方向</a:t>
            </a:r>
            <a:r>
              <a:rPr kumimoji="1" lang="ja-JP" altLang="en-US" sz="2000" dirty="0">
                <a:latin typeface="メイリオ" panose="020B0604030504040204" pitchFamily="50" charset="-128"/>
                <a:ea typeface="メイリオ" panose="020B0604030504040204" pitchFamily="50" charset="-128"/>
              </a:rPr>
              <a:t>。（右側のノードでプリン純度が高い</a:t>
            </a:r>
            <a:r>
              <a:rPr kumimoji="1" lang="en-US" altLang="ja-JP" sz="2000" dirty="0">
                <a:latin typeface="メイリオ" panose="020B0604030504040204" pitchFamily="50" charset="-128"/>
                <a:ea typeface="メイリオ" panose="020B0604030504040204" pitchFamily="50" charset="-128"/>
              </a:rPr>
              <a:t>[33,1]</a:t>
            </a:r>
            <a:r>
              <a:rPr kumimoji="1" lang="ja-JP" altLang="en-US" sz="2000" dirty="0">
                <a:latin typeface="メイリオ" panose="020B0604030504040204" pitchFamily="50" charset="-128"/>
                <a:ea typeface="メイリオ" panose="020B0604030504040204" pitchFamily="50" charset="-128"/>
              </a:rPr>
              <a:t>）</a:t>
            </a:r>
            <a:endParaRPr kumimoji="1"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17276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61ED9E0-B890-4ED6-9B39-5E52C341B533}"/>
              </a:ext>
            </a:extLst>
          </p:cNvPr>
          <p:cNvSpPr txBox="1"/>
          <p:nvPr/>
        </p:nvSpPr>
        <p:spPr>
          <a:xfrm>
            <a:off x="644367" y="398502"/>
            <a:ext cx="8802410" cy="523220"/>
          </a:xfrm>
          <a:prstGeom prst="rect">
            <a:avLst/>
          </a:prstGeom>
          <a:noFill/>
        </p:spPr>
        <p:txBody>
          <a:bodyPr wrap="none" rtlCol="0">
            <a:spAutoFit/>
          </a:bodyPr>
          <a:lstStyle/>
          <a:p>
            <a:pPr algn="l"/>
            <a:r>
              <a:rPr kumimoji="1" lang="ja-JP" altLang="en-US" sz="2800" b="1" dirty="0">
                <a:latin typeface="メイリオ" panose="020B0604030504040204" pitchFamily="50" charset="-128"/>
                <a:ea typeface="メイリオ" panose="020B0604030504040204" pitchFamily="50" charset="-128"/>
              </a:rPr>
              <a:t>決定木は自然言語の教師あり学習での意味解析に有効</a:t>
            </a:r>
          </a:p>
        </p:txBody>
      </p:sp>
      <p:sp>
        <p:nvSpPr>
          <p:cNvPr id="4" name="テキスト ボックス 3">
            <a:extLst>
              <a:ext uri="{FF2B5EF4-FFF2-40B4-BE49-F238E27FC236}">
                <a16:creationId xmlns:a16="http://schemas.microsoft.com/office/drawing/2014/main" id="{3F6B7585-8658-4CBE-8C37-D6465DECA2AF}"/>
              </a:ext>
            </a:extLst>
          </p:cNvPr>
          <p:cNvSpPr txBox="1"/>
          <p:nvPr/>
        </p:nvSpPr>
        <p:spPr>
          <a:xfrm>
            <a:off x="679132" y="1033103"/>
            <a:ext cx="541686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決定木は意味を可視化できるので便利</a:t>
            </a:r>
          </a:p>
        </p:txBody>
      </p:sp>
      <p:sp>
        <p:nvSpPr>
          <p:cNvPr id="5" name="テキスト ボックス 4">
            <a:extLst>
              <a:ext uri="{FF2B5EF4-FFF2-40B4-BE49-F238E27FC236}">
                <a16:creationId xmlns:a16="http://schemas.microsoft.com/office/drawing/2014/main" id="{E0730C0C-2380-4273-9383-0942BE126FE7}"/>
              </a:ext>
            </a:extLst>
          </p:cNvPr>
          <p:cNvSpPr txBox="1"/>
          <p:nvPr/>
        </p:nvSpPr>
        <p:spPr>
          <a:xfrm>
            <a:off x="893995" y="5868085"/>
            <a:ext cx="10452029"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画像特徴量はピクセルなので重要特徴量を表示しても意味は分からない（学習自体は可能）</a:t>
            </a:r>
          </a:p>
        </p:txBody>
      </p:sp>
      <p:pic>
        <p:nvPicPr>
          <p:cNvPr id="8" name="図 7">
            <a:extLst>
              <a:ext uri="{FF2B5EF4-FFF2-40B4-BE49-F238E27FC236}">
                <a16:creationId xmlns:a16="http://schemas.microsoft.com/office/drawing/2014/main" id="{6B920582-C3C6-2A29-BE43-61C2B1A8EF14}"/>
              </a:ext>
            </a:extLst>
          </p:cNvPr>
          <p:cNvPicPr>
            <a:picLocks noChangeAspect="1"/>
          </p:cNvPicPr>
          <p:nvPr/>
        </p:nvPicPr>
        <p:blipFill>
          <a:blip r:embed="rId2"/>
          <a:stretch>
            <a:fillRect/>
          </a:stretch>
        </p:blipFill>
        <p:spPr>
          <a:xfrm>
            <a:off x="1424889" y="1876425"/>
            <a:ext cx="6340197" cy="3677766"/>
          </a:xfrm>
          <a:prstGeom prst="rect">
            <a:avLst/>
          </a:prstGeom>
        </p:spPr>
      </p:pic>
      <p:sp>
        <p:nvSpPr>
          <p:cNvPr id="9" name="テキスト ボックス 8">
            <a:extLst>
              <a:ext uri="{FF2B5EF4-FFF2-40B4-BE49-F238E27FC236}">
                <a16:creationId xmlns:a16="http://schemas.microsoft.com/office/drawing/2014/main" id="{7A6CD335-0032-002F-56A6-2DF8556A2A6C}"/>
              </a:ext>
            </a:extLst>
          </p:cNvPr>
          <p:cNvSpPr txBox="1"/>
          <p:nvPr/>
        </p:nvSpPr>
        <p:spPr>
          <a:xfrm>
            <a:off x="679132" y="1562531"/>
            <a:ext cx="1140414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重要特徴量： </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なめらか</a:t>
            </a:r>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濃厚</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 がプリン</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シュークリーム　の判別に効いている</a:t>
            </a:r>
          </a:p>
        </p:txBody>
      </p:sp>
    </p:spTree>
    <p:extLst>
      <p:ext uri="{BB962C8B-B14F-4D97-AF65-F5344CB8AC3E}">
        <p14:creationId xmlns:p14="http://schemas.microsoft.com/office/powerpoint/2010/main" val="9844747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041687B-19D6-4BF4-852F-838289B255DC}"/>
              </a:ext>
            </a:extLst>
          </p:cNvPr>
          <p:cNvSpPr txBox="1"/>
          <p:nvPr/>
        </p:nvSpPr>
        <p:spPr>
          <a:xfrm>
            <a:off x="460894" y="324251"/>
            <a:ext cx="7571303"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ツリー上で何度も出現する特徴量がある</a:t>
            </a:r>
          </a:p>
        </p:txBody>
      </p:sp>
      <p:sp>
        <p:nvSpPr>
          <p:cNvPr id="3" name="テキスト ボックス 2">
            <a:extLst>
              <a:ext uri="{FF2B5EF4-FFF2-40B4-BE49-F238E27FC236}">
                <a16:creationId xmlns:a16="http://schemas.microsoft.com/office/drawing/2014/main" id="{53568CDC-1508-45C8-9163-89230932342B}"/>
              </a:ext>
            </a:extLst>
          </p:cNvPr>
          <p:cNvSpPr txBox="1"/>
          <p:nvPr/>
        </p:nvSpPr>
        <p:spPr>
          <a:xfrm>
            <a:off x="3599964" y="1182658"/>
            <a:ext cx="529984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例えば、濃厚は</a:t>
            </a: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回ツリーに出現する</a:t>
            </a:r>
            <a:endParaRPr kumimoji="1" lang="en-US" altLang="ja-JP"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BE7D5145-417B-491B-95FA-A89D0D358F47}"/>
              </a:ext>
            </a:extLst>
          </p:cNvPr>
          <p:cNvSpPr txBox="1"/>
          <p:nvPr/>
        </p:nvSpPr>
        <p:spPr>
          <a:xfrm>
            <a:off x="2317953" y="2359743"/>
            <a:ext cx="7879080"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個々の判別境界（ノード）は、常に全特徴量空間を探索</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して一番純度が高まるものを見つけ出している</a:t>
            </a:r>
          </a:p>
        </p:txBody>
      </p:sp>
      <p:sp>
        <p:nvSpPr>
          <p:cNvPr id="5" name="矢印: 下 4">
            <a:extLst>
              <a:ext uri="{FF2B5EF4-FFF2-40B4-BE49-F238E27FC236}">
                <a16:creationId xmlns:a16="http://schemas.microsoft.com/office/drawing/2014/main" id="{535522B8-4A74-4299-9B2F-C109EEE51047}"/>
              </a:ext>
            </a:extLst>
          </p:cNvPr>
          <p:cNvSpPr/>
          <p:nvPr/>
        </p:nvSpPr>
        <p:spPr>
          <a:xfrm>
            <a:off x="5142271" y="1730478"/>
            <a:ext cx="1681316" cy="4616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0AEE974-BCEA-4142-BE9F-AAE89591D28B}"/>
              </a:ext>
            </a:extLst>
          </p:cNvPr>
          <p:cNvSpPr txBox="1"/>
          <p:nvPr/>
        </p:nvSpPr>
        <p:spPr>
          <a:xfrm>
            <a:off x="2412964" y="3667262"/>
            <a:ext cx="7689058"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重要特徴量の指標は、同一特徴量の全判別ノード合計なので必ずしもツリートップの特徴量がランク１になるとは限らない</a:t>
            </a:r>
          </a:p>
        </p:txBody>
      </p:sp>
    </p:spTree>
    <p:extLst>
      <p:ext uri="{BB962C8B-B14F-4D97-AF65-F5344CB8AC3E}">
        <p14:creationId xmlns:p14="http://schemas.microsoft.com/office/powerpoint/2010/main" val="32497374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828D1D3-9FF4-F19E-2229-51DBBE948F29}"/>
              </a:ext>
            </a:extLst>
          </p:cNvPr>
          <p:cNvSpPr txBox="1"/>
          <p:nvPr/>
        </p:nvSpPr>
        <p:spPr>
          <a:xfrm>
            <a:off x="746449" y="461185"/>
            <a:ext cx="6524543"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プリン</a:t>
            </a:r>
            <a:r>
              <a:rPr kumimoji="1" lang="en-US" altLang="ja-JP" sz="3200" b="1" dirty="0">
                <a:latin typeface="メイリオ" panose="020B0604030504040204" pitchFamily="50" charset="-128"/>
                <a:ea typeface="メイリオ" panose="020B0604030504040204" pitchFamily="50" charset="-128"/>
              </a:rPr>
              <a:t>/</a:t>
            </a:r>
            <a:r>
              <a:rPr kumimoji="1" lang="ja-JP" altLang="en-US" sz="3200" b="1" dirty="0">
                <a:latin typeface="メイリオ" panose="020B0604030504040204" pitchFamily="50" charset="-128"/>
                <a:ea typeface="メイリオ" panose="020B0604030504040204" pitchFamily="50" charset="-128"/>
              </a:rPr>
              <a:t>シュークリームの判別空間</a:t>
            </a:r>
          </a:p>
        </p:txBody>
      </p:sp>
      <p:sp>
        <p:nvSpPr>
          <p:cNvPr id="3" name="テキスト ボックス 2">
            <a:extLst>
              <a:ext uri="{FF2B5EF4-FFF2-40B4-BE49-F238E27FC236}">
                <a16:creationId xmlns:a16="http://schemas.microsoft.com/office/drawing/2014/main" id="{8137C97E-2619-47C3-8636-2D3B961C3E0A}"/>
              </a:ext>
            </a:extLst>
          </p:cNvPr>
          <p:cNvSpPr txBox="1"/>
          <p:nvPr/>
        </p:nvSpPr>
        <p:spPr>
          <a:xfrm>
            <a:off x="746449" y="1045960"/>
            <a:ext cx="9491701"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24</a:t>
            </a:r>
            <a:r>
              <a:rPr kumimoji="1" lang="ja-JP" altLang="en-US" sz="2400" dirty="0">
                <a:latin typeface="メイリオ" panose="020B0604030504040204" pitchFamily="50" charset="-128"/>
                <a:ea typeface="メイリオ" panose="020B0604030504040204" pitchFamily="50" charset="-128"/>
              </a:rPr>
              <a:t>次元空ｐ間上で純度を最大化するような決定境界を再帰的に引く</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１つの決定境界を決めるのに</a:t>
            </a:r>
            <a:r>
              <a:rPr kumimoji="1" lang="en-US" altLang="ja-JP" sz="2400" dirty="0">
                <a:latin typeface="メイリオ" panose="020B0604030504040204" pitchFamily="50" charset="-128"/>
                <a:ea typeface="メイリオ" panose="020B0604030504040204" pitchFamily="50" charset="-128"/>
              </a:rPr>
              <a:t>24</a:t>
            </a:r>
            <a:r>
              <a:rPr kumimoji="1" lang="ja-JP" altLang="en-US" sz="2400" dirty="0">
                <a:latin typeface="メイリオ" panose="020B0604030504040204" pitchFamily="50" charset="-128"/>
                <a:ea typeface="メイリオ" panose="020B0604030504040204" pitchFamily="50" charset="-128"/>
              </a:rPr>
              <a:t>通りの境界による純度を比較する</a:t>
            </a:r>
          </a:p>
        </p:txBody>
      </p:sp>
      <p:pic>
        <p:nvPicPr>
          <p:cNvPr id="4" name="図 3">
            <a:extLst>
              <a:ext uri="{FF2B5EF4-FFF2-40B4-BE49-F238E27FC236}">
                <a16:creationId xmlns:a16="http://schemas.microsoft.com/office/drawing/2014/main" id="{1B4EB4D3-0BCF-34E4-C202-82CA8D168530}"/>
              </a:ext>
            </a:extLst>
          </p:cNvPr>
          <p:cNvPicPr>
            <a:picLocks noChangeAspect="1"/>
          </p:cNvPicPr>
          <p:nvPr/>
        </p:nvPicPr>
        <p:blipFill>
          <a:blip r:embed="rId2"/>
          <a:stretch>
            <a:fillRect/>
          </a:stretch>
        </p:blipFill>
        <p:spPr>
          <a:xfrm>
            <a:off x="3346537" y="1997204"/>
            <a:ext cx="6301316" cy="4207653"/>
          </a:xfrm>
          <a:prstGeom prst="rect">
            <a:avLst/>
          </a:prstGeom>
        </p:spPr>
      </p:pic>
      <p:sp>
        <p:nvSpPr>
          <p:cNvPr id="5" name="テキスト ボックス 4">
            <a:extLst>
              <a:ext uri="{FF2B5EF4-FFF2-40B4-BE49-F238E27FC236}">
                <a16:creationId xmlns:a16="http://schemas.microsoft.com/office/drawing/2014/main" id="{A021B89F-3EB3-345B-45EB-41FA9242D3B8}"/>
              </a:ext>
            </a:extLst>
          </p:cNvPr>
          <p:cNvSpPr txBox="1"/>
          <p:nvPr/>
        </p:nvSpPr>
        <p:spPr>
          <a:xfrm>
            <a:off x="8324414" y="2052248"/>
            <a:ext cx="2646878" cy="830997"/>
          </a:xfrm>
          <a:prstGeom prst="rect">
            <a:avLst/>
          </a:prstGeom>
          <a:solidFill>
            <a:schemeClr val="bg1"/>
          </a:solidFill>
        </p:spPr>
        <p:txBody>
          <a:bodyPr wrap="none" rtlCol="0">
            <a:spAutoFit/>
          </a:bodyPr>
          <a:lstStyle/>
          <a:p>
            <a:pPr algn="l"/>
            <a:r>
              <a:rPr kumimoji="1" lang="ja-JP" altLang="en-US" sz="2400" dirty="0">
                <a:solidFill>
                  <a:schemeClr val="accent2">
                    <a:lumMod val="75000"/>
                  </a:schemeClr>
                </a:solidFill>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プリン</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solidFill>
                  <a:srgbClr val="0070C0"/>
                </a:solidFill>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シュークリーム</a:t>
            </a:r>
          </a:p>
        </p:txBody>
      </p:sp>
      <p:sp>
        <p:nvSpPr>
          <p:cNvPr id="6" name="テキスト ボックス 5">
            <a:extLst>
              <a:ext uri="{FF2B5EF4-FFF2-40B4-BE49-F238E27FC236}">
                <a16:creationId xmlns:a16="http://schemas.microsoft.com/office/drawing/2014/main" id="{37564DEB-6A1E-524C-A764-65D22CAB7798}"/>
              </a:ext>
            </a:extLst>
          </p:cNvPr>
          <p:cNvSpPr txBox="1"/>
          <p:nvPr/>
        </p:nvSpPr>
        <p:spPr>
          <a:xfrm>
            <a:off x="625920" y="3125755"/>
            <a:ext cx="2720617"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実際は</a:t>
            </a:r>
            <a:r>
              <a:rPr kumimoji="1" lang="en-US" altLang="ja-JP" sz="2400" dirty="0">
                <a:latin typeface="メイリオ" panose="020B0604030504040204" pitchFamily="50" charset="-128"/>
                <a:ea typeface="メイリオ" panose="020B0604030504040204" pitchFamily="50" charset="-128"/>
              </a:rPr>
              <a:t>24</a:t>
            </a:r>
            <a:r>
              <a:rPr kumimoji="1" lang="ja-JP" altLang="en-US" sz="2400" dirty="0">
                <a:latin typeface="メイリオ" panose="020B0604030504040204" pitchFamily="50" charset="-128"/>
                <a:ea typeface="メイリオ" panose="020B0604030504040204" pitchFamily="50" charset="-128"/>
              </a:rPr>
              <a:t>次元空間</a:t>
            </a:r>
          </a:p>
        </p:txBody>
      </p:sp>
      <p:sp>
        <p:nvSpPr>
          <p:cNvPr id="7" name="矢印: 右 6">
            <a:extLst>
              <a:ext uri="{FF2B5EF4-FFF2-40B4-BE49-F238E27FC236}">
                <a16:creationId xmlns:a16="http://schemas.microsoft.com/office/drawing/2014/main" id="{DF35620A-7963-9AC4-2EE6-EBA2A2B9B4B2}"/>
              </a:ext>
            </a:extLst>
          </p:cNvPr>
          <p:cNvSpPr/>
          <p:nvPr/>
        </p:nvSpPr>
        <p:spPr>
          <a:xfrm>
            <a:off x="2006082" y="3713584"/>
            <a:ext cx="1340455" cy="653143"/>
          </a:xfrm>
          <a:prstGeom prst="rightArrow">
            <a:avLst>
              <a:gd name="adj1" fmla="val 50000"/>
              <a:gd name="adj2" fmla="val 8571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326629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28E5264-6B83-4678-B4C2-C1629A559AE0}"/>
              </a:ext>
            </a:extLst>
          </p:cNvPr>
          <p:cNvSpPr txBox="1"/>
          <p:nvPr/>
        </p:nvSpPr>
        <p:spPr>
          <a:xfrm>
            <a:off x="539058" y="789369"/>
            <a:ext cx="6229351" cy="584775"/>
          </a:xfrm>
          <a:prstGeom prst="rect">
            <a:avLst/>
          </a:prstGeom>
          <a:noFill/>
        </p:spPr>
        <p:txBody>
          <a:bodyPr wrap="square" rtlCol="0">
            <a:spAutoFit/>
          </a:bodyPr>
          <a:lstStyle/>
          <a:p>
            <a:pPr algn="ctr"/>
            <a:r>
              <a:rPr kumimoji="1" lang="en-US" altLang="ja-JP" sz="3200" b="1" dirty="0">
                <a:latin typeface="メイリオ" panose="020B0604030504040204" pitchFamily="50" charset="-128"/>
                <a:ea typeface="メイリオ" panose="020B0604030504040204" pitchFamily="50" charset="-128"/>
              </a:rPr>
              <a:t>Gini</a:t>
            </a:r>
            <a:r>
              <a:rPr kumimoji="1" lang="ja-JP" altLang="en-US" sz="3200" b="1" dirty="0">
                <a:latin typeface="メイリオ" panose="020B0604030504040204" pitchFamily="50" charset="-128"/>
                <a:ea typeface="メイリオ" panose="020B0604030504040204" pitchFamily="50" charset="-128"/>
              </a:rPr>
              <a:t>係数：</a:t>
            </a:r>
            <a:r>
              <a:rPr kumimoji="1" lang="en-US" altLang="ja-JP" sz="3200" b="1" dirty="0">
                <a:latin typeface="メイリオ" panose="020B0604030504040204" pitchFamily="50" charset="-128"/>
                <a:ea typeface="メイリオ" panose="020B0604030504040204" pitchFamily="50" charset="-128"/>
              </a:rPr>
              <a:t>Purity</a:t>
            </a:r>
            <a:r>
              <a:rPr kumimoji="1" lang="ja-JP" altLang="en-US" sz="3200" b="1" dirty="0">
                <a:latin typeface="メイリオ" panose="020B0604030504040204" pitchFamily="50" charset="-128"/>
                <a:ea typeface="メイリオ" panose="020B0604030504040204" pitchFamily="50" charset="-128"/>
              </a:rPr>
              <a:t>（純度）基準</a:t>
            </a:r>
          </a:p>
        </p:txBody>
      </p:sp>
      <p:sp>
        <p:nvSpPr>
          <p:cNvPr id="2" name="テキスト ボックス 1">
            <a:extLst>
              <a:ext uri="{FF2B5EF4-FFF2-40B4-BE49-F238E27FC236}">
                <a16:creationId xmlns:a16="http://schemas.microsoft.com/office/drawing/2014/main" id="{CA2A450A-1A2C-4096-AE1D-BF3A9BF6258E}"/>
              </a:ext>
            </a:extLst>
          </p:cNvPr>
          <p:cNvSpPr txBox="1"/>
          <p:nvPr/>
        </p:nvSpPr>
        <p:spPr>
          <a:xfrm>
            <a:off x="1816649" y="4960642"/>
            <a:ext cx="8438322" cy="1631216"/>
          </a:xfrm>
          <a:prstGeom prst="rect">
            <a:avLst/>
          </a:prstGeom>
          <a:noFill/>
        </p:spPr>
        <p:txBody>
          <a:bodyPr wrap="square" rtlCol="0">
            <a:spAutoFit/>
          </a:bodyPr>
          <a:lstStyle/>
          <a:p>
            <a:endParaRPr kumimoji="1" lang="en-US" altLang="ja-JP" sz="2000" dirty="0">
              <a:latin typeface="メイリオ" panose="020B0604030504040204" pitchFamily="50" charset="-128"/>
              <a:ea typeface="メイリオ" panose="020B0604030504040204" pitchFamily="50" charset="-128"/>
              <a:hlinkClick r:id="rId2"/>
            </a:endParaRPr>
          </a:p>
          <a:p>
            <a:r>
              <a:rPr kumimoji="1" lang="en-US" altLang="ja-JP" sz="2000" dirty="0">
                <a:latin typeface="メイリオ" panose="020B0604030504040204" pitchFamily="50" charset="-128"/>
                <a:ea typeface="メイリオ" panose="020B0604030504040204" pitchFamily="50" charset="-128"/>
                <a:hlinkClick r:id="rId2"/>
              </a:rPr>
              <a:t>https://qiita.com/3000manJPY/items/ef7495960f472ec14377</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hlinkClick r:id="rId3"/>
              </a:rPr>
              <a:t>http://www.randpy.tokyo/entry/decision_tree_theory</a:t>
            </a:r>
            <a:endParaRPr kumimoji="1" lang="en-US" altLang="ja-JP" sz="2000" dirty="0">
              <a:latin typeface="メイリオ" panose="020B0604030504040204" pitchFamily="50" charset="-128"/>
              <a:ea typeface="メイリオ" panose="020B0604030504040204" pitchFamily="50" charset="-128"/>
            </a:endParaRPr>
          </a:p>
          <a:p>
            <a:endParaRPr kumimoji="1" lang="en-US" altLang="ja-JP" sz="2000" dirty="0">
              <a:latin typeface="メイリオ" panose="020B0604030504040204" pitchFamily="50" charset="-128"/>
              <a:ea typeface="メイリオ" panose="020B0604030504040204" pitchFamily="50" charset="-128"/>
            </a:endParaRPr>
          </a:p>
          <a:p>
            <a:endParaRPr kumimoji="1" lang="ja-JP" altLang="en-US" sz="2000" dirty="0">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4F68078D-FC08-4CA0-916E-94822962453D}"/>
              </a:ext>
            </a:extLst>
          </p:cNvPr>
          <p:cNvPicPr>
            <a:picLocks noChangeAspect="1"/>
          </p:cNvPicPr>
          <p:nvPr/>
        </p:nvPicPr>
        <p:blipFill>
          <a:blip r:embed="rId4"/>
          <a:stretch>
            <a:fillRect/>
          </a:stretch>
        </p:blipFill>
        <p:spPr>
          <a:xfrm>
            <a:off x="4453973" y="1182719"/>
            <a:ext cx="3105150" cy="1666875"/>
          </a:xfrm>
          <a:prstGeom prst="rect">
            <a:avLst/>
          </a:prstGeom>
        </p:spPr>
      </p:pic>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7AEB425-4001-451C-BB31-10B5ABF25749}"/>
                  </a:ext>
                </a:extLst>
              </p:cNvPr>
              <p:cNvSpPr txBox="1"/>
              <p:nvPr/>
            </p:nvSpPr>
            <p:spPr>
              <a:xfrm>
                <a:off x="2214213" y="2921512"/>
                <a:ext cx="8040758" cy="1569660"/>
              </a:xfrm>
              <a:prstGeom prst="rect">
                <a:avLst/>
              </a:prstGeom>
              <a:noFill/>
            </p:spPr>
            <p:txBody>
              <a:bodyPr wrap="square" rtlCol="0">
                <a:spAutoFit/>
              </a:bodyPr>
              <a:lstStyle/>
              <a:p>
                <a:r>
                  <a:rPr kumimoji="1" lang="en-US" altLang="ja-JP" sz="2400" dirty="0">
                    <a:latin typeface="メイリオ" panose="020B0604030504040204" pitchFamily="50" charset="-128"/>
                    <a:ea typeface="メイリオ" panose="020B0604030504040204" pitchFamily="50" charset="-128"/>
                  </a:rPr>
                  <a:t>c</a:t>
                </a:r>
                <a:r>
                  <a:rPr kumimoji="1" lang="ja-JP" altLang="en-US" sz="2400" dirty="0">
                    <a:latin typeface="メイリオ" panose="020B0604030504040204" pitchFamily="50" charset="-128"/>
                    <a:ea typeface="メイリオ" panose="020B0604030504040204" pitchFamily="50" charset="-128"/>
                  </a:rPr>
                  <a:t>：クラス数，</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t</a:t>
                </a:r>
                <a:r>
                  <a:rPr kumimoji="1" lang="ja-JP" altLang="en-US" sz="2400" dirty="0">
                    <a:latin typeface="メイリオ" panose="020B0604030504040204" pitchFamily="50" charset="-128"/>
                    <a:ea typeface="メイリオ" panose="020B0604030504040204" pitchFamily="50" charset="-128"/>
                  </a:rPr>
                  <a:t>：現在のノード，</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N</a:t>
                </a:r>
                <a:r>
                  <a:rPr kumimoji="1" lang="ja-JP" altLang="en-US" sz="2400" dirty="0">
                    <a:latin typeface="メイリオ" panose="020B0604030504040204" pitchFamily="50" charset="-128"/>
                    <a:ea typeface="メイリオ" panose="020B0604030504040204" pitchFamily="50" charset="-128"/>
                  </a:rPr>
                  <a:t>：</a:t>
                </a:r>
                <a:r>
                  <a:rPr kumimoji="1" lang="en-US" altLang="ja-JP" sz="2400" dirty="0">
                    <a:latin typeface="メイリオ" panose="020B0604030504040204" pitchFamily="50" charset="-128"/>
                    <a:ea typeface="メイリオ" panose="020B0604030504040204" pitchFamily="50" charset="-128"/>
                  </a:rPr>
                  <a:t>t</a:t>
                </a:r>
                <a:r>
                  <a:rPr kumimoji="1" lang="ja-JP" altLang="en-US" sz="2400" dirty="0">
                    <a:latin typeface="メイリオ" panose="020B0604030504040204" pitchFamily="50" charset="-128"/>
                    <a:ea typeface="メイリオ" panose="020B0604030504040204" pitchFamily="50" charset="-128"/>
                  </a:rPr>
                  <a:t>の訓練データ数，</a:t>
                </a:r>
                <a:endParaRPr kumimoji="1" lang="en-US" altLang="ja-JP" sz="2400" dirty="0">
                  <a:latin typeface="メイリオ" panose="020B0604030504040204" pitchFamily="50" charset="-128"/>
                  <a:ea typeface="メイリオ" panose="020B0604030504040204" pitchFamily="50" charset="-128"/>
                </a:endParaRPr>
              </a:p>
              <a:p>
                <a14:m>
                  <m:oMath xmlns:m="http://schemas.openxmlformats.org/officeDocument/2006/math">
                    <m:sSub>
                      <m:sSubPr>
                        <m:ctrlPr>
                          <a:rPr kumimoji="1" lang="en-US" altLang="ja-JP" sz="2400" b="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𝑛</m:t>
                        </m:r>
                      </m:e>
                      <m:sub>
                        <m:r>
                          <a:rPr kumimoji="1" lang="en-US" altLang="ja-JP" sz="2400" b="0" i="1" smtClean="0">
                            <a:latin typeface="Cambria Math" panose="02040503050406030204" pitchFamily="18" charset="0"/>
                            <a:ea typeface="メイリオ" panose="020B0604030504040204" pitchFamily="50" charset="-128"/>
                          </a:rPr>
                          <m:t>𝑖</m:t>
                        </m:r>
                      </m:sub>
                    </m:sSub>
                  </m:oMath>
                </a14:m>
                <a:r>
                  <a:rPr kumimoji="1" lang="ja-JP" altLang="en-US" sz="2400" dirty="0">
                    <a:latin typeface="メイリオ" panose="020B0604030504040204" pitchFamily="50" charset="-128"/>
                    <a:ea typeface="メイリオ" panose="020B0604030504040204" pitchFamily="50" charset="-128"/>
                  </a:rPr>
                  <a:t>：</a:t>
                </a:r>
                <a:r>
                  <a:rPr kumimoji="1" lang="en-US" altLang="ja-JP" sz="2400" dirty="0">
                    <a:latin typeface="メイリオ" panose="020B0604030504040204" pitchFamily="50" charset="-128"/>
                    <a:ea typeface="メイリオ" panose="020B0604030504040204" pitchFamily="50" charset="-128"/>
                  </a:rPr>
                  <a:t>t</a:t>
                </a:r>
                <a:r>
                  <a:rPr kumimoji="1" lang="ja-JP" altLang="en-US" sz="2400" dirty="0">
                    <a:latin typeface="メイリオ" panose="020B0604030504040204" pitchFamily="50" charset="-128"/>
                    <a:ea typeface="メイリオ" panose="020B0604030504040204" pitchFamily="50" charset="-128"/>
                  </a:rPr>
                  <a:t>においてクラス</a:t>
                </a:r>
                <a:r>
                  <a:rPr kumimoji="1" lang="en-US" altLang="ja-JP" sz="2400" dirty="0" err="1">
                    <a:latin typeface="メイリオ" panose="020B0604030504040204" pitchFamily="50" charset="-128"/>
                    <a:ea typeface="メイリオ" panose="020B0604030504040204" pitchFamily="50" charset="-128"/>
                  </a:rPr>
                  <a:t>i</a:t>
                </a:r>
                <a:r>
                  <a:rPr kumimoji="1" lang="ja-JP" altLang="en-US" sz="2400" dirty="0">
                    <a:latin typeface="メイリオ" panose="020B0604030504040204" pitchFamily="50" charset="-128"/>
                    <a:ea typeface="メイリオ" panose="020B0604030504040204" pitchFamily="50" charset="-128"/>
                  </a:rPr>
                  <a:t>に属する訓練データの数</a:t>
                </a:r>
              </a:p>
            </p:txBody>
          </p:sp>
        </mc:Choice>
        <mc:Fallback xmlns="">
          <p:sp>
            <p:nvSpPr>
              <p:cNvPr id="8" name="テキスト ボックス 7">
                <a:extLst>
                  <a:ext uri="{FF2B5EF4-FFF2-40B4-BE49-F238E27FC236}">
                    <a16:creationId xmlns:a16="http://schemas.microsoft.com/office/drawing/2014/main" id="{E7AEB425-4001-451C-BB31-10B5ABF25749}"/>
                  </a:ext>
                </a:extLst>
              </p:cNvPr>
              <p:cNvSpPr txBox="1">
                <a:spLocks noRot="1" noChangeAspect="1" noMove="1" noResize="1" noEditPoints="1" noAdjustHandles="1" noChangeArrowheads="1" noChangeShapeType="1" noTextEdit="1"/>
              </p:cNvSpPr>
              <p:nvPr/>
            </p:nvSpPr>
            <p:spPr>
              <a:xfrm>
                <a:off x="2214213" y="2921512"/>
                <a:ext cx="8040758" cy="1569660"/>
              </a:xfrm>
              <a:prstGeom prst="rect">
                <a:avLst/>
              </a:prstGeom>
              <a:blipFill>
                <a:blip r:embed="rId5"/>
                <a:stretch>
                  <a:fillRect l="-1137" t="-3101" b="-8527"/>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2069DF76-4313-45AD-A5BA-E3128194DD97}"/>
              </a:ext>
            </a:extLst>
          </p:cNvPr>
          <p:cNvSpPr txBox="1"/>
          <p:nvPr/>
        </p:nvSpPr>
        <p:spPr>
          <a:xfrm>
            <a:off x="2356207" y="4550907"/>
            <a:ext cx="344677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gini</a:t>
            </a:r>
            <a:r>
              <a:rPr kumimoji="1" lang="en-US" altLang="ja-JP" sz="2400" dirty="0">
                <a:latin typeface="メイリオ" panose="020B0604030504040204" pitchFamily="50" charset="-128"/>
                <a:ea typeface="メイリオ" panose="020B0604030504040204" pitchFamily="50" charset="-128"/>
              </a:rPr>
              <a:t>=0</a:t>
            </a:r>
            <a:r>
              <a:rPr kumimoji="1" lang="ja-JP" altLang="en-US" sz="2400" dirty="0">
                <a:latin typeface="メイリオ" panose="020B0604030504040204" pitchFamily="50" charset="-128"/>
                <a:ea typeface="メイリオ" panose="020B0604030504040204" pitchFamily="50" charset="-128"/>
              </a:rPr>
              <a:t>なら完全純度）</a:t>
            </a:r>
          </a:p>
        </p:txBody>
      </p:sp>
      <p:sp>
        <p:nvSpPr>
          <p:cNvPr id="5" name="テキスト ボックス 4">
            <a:extLst>
              <a:ext uri="{FF2B5EF4-FFF2-40B4-BE49-F238E27FC236}">
                <a16:creationId xmlns:a16="http://schemas.microsoft.com/office/drawing/2014/main" id="{F0AD4272-6251-4EA1-A53E-4AC64D124C46}"/>
              </a:ext>
            </a:extLst>
          </p:cNvPr>
          <p:cNvSpPr txBox="1"/>
          <p:nvPr/>
        </p:nvSpPr>
        <p:spPr>
          <a:xfrm>
            <a:off x="539058" y="285354"/>
            <a:ext cx="6032421" cy="461665"/>
          </a:xfrm>
          <a:prstGeom prst="rect">
            <a:avLst/>
          </a:prstGeom>
          <a:noFill/>
        </p:spPr>
        <p:txBody>
          <a:bodyPr wrap="none" rtlCol="0">
            <a:spAutoFit/>
          </a:bodyPr>
          <a:lstStyle/>
          <a:p>
            <a:pPr algn="l"/>
            <a:r>
              <a:rPr kumimoji="1" lang="ja-JP" altLang="en-US" sz="2400" b="1" dirty="0">
                <a:latin typeface="メイリオ" panose="020B0604030504040204" pitchFamily="50" charset="-128"/>
                <a:ea typeface="メイリオ" panose="020B0604030504040204" pitchFamily="50" charset="-128"/>
              </a:rPr>
              <a:t>決定木ではどのように純度を測っているか</a:t>
            </a:r>
          </a:p>
        </p:txBody>
      </p:sp>
    </p:spTree>
    <p:extLst>
      <p:ext uri="{BB962C8B-B14F-4D97-AF65-F5344CB8AC3E}">
        <p14:creationId xmlns:p14="http://schemas.microsoft.com/office/powerpoint/2010/main" val="2718449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吹き出し: 四角形 13">
            <a:extLst>
              <a:ext uri="{FF2B5EF4-FFF2-40B4-BE49-F238E27FC236}">
                <a16:creationId xmlns:a16="http://schemas.microsoft.com/office/drawing/2014/main" id="{F55CC9C2-C4D4-4F63-88E4-118BADDCDE51}"/>
              </a:ext>
            </a:extLst>
          </p:cNvPr>
          <p:cNvSpPr/>
          <p:nvPr/>
        </p:nvSpPr>
        <p:spPr>
          <a:xfrm>
            <a:off x="5182645" y="2743644"/>
            <a:ext cx="3387358" cy="1082686"/>
          </a:xfrm>
          <a:prstGeom prst="wedgeRectCallout">
            <a:avLst>
              <a:gd name="adj1" fmla="val -16765"/>
              <a:gd name="adj2" fmla="val -5867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33698A85-69E5-4D68-88D3-DEFF49E466B7}"/>
              </a:ext>
            </a:extLst>
          </p:cNvPr>
          <p:cNvSpPr txBox="1"/>
          <p:nvPr/>
        </p:nvSpPr>
        <p:spPr>
          <a:xfrm>
            <a:off x="283294" y="272053"/>
            <a:ext cx="3493264" cy="584775"/>
          </a:xfrm>
          <a:prstGeom prst="rect">
            <a:avLst/>
          </a:prstGeom>
          <a:noFill/>
        </p:spPr>
        <p:txBody>
          <a:bodyPr wrap="none" rtlCol="0">
            <a:spAutoFit/>
          </a:bodyPr>
          <a:lstStyle/>
          <a:p>
            <a:pPr algn="l"/>
            <a:r>
              <a:rPr kumimoji="1" lang="en-US" altLang="ja-JP" sz="3200" b="1" dirty="0">
                <a:latin typeface="メイリオ" panose="020B0604030504040204" pitchFamily="50" charset="-128"/>
                <a:ea typeface="メイリオ" panose="020B0604030504040204" pitchFamily="50" charset="-128"/>
              </a:rPr>
              <a:t>Gini</a:t>
            </a:r>
            <a:r>
              <a:rPr kumimoji="1" lang="ja-JP" altLang="en-US" sz="3200" b="1" dirty="0">
                <a:latin typeface="メイリオ" panose="020B0604030504040204" pitchFamily="50" charset="-128"/>
                <a:ea typeface="メイリオ" panose="020B0604030504040204" pitchFamily="50" charset="-128"/>
              </a:rPr>
              <a:t>係数の計算例</a:t>
            </a:r>
          </a:p>
        </p:txBody>
      </p:sp>
      <p:sp>
        <p:nvSpPr>
          <p:cNvPr id="3" name="テキスト ボックス 2">
            <a:extLst>
              <a:ext uri="{FF2B5EF4-FFF2-40B4-BE49-F238E27FC236}">
                <a16:creationId xmlns:a16="http://schemas.microsoft.com/office/drawing/2014/main" id="{72136D65-E4D4-4E9B-8872-3D569BD82056}"/>
              </a:ext>
            </a:extLst>
          </p:cNvPr>
          <p:cNvSpPr txBox="1"/>
          <p:nvPr/>
        </p:nvSpPr>
        <p:spPr>
          <a:xfrm>
            <a:off x="587829" y="975688"/>
            <a:ext cx="11234057"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ホットケーキ、パンケーキのレシピデータがそれぞれ</a:t>
            </a:r>
            <a:r>
              <a:rPr kumimoji="1" lang="en-US" altLang="ja-JP" sz="2400" dirty="0">
                <a:latin typeface="メイリオ" panose="020B0604030504040204" pitchFamily="50" charset="-128"/>
                <a:ea typeface="メイリオ" panose="020B0604030504040204" pitchFamily="50" charset="-128"/>
              </a:rPr>
              <a:t>50</a:t>
            </a:r>
            <a:r>
              <a:rPr kumimoji="1" lang="ja-JP" altLang="en-US" sz="2400" dirty="0">
                <a:latin typeface="メイリオ" panose="020B0604030504040204" pitchFamily="50" charset="-128"/>
                <a:ea typeface="メイリオ" panose="020B0604030504040204" pitchFamily="50" charset="-128"/>
              </a:rPr>
              <a:t>個づつあるとして、レシピ中に薄力粉のあるなしで判別してみたときに、以下のようになったとする。</a:t>
            </a:r>
            <a:endParaRPr kumimoji="1" lang="en-US" altLang="ja-JP" sz="2400" dirty="0">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75FA429F-2DCF-4EA0-B15A-EB26E367A951}"/>
              </a:ext>
            </a:extLst>
          </p:cNvPr>
          <p:cNvSpPr/>
          <p:nvPr/>
        </p:nvSpPr>
        <p:spPr>
          <a:xfrm>
            <a:off x="1720987" y="2053693"/>
            <a:ext cx="1968809" cy="9978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薄力粉</a:t>
            </a:r>
            <a:r>
              <a:rPr kumimoji="1" lang="en-US" altLang="ja-JP" dirty="0"/>
              <a:t>=yes</a:t>
            </a:r>
            <a:endParaRPr kumimoji="1" lang="ja-JP" altLang="en-US" dirty="0"/>
          </a:p>
        </p:txBody>
      </p:sp>
      <p:cxnSp>
        <p:nvCxnSpPr>
          <p:cNvPr id="7" name="直線矢印コネクタ 6">
            <a:extLst>
              <a:ext uri="{FF2B5EF4-FFF2-40B4-BE49-F238E27FC236}">
                <a16:creationId xmlns:a16="http://schemas.microsoft.com/office/drawing/2014/main" id="{477904EE-EEEA-4AC7-95CD-BDDDB2E6F5B7}"/>
              </a:ext>
            </a:extLst>
          </p:cNvPr>
          <p:cNvCxnSpPr>
            <a:cxnSpLocks/>
            <a:stCxn id="4" idx="2"/>
          </p:cNvCxnSpPr>
          <p:nvPr/>
        </p:nvCxnSpPr>
        <p:spPr>
          <a:xfrm flipH="1">
            <a:off x="1720987" y="3051574"/>
            <a:ext cx="984405" cy="653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599B6AB9-63B9-49A6-B201-D93FCACB98CA}"/>
              </a:ext>
            </a:extLst>
          </p:cNvPr>
          <p:cNvCxnSpPr>
            <a:cxnSpLocks/>
            <a:stCxn id="4" idx="2"/>
            <a:endCxn id="19" idx="0"/>
          </p:cNvCxnSpPr>
          <p:nvPr/>
        </p:nvCxnSpPr>
        <p:spPr>
          <a:xfrm>
            <a:off x="2705392" y="3051574"/>
            <a:ext cx="1233314" cy="673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0F6363DE-82CB-4450-81C8-F6F81A681DB6}"/>
              </a:ext>
            </a:extLst>
          </p:cNvPr>
          <p:cNvSpPr txBox="1"/>
          <p:nvPr/>
        </p:nvSpPr>
        <p:spPr>
          <a:xfrm>
            <a:off x="1542848" y="3100524"/>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08A26148-E9EE-4ED2-AD79-14DA6DC8CD2C}"/>
              </a:ext>
            </a:extLst>
          </p:cNvPr>
          <p:cNvSpPr txBox="1"/>
          <p:nvPr/>
        </p:nvSpPr>
        <p:spPr>
          <a:xfrm>
            <a:off x="612968" y="3851929"/>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[p:35,h:20]</a:t>
            </a:r>
            <a:endParaRPr kumimoji="1" lang="ja-JP" altLang="en-US" sz="24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4E2DB1CC-BA61-434E-B44E-AEB5CB92BC21}"/>
              </a:ext>
            </a:extLst>
          </p:cNvPr>
          <p:cNvSpPr txBox="1"/>
          <p:nvPr/>
        </p:nvSpPr>
        <p:spPr>
          <a:xfrm>
            <a:off x="2936803" y="3799075"/>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[p:15,h:30]</a:t>
            </a:r>
            <a:endParaRPr kumimoji="1" lang="ja-JP" altLang="en-US" sz="240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AD03DE02-87AA-430E-8874-1D10E364D271}"/>
              </a:ext>
            </a:extLst>
          </p:cNvPr>
          <p:cNvSpPr txBox="1"/>
          <p:nvPr/>
        </p:nvSpPr>
        <p:spPr>
          <a:xfrm>
            <a:off x="2982425" y="3081018"/>
            <a:ext cx="9387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a:t>
            </a:r>
            <a:endParaRPr kumimoji="1" lang="ja-JP" altLang="en-US" sz="24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C0E5ADCE-F997-4928-BC2F-264F8BB2CD77}"/>
                  </a:ext>
                </a:extLst>
              </p:cNvPr>
              <p:cNvSpPr txBox="1"/>
              <p:nvPr/>
            </p:nvSpPr>
            <p:spPr>
              <a:xfrm>
                <a:off x="5303820" y="2613339"/>
                <a:ext cx="6818085" cy="718017"/>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ノード</a:t>
                </a:r>
                <a:r>
                  <a:rPr kumimoji="1" lang="en-US" altLang="ja-JP" sz="2400" dirty="0">
                    <a:latin typeface="メイリオ" panose="020B0604030504040204" pitchFamily="50" charset="-128"/>
                    <a:ea typeface="メイリオ" panose="020B0604030504040204" pitchFamily="50" charset="-128"/>
                  </a:rPr>
                  <a:t>True</a:t>
                </a:r>
                <a:r>
                  <a:rPr kumimoji="1" lang="ja-JP" altLang="en-US" sz="2400" dirty="0">
                    <a:latin typeface="メイリオ" panose="020B0604030504040204" pitchFamily="50" charset="-128"/>
                    <a:ea typeface="メイリオ" panose="020B0604030504040204" pitchFamily="50" charset="-128"/>
                  </a:rPr>
                  <a:t>の</a:t>
                </a:r>
                <a:r>
                  <a:rPr kumimoji="1" lang="en-US" altLang="ja-JP" sz="2400" dirty="0" err="1">
                    <a:latin typeface="メイリオ" panose="020B0604030504040204" pitchFamily="50" charset="-128"/>
                    <a:ea typeface="メイリオ" panose="020B0604030504040204" pitchFamily="50" charset="-128"/>
                  </a:rPr>
                  <a:t>gini</a:t>
                </a:r>
                <a:r>
                  <a:rPr kumimoji="1" lang="ja-JP" altLang="en-US" sz="2400" dirty="0">
                    <a:latin typeface="メイリオ" panose="020B0604030504040204" pitchFamily="50" charset="-128"/>
                    <a:ea typeface="メイリオ" panose="020B0604030504040204" pitchFamily="50" charset="-128"/>
                  </a:rPr>
                  <a:t>係数：</a:t>
                </a:r>
                <a14:m>
                  <m:oMath xmlns:m="http://schemas.openxmlformats.org/officeDocument/2006/math">
                    <m:r>
                      <a:rPr kumimoji="1" lang="en-US" altLang="ja-JP" sz="2400" i="1">
                        <a:latin typeface="Cambria Math" panose="02040503050406030204" pitchFamily="18" charset="0"/>
                        <a:ea typeface="メイリオ" panose="020B0604030504040204" pitchFamily="50" charset="-128"/>
                      </a:rPr>
                      <m:t>1−</m:t>
                    </m:r>
                    <m:sSup>
                      <m:sSupPr>
                        <m:ctrlPr>
                          <a:rPr kumimoji="1" lang="en-US" altLang="ja-JP" sz="2400" i="1">
                            <a:latin typeface="Cambria Math" panose="02040503050406030204" pitchFamily="18" charset="0"/>
                            <a:ea typeface="メイリオ" panose="020B0604030504040204" pitchFamily="50" charset="-128"/>
                          </a:rPr>
                        </m:ctrlPr>
                      </m:sSupPr>
                      <m:e>
                        <m:d>
                          <m:dPr>
                            <m:ctrlPr>
                              <a:rPr kumimoji="1" lang="en-US" altLang="ja-JP" sz="2400" i="1">
                                <a:latin typeface="Cambria Math" panose="02040503050406030204" pitchFamily="18" charset="0"/>
                                <a:ea typeface="メイリオ" panose="020B0604030504040204" pitchFamily="50" charset="-128"/>
                              </a:rPr>
                            </m:ctrlPr>
                          </m:dPr>
                          <m:e>
                            <m:f>
                              <m:fPr>
                                <m:ctrlPr>
                                  <a:rPr kumimoji="1" lang="en-US" altLang="ja-JP" sz="2400" i="1">
                                    <a:latin typeface="Cambria Math" panose="02040503050406030204" pitchFamily="18" charset="0"/>
                                    <a:ea typeface="メイリオ" panose="020B0604030504040204" pitchFamily="50" charset="-128"/>
                                  </a:rPr>
                                </m:ctrlPr>
                              </m:fPr>
                              <m:num>
                                <m:r>
                                  <a:rPr kumimoji="1" lang="en-US" altLang="ja-JP" sz="2400" i="1">
                                    <a:latin typeface="Cambria Math" panose="02040503050406030204" pitchFamily="18" charset="0"/>
                                    <a:ea typeface="メイリオ" panose="020B0604030504040204" pitchFamily="50" charset="-128"/>
                                  </a:rPr>
                                  <m:t>35</m:t>
                                </m:r>
                              </m:num>
                              <m:den>
                                <m:r>
                                  <a:rPr kumimoji="1" lang="en-US" altLang="ja-JP" sz="2400" i="1">
                                    <a:latin typeface="Cambria Math" panose="02040503050406030204" pitchFamily="18" charset="0"/>
                                    <a:ea typeface="メイリオ" panose="020B0604030504040204" pitchFamily="50" charset="-128"/>
                                  </a:rPr>
                                  <m:t>55</m:t>
                                </m:r>
                              </m:den>
                            </m:f>
                          </m:e>
                        </m:d>
                      </m:e>
                      <m:sup>
                        <m:r>
                          <a:rPr kumimoji="1" lang="en-US" altLang="ja-JP" sz="2400" i="1">
                            <a:latin typeface="Cambria Math" panose="02040503050406030204" pitchFamily="18" charset="0"/>
                            <a:ea typeface="メイリオ" panose="020B0604030504040204" pitchFamily="50" charset="-128"/>
                          </a:rPr>
                          <m:t>2</m:t>
                        </m:r>
                      </m:sup>
                    </m:sSup>
                    <m:r>
                      <a:rPr kumimoji="1" lang="en-US" altLang="ja-JP" sz="2400" i="1">
                        <a:latin typeface="Cambria Math" panose="02040503050406030204" pitchFamily="18" charset="0"/>
                        <a:ea typeface="メイリオ" panose="020B0604030504040204" pitchFamily="50" charset="-128"/>
                      </a:rPr>
                      <m:t>−</m:t>
                    </m:r>
                    <m:sSup>
                      <m:sSupPr>
                        <m:ctrlPr>
                          <a:rPr kumimoji="1" lang="en-US" altLang="ja-JP" sz="2400" i="1">
                            <a:latin typeface="Cambria Math" panose="02040503050406030204" pitchFamily="18" charset="0"/>
                            <a:ea typeface="メイリオ" panose="020B0604030504040204" pitchFamily="50" charset="-128"/>
                          </a:rPr>
                        </m:ctrlPr>
                      </m:sSupPr>
                      <m:e>
                        <m:d>
                          <m:dPr>
                            <m:ctrlPr>
                              <a:rPr kumimoji="1" lang="en-US" altLang="ja-JP" sz="2400" i="1">
                                <a:latin typeface="Cambria Math" panose="02040503050406030204" pitchFamily="18" charset="0"/>
                                <a:ea typeface="メイリオ" panose="020B0604030504040204" pitchFamily="50" charset="-128"/>
                              </a:rPr>
                            </m:ctrlPr>
                          </m:dPr>
                          <m:e>
                            <m:f>
                              <m:fPr>
                                <m:ctrlPr>
                                  <a:rPr kumimoji="1" lang="en-US" altLang="ja-JP" sz="2400" i="1">
                                    <a:latin typeface="Cambria Math" panose="02040503050406030204" pitchFamily="18" charset="0"/>
                                    <a:ea typeface="メイリオ" panose="020B0604030504040204" pitchFamily="50" charset="-128"/>
                                  </a:rPr>
                                </m:ctrlPr>
                              </m:fPr>
                              <m:num>
                                <m:r>
                                  <a:rPr kumimoji="1" lang="en-US" altLang="ja-JP" sz="2400" i="1">
                                    <a:latin typeface="Cambria Math" panose="02040503050406030204" pitchFamily="18" charset="0"/>
                                    <a:ea typeface="メイリオ" panose="020B0604030504040204" pitchFamily="50" charset="-128"/>
                                  </a:rPr>
                                  <m:t>20</m:t>
                                </m:r>
                              </m:num>
                              <m:den>
                                <m:r>
                                  <a:rPr kumimoji="1" lang="en-US" altLang="ja-JP" sz="2400" i="1">
                                    <a:latin typeface="Cambria Math" panose="02040503050406030204" pitchFamily="18" charset="0"/>
                                    <a:ea typeface="メイリオ" panose="020B0604030504040204" pitchFamily="50" charset="-128"/>
                                  </a:rPr>
                                  <m:t>55</m:t>
                                </m:r>
                              </m:den>
                            </m:f>
                          </m:e>
                        </m:d>
                      </m:e>
                      <m:sup>
                        <m:r>
                          <a:rPr kumimoji="1" lang="en-US" altLang="ja-JP" sz="2400" i="1">
                            <a:latin typeface="Cambria Math" panose="02040503050406030204" pitchFamily="18" charset="0"/>
                            <a:ea typeface="メイリオ" panose="020B0604030504040204" pitchFamily="50" charset="-128"/>
                          </a:rPr>
                          <m:t>2</m:t>
                        </m:r>
                      </m:sup>
                    </m:sSup>
                    <m:r>
                      <a:rPr kumimoji="1" lang="en-US" altLang="ja-JP" sz="2400" i="1">
                        <a:latin typeface="Cambria Math" panose="02040503050406030204" pitchFamily="18" charset="0"/>
                        <a:ea typeface="メイリオ" panose="020B0604030504040204" pitchFamily="50" charset="-128"/>
                      </a:rPr>
                      <m:t>=0.46</m:t>
                    </m:r>
                  </m:oMath>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28" name="テキスト ボックス 27">
                <a:extLst>
                  <a:ext uri="{FF2B5EF4-FFF2-40B4-BE49-F238E27FC236}">
                    <a16:creationId xmlns:a16="http://schemas.microsoft.com/office/drawing/2014/main" id="{C0E5ADCE-F997-4928-BC2F-264F8BB2CD77}"/>
                  </a:ext>
                </a:extLst>
              </p:cNvPr>
              <p:cNvSpPr txBox="1">
                <a:spLocks noRot="1" noChangeAspect="1" noMove="1" noResize="1" noEditPoints="1" noAdjustHandles="1" noChangeArrowheads="1" noChangeShapeType="1" noTextEdit="1"/>
              </p:cNvSpPr>
              <p:nvPr/>
            </p:nvSpPr>
            <p:spPr>
              <a:xfrm>
                <a:off x="5303820" y="2613339"/>
                <a:ext cx="6818085" cy="718017"/>
              </a:xfrm>
              <a:prstGeom prst="rect">
                <a:avLst/>
              </a:prstGeom>
              <a:blipFill>
                <a:blip r:embed="rId2"/>
                <a:stretch>
                  <a:fillRect l="-1340" b="-1196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11AAC15B-BD1B-4315-B0E0-4B2EF119A52A}"/>
                  </a:ext>
                </a:extLst>
              </p:cNvPr>
              <p:cNvSpPr txBox="1"/>
              <p:nvPr/>
            </p:nvSpPr>
            <p:spPr>
              <a:xfrm>
                <a:off x="5257270" y="3224264"/>
                <a:ext cx="6911187" cy="718017"/>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ノード</a:t>
                </a:r>
                <a:r>
                  <a:rPr kumimoji="1" lang="en-US" altLang="ja-JP" sz="2400" dirty="0">
                    <a:latin typeface="メイリオ" panose="020B0604030504040204" pitchFamily="50" charset="-128"/>
                    <a:ea typeface="メイリオ" panose="020B0604030504040204" pitchFamily="50" charset="-128"/>
                  </a:rPr>
                  <a:t>False</a:t>
                </a:r>
                <a:r>
                  <a:rPr kumimoji="1" lang="ja-JP" altLang="en-US" sz="2400" dirty="0">
                    <a:latin typeface="メイリオ" panose="020B0604030504040204" pitchFamily="50" charset="-128"/>
                    <a:ea typeface="メイリオ" panose="020B0604030504040204" pitchFamily="50" charset="-128"/>
                  </a:rPr>
                  <a:t>の</a:t>
                </a:r>
                <a:r>
                  <a:rPr kumimoji="1" lang="en-US" altLang="ja-JP" sz="2400" dirty="0" err="1">
                    <a:latin typeface="メイリオ" panose="020B0604030504040204" pitchFamily="50" charset="-128"/>
                    <a:ea typeface="メイリオ" panose="020B0604030504040204" pitchFamily="50" charset="-128"/>
                  </a:rPr>
                  <a:t>gini</a:t>
                </a:r>
                <a:r>
                  <a:rPr kumimoji="1" lang="ja-JP" altLang="en-US" sz="2400" dirty="0">
                    <a:latin typeface="メイリオ" panose="020B0604030504040204" pitchFamily="50" charset="-128"/>
                    <a:ea typeface="メイリオ" panose="020B0604030504040204" pitchFamily="50" charset="-128"/>
                  </a:rPr>
                  <a:t>係数：</a:t>
                </a:r>
                <a14:m>
                  <m:oMath xmlns:m="http://schemas.openxmlformats.org/officeDocument/2006/math">
                    <m:r>
                      <a:rPr kumimoji="1" lang="en-US" altLang="ja-JP" sz="2400" i="1">
                        <a:latin typeface="Cambria Math" panose="02040503050406030204" pitchFamily="18" charset="0"/>
                        <a:ea typeface="メイリオ" panose="020B0604030504040204" pitchFamily="50" charset="-128"/>
                      </a:rPr>
                      <m:t>1−</m:t>
                    </m:r>
                    <m:sSup>
                      <m:sSupPr>
                        <m:ctrlPr>
                          <a:rPr kumimoji="1" lang="en-US" altLang="ja-JP" sz="2400" i="1">
                            <a:latin typeface="Cambria Math" panose="02040503050406030204" pitchFamily="18" charset="0"/>
                            <a:ea typeface="メイリオ" panose="020B0604030504040204" pitchFamily="50" charset="-128"/>
                          </a:rPr>
                        </m:ctrlPr>
                      </m:sSupPr>
                      <m:e>
                        <m:d>
                          <m:dPr>
                            <m:ctrlPr>
                              <a:rPr kumimoji="1" lang="en-US" altLang="ja-JP" sz="2400" i="1">
                                <a:latin typeface="Cambria Math" panose="02040503050406030204" pitchFamily="18" charset="0"/>
                                <a:ea typeface="メイリオ" panose="020B0604030504040204" pitchFamily="50" charset="-128"/>
                              </a:rPr>
                            </m:ctrlPr>
                          </m:dPr>
                          <m:e>
                            <m:f>
                              <m:fPr>
                                <m:ctrlPr>
                                  <a:rPr kumimoji="1" lang="en-US" altLang="ja-JP" sz="2400" i="1">
                                    <a:latin typeface="Cambria Math" panose="02040503050406030204" pitchFamily="18" charset="0"/>
                                    <a:ea typeface="メイリオ" panose="020B0604030504040204" pitchFamily="50" charset="-128"/>
                                  </a:rPr>
                                </m:ctrlPr>
                              </m:fPr>
                              <m:num>
                                <m:r>
                                  <a:rPr kumimoji="1" lang="en-US" altLang="ja-JP" sz="2400" i="1">
                                    <a:latin typeface="Cambria Math" panose="02040503050406030204" pitchFamily="18" charset="0"/>
                                    <a:ea typeface="メイリオ" panose="020B0604030504040204" pitchFamily="50" charset="-128"/>
                                  </a:rPr>
                                  <m:t>15</m:t>
                                </m:r>
                              </m:num>
                              <m:den>
                                <m:r>
                                  <a:rPr kumimoji="1" lang="en-US" altLang="ja-JP" sz="2400" i="1">
                                    <a:latin typeface="Cambria Math" panose="02040503050406030204" pitchFamily="18" charset="0"/>
                                    <a:ea typeface="メイリオ" panose="020B0604030504040204" pitchFamily="50" charset="-128"/>
                                  </a:rPr>
                                  <m:t>45</m:t>
                                </m:r>
                              </m:den>
                            </m:f>
                          </m:e>
                        </m:d>
                      </m:e>
                      <m:sup>
                        <m:r>
                          <a:rPr kumimoji="1" lang="en-US" altLang="ja-JP" sz="2400" i="1">
                            <a:latin typeface="Cambria Math" panose="02040503050406030204" pitchFamily="18" charset="0"/>
                            <a:ea typeface="メイリオ" panose="020B0604030504040204" pitchFamily="50" charset="-128"/>
                          </a:rPr>
                          <m:t>2</m:t>
                        </m:r>
                      </m:sup>
                    </m:sSup>
                    <m:r>
                      <a:rPr kumimoji="1" lang="en-US" altLang="ja-JP" sz="2400" i="1">
                        <a:latin typeface="Cambria Math" panose="02040503050406030204" pitchFamily="18" charset="0"/>
                        <a:ea typeface="メイリオ" panose="020B0604030504040204" pitchFamily="50" charset="-128"/>
                      </a:rPr>
                      <m:t>−</m:t>
                    </m:r>
                    <m:sSup>
                      <m:sSupPr>
                        <m:ctrlPr>
                          <a:rPr kumimoji="1" lang="en-US" altLang="ja-JP" sz="2400" i="1">
                            <a:latin typeface="Cambria Math" panose="02040503050406030204" pitchFamily="18" charset="0"/>
                            <a:ea typeface="メイリオ" panose="020B0604030504040204" pitchFamily="50" charset="-128"/>
                          </a:rPr>
                        </m:ctrlPr>
                      </m:sSupPr>
                      <m:e>
                        <m:d>
                          <m:dPr>
                            <m:ctrlPr>
                              <a:rPr kumimoji="1" lang="en-US" altLang="ja-JP" sz="2400" i="1">
                                <a:latin typeface="Cambria Math" panose="02040503050406030204" pitchFamily="18" charset="0"/>
                                <a:ea typeface="メイリオ" panose="020B0604030504040204" pitchFamily="50" charset="-128"/>
                              </a:rPr>
                            </m:ctrlPr>
                          </m:dPr>
                          <m:e>
                            <m:f>
                              <m:fPr>
                                <m:ctrlPr>
                                  <a:rPr kumimoji="1" lang="en-US" altLang="ja-JP" sz="2400" i="1">
                                    <a:latin typeface="Cambria Math" panose="02040503050406030204" pitchFamily="18" charset="0"/>
                                    <a:ea typeface="メイリオ" panose="020B0604030504040204" pitchFamily="50" charset="-128"/>
                                  </a:rPr>
                                </m:ctrlPr>
                              </m:fPr>
                              <m:num>
                                <m:r>
                                  <a:rPr kumimoji="1" lang="en-US" altLang="ja-JP" sz="2400" i="1">
                                    <a:latin typeface="Cambria Math" panose="02040503050406030204" pitchFamily="18" charset="0"/>
                                    <a:ea typeface="メイリオ" panose="020B0604030504040204" pitchFamily="50" charset="-128"/>
                                  </a:rPr>
                                  <m:t>30</m:t>
                                </m:r>
                              </m:num>
                              <m:den>
                                <m:r>
                                  <a:rPr kumimoji="1" lang="en-US" altLang="ja-JP" sz="2400" i="1">
                                    <a:latin typeface="Cambria Math" panose="02040503050406030204" pitchFamily="18" charset="0"/>
                                    <a:ea typeface="メイリオ" panose="020B0604030504040204" pitchFamily="50" charset="-128"/>
                                  </a:rPr>
                                  <m:t>45</m:t>
                                </m:r>
                              </m:den>
                            </m:f>
                          </m:e>
                        </m:d>
                      </m:e>
                      <m:sup>
                        <m:r>
                          <a:rPr kumimoji="1" lang="en-US" altLang="ja-JP" sz="2400" i="1">
                            <a:latin typeface="Cambria Math" panose="02040503050406030204" pitchFamily="18" charset="0"/>
                            <a:ea typeface="メイリオ" panose="020B0604030504040204" pitchFamily="50" charset="-128"/>
                          </a:rPr>
                          <m:t>2</m:t>
                        </m:r>
                      </m:sup>
                    </m:sSup>
                    <m:r>
                      <a:rPr kumimoji="1" lang="en-US" altLang="ja-JP" sz="2400" i="1">
                        <a:latin typeface="Cambria Math" panose="02040503050406030204" pitchFamily="18" charset="0"/>
                        <a:ea typeface="メイリオ" panose="020B0604030504040204" pitchFamily="50" charset="-128"/>
                      </a:rPr>
                      <m:t>=0.44</m:t>
                    </m:r>
                  </m:oMath>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29" name="テキスト ボックス 28">
                <a:extLst>
                  <a:ext uri="{FF2B5EF4-FFF2-40B4-BE49-F238E27FC236}">
                    <a16:creationId xmlns:a16="http://schemas.microsoft.com/office/drawing/2014/main" id="{11AAC15B-BD1B-4315-B0E0-4B2EF119A52A}"/>
                  </a:ext>
                </a:extLst>
              </p:cNvPr>
              <p:cNvSpPr txBox="1">
                <a:spLocks noRot="1" noChangeAspect="1" noMove="1" noResize="1" noEditPoints="1" noAdjustHandles="1" noChangeArrowheads="1" noChangeShapeType="1" noTextEdit="1"/>
              </p:cNvSpPr>
              <p:nvPr/>
            </p:nvSpPr>
            <p:spPr>
              <a:xfrm>
                <a:off x="5257270" y="3224264"/>
                <a:ext cx="6911187" cy="718017"/>
              </a:xfrm>
              <a:prstGeom prst="rect">
                <a:avLst/>
              </a:prstGeom>
              <a:blipFill>
                <a:blip r:embed="rId3"/>
                <a:stretch>
                  <a:fillRect l="-1323" b="-1101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E7E19FDA-C1C2-4035-BA3E-8EC43E2A408C}"/>
                  </a:ext>
                </a:extLst>
              </p:cNvPr>
              <p:cNvSpPr txBox="1"/>
              <p:nvPr/>
            </p:nvSpPr>
            <p:spPr>
              <a:xfrm>
                <a:off x="5822347" y="4681985"/>
                <a:ext cx="4577087" cy="441596"/>
              </a:xfrm>
              <a:prstGeom prst="rect">
                <a:avLst/>
              </a:prstGeom>
              <a:noFill/>
            </p:spPr>
            <p:txBody>
              <a:bodyPr wrap="none" lIns="0" tIns="0" rIns="0" bIns="0" rtlCol="0">
                <a:spAutoFit/>
              </a:bodyPr>
              <a:lstStyle/>
              <a:p>
                <a:pPr algn="l"/>
                <a14:m>
                  <m:oMath xmlns:m="http://schemas.openxmlformats.org/officeDocument/2006/math">
                    <m:r>
                      <a:rPr kumimoji="1" lang="en-US" altLang="ja-JP" sz="2000" i="1">
                        <a:latin typeface="Cambria Math" panose="02040503050406030204" pitchFamily="18" charset="0"/>
                        <a:ea typeface="メイリオ" panose="020B0604030504040204" pitchFamily="50" charset="-128"/>
                      </a:rPr>
                      <m:t>𝑔𝑖𝑛𝑖</m:t>
                    </m:r>
                  </m:oMath>
                </a14:m>
                <a:r>
                  <a:rPr kumimoji="1" lang="ja-JP" altLang="en-US" sz="2000" dirty="0">
                    <a:latin typeface="メイリオ" panose="020B0604030504040204" pitchFamily="50" charset="-128"/>
                    <a:ea typeface="メイリオ" panose="020B0604030504040204" pitchFamily="50" charset="-128"/>
                  </a:rPr>
                  <a:t>平均：</a:t>
                </a:r>
                <a14:m>
                  <m:oMath xmlns:m="http://schemas.openxmlformats.org/officeDocument/2006/math">
                    <m:f>
                      <m:fPr>
                        <m:ctrlPr>
                          <a:rPr kumimoji="1" lang="en-US" altLang="ja-JP" sz="2000" i="1">
                            <a:latin typeface="Cambria Math" panose="02040503050406030204" pitchFamily="18" charset="0"/>
                            <a:ea typeface="メイリオ" panose="020B0604030504040204" pitchFamily="50" charset="-128"/>
                          </a:rPr>
                        </m:ctrlPr>
                      </m:fPr>
                      <m:num>
                        <m:r>
                          <a:rPr kumimoji="1" lang="en-US" altLang="ja-JP" sz="2000" i="1">
                            <a:latin typeface="Cambria Math" panose="02040503050406030204" pitchFamily="18" charset="0"/>
                            <a:ea typeface="メイリオ" panose="020B0604030504040204" pitchFamily="50" charset="-128"/>
                          </a:rPr>
                          <m:t>55</m:t>
                        </m:r>
                      </m:num>
                      <m:den>
                        <m:r>
                          <a:rPr kumimoji="1" lang="en-US" altLang="ja-JP" sz="2000" i="1">
                            <a:latin typeface="Cambria Math" panose="02040503050406030204" pitchFamily="18" charset="0"/>
                            <a:ea typeface="メイリオ" panose="020B0604030504040204" pitchFamily="50" charset="-128"/>
                          </a:rPr>
                          <m:t>100</m:t>
                        </m:r>
                      </m:den>
                    </m:f>
                    <m:r>
                      <a:rPr kumimoji="1" lang="en-US" altLang="ja-JP" sz="2000" i="1">
                        <a:latin typeface="Cambria Math" panose="02040503050406030204" pitchFamily="18" charset="0"/>
                        <a:ea typeface="Cambria Math" panose="02040503050406030204" pitchFamily="18" charset="0"/>
                      </a:rPr>
                      <m:t>×0.46+</m:t>
                    </m:r>
                    <m:f>
                      <m:fPr>
                        <m:ctrlPr>
                          <a:rPr kumimoji="1" lang="en-US" altLang="ja-JP" sz="2000" i="1">
                            <a:latin typeface="Cambria Math" panose="02040503050406030204" pitchFamily="18" charset="0"/>
                            <a:ea typeface="Cambria Math" panose="02040503050406030204" pitchFamily="18" charset="0"/>
                          </a:rPr>
                        </m:ctrlPr>
                      </m:fPr>
                      <m:num>
                        <m:r>
                          <a:rPr kumimoji="1" lang="en-US" altLang="ja-JP" sz="2000" i="1">
                            <a:latin typeface="Cambria Math" panose="02040503050406030204" pitchFamily="18" charset="0"/>
                            <a:ea typeface="Cambria Math" panose="02040503050406030204" pitchFamily="18" charset="0"/>
                          </a:rPr>
                          <m:t>45</m:t>
                        </m:r>
                      </m:num>
                      <m:den>
                        <m:r>
                          <a:rPr kumimoji="1" lang="en-US" altLang="ja-JP" sz="2000" i="1">
                            <a:latin typeface="Cambria Math" panose="02040503050406030204" pitchFamily="18" charset="0"/>
                            <a:ea typeface="Cambria Math" panose="02040503050406030204" pitchFamily="18" charset="0"/>
                          </a:rPr>
                          <m:t>100</m:t>
                        </m:r>
                      </m:den>
                    </m:f>
                    <m:r>
                      <a:rPr kumimoji="1" lang="en-US" altLang="ja-JP" sz="2000" i="1">
                        <a:latin typeface="Cambria Math" panose="02040503050406030204" pitchFamily="18" charset="0"/>
                        <a:ea typeface="Cambria Math" panose="02040503050406030204" pitchFamily="18" charset="0"/>
                      </a:rPr>
                      <m:t>×0.44=0.45</m:t>
                    </m:r>
                  </m:oMath>
                </a14:m>
                <a:endParaRPr kumimoji="1" lang="ja-JP" altLang="en-US" sz="2000" dirty="0">
                  <a:latin typeface="メイリオ" panose="020B0604030504040204" pitchFamily="50" charset="-128"/>
                  <a:ea typeface="メイリオ" panose="020B0604030504040204" pitchFamily="50" charset="-128"/>
                </a:endParaRPr>
              </a:p>
            </p:txBody>
          </p:sp>
        </mc:Choice>
        <mc:Fallback xmlns="">
          <p:sp>
            <p:nvSpPr>
              <p:cNvPr id="32" name="テキスト ボックス 31">
                <a:extLst>
                  <a:ext uri="{FF2B5EF4-FFF2-40B4-BE49-F238E27FC236}">
                    <a16:creationId xmlns:a16="http://schemas.microsoft.com/office/drawing/2014/main" id="{E7E19FDA-C1C2-4035-BA3E-8EC43E2A408C}"/>
                  </a:ext>
                </a:extLst>
              </p:cNvPr>
              <p:cNvSpPr txBox="1">
                <a:spLocks noRot="1" noChangeAspect="1" noMove="1" noResize="1" noEditPoints="1" noAdjustHandles="1" noChangeArrowheads="1" noChangeShapeType="1" noTextEdit="1"/>
              </p:cNvSpPr>
              <p:nvPr/>
            </p:nvSpPr>
            <p:spPr>
              <a:xfrm>
                <a:off x="5822347" y="4681985"/>
                <a:ext cx="4577087" cy="441596"/>
              </a:xfrm>
              <a:prstGeom prst="rect">
                <a:avLst/>
              </a:prstGeom>
              <a:blipFill>
                <a:blip r:embed="rId4"/>
                <a:stretch>
                  <a:fillRect b="-25000"/>
                </a:stretch>
              </a:blipFill>
            </p:spPr>
            <p:txBody>
              <a:bodyPr/>
              <a:lstStyle/>
              <a:p>
                <a:r>
                  <a:rPr lang="ja-JP" altLang="en-US">
                    <a:noFill/>
                  </a:rPr>
                  <a:t> </a:t>
                </a:r>
              </a:p>
            </p:txBody>
          </p:sp>
        </mc:Fallback>
      </mc:AlternateContent>
      <p:sp>
        <p:nvSpPr>
          <p:cNvPr id="5" name="矢印: 下 4">
            <a:extLst>
              <a:ext uri="{FF2B5EF4-FFF2-40B4-BE49-F238E27FC236}">
                <a16:creationId xmlns:a16="http://schemas.microsoft.com/office/drawing/2014/main" id="{E0F5D285-B213-4A0B-AD83-D9EBD9A04846}"/>
              </a:ext>
            </a:extLst>
          </p:cNvPr>
          <p:cNvSpPr/>
          <p:nvPr/>
        </p:nvSpPr>
        <p:spPr>
          <a:xfrm>
            <a:off x="6413300" y="4048627"/>
            <a:ext cx="1272617" cy="4415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2EE3608-CD6A-443C-B73F-7554C8B76E0A}"/>
              </a:ext>
            </a:extLst>
          </p:cNvPr>
          <p:cNvSpPr txBox="1"/>
          <p:nvPr/>
        </p:nvSpPr>
        <p:spPr>
          <a:xfrm>
            <a:off x="5116439" y="5691209"/>
            <a:ext cx="5178756" cy="1077218"/>
          </a:xfrm>
          <a:prstGeom prst="rect">
            <a:avLst/>
          </a:prstGeom>
          <a:noFill/>
        </p:spPr>
        <p:txBody>
          <a:bodyPr wrap="square" rtlCol="0">
            <a:spAutoFit/>
          </a:bodyPr>
          <a:lstStyle/>
          <a:p>
            <a:r>
              <a:rPr kumimoji="1" lang="en-US" altLang="ja-JP" sz="1600" dirty="0">
                <a:latin typeface="メイリオ" panose="020B0604030504040204" pitchFamily="50" charset="-128"/>
                <a:ea typeface="メイリオ" panose="020B0604030504040204" pitchFamily="50" charset="-128"/>
              </a:rPr>
              <a:t>c</a:t>
            </a:r>
            <a:r>
              <a:rPr kumimoji="1" lang="ja-JP" altLang="en-US" sz="1600" dirty="0">
                <a:latin typeface="メイリオ" panose="020B0604030504040204" pitchFamily="50" charset="-128"/>
                <a:ea typeface="メイリオ" panose="020B0604030504040204" pitchFamily="50" charset="-128"/>
              </a:rPr>
              <a:t>：クラス数，</a:t>
            </a:r>
            <a:endParaRPr kumimoji="1" lang="en-US" altLang="ja-JP" sz="1600" dirty="0">
              <a:latin typeface="メイリオ" panose="020B0604030504040204" pitchFamily="50" charset="-128"/>
              <a:ea typeface="メイリオ" panose="020B0604030504040204" pitchFamily="50" charset="-128"/>
            </a:endParaRPr>
          </a:p>
          <a:p>
            <a:r>
              <a:rPr kumimoji="1" lang="en-US" altLang="ja-JP" sz="1600" dirty="0">
                <a:latin typeface="メイリオ" panose="020B0604030504040204" pitchFamily="50" charset="-128"/>
                <a:ea typeface="メイリオ" panose="020B0604030504040204" pitchFamily="50" charset="-128"/>
              </a:rPr>
              <a:t>t</a:t>
            </a:r>
            <a:r>
              <a:rPr kumimoji="1" lang="ja-JP" altLang="en-US" sz="1600" dirty="0">
                <a:latin typeface="メイリオ" panose="020B0604030504040204" pitchFamily="50" charset="-128"/>
                <a:ea typeface="メイリオ" panose="020B0604030504040204" pitchFamily="50" charset="-128"/>
              </a:rPr>
              <a:t>：現在のノード（上記では</a:t>
            </a:r>
            <a:r>
              <a:rPr kumimoji="1" lang="en-US" altLang="ja-JP" sz="1600" dirty="0">
                <a:latin typeface="メイリオ" panose="020B0604030504040204" pitchFamily="50" charset="-128"/>
                <a:ea typeface="メイリオ" panose="020B0604030504040204" pitchFamily="50" charset="-128"/>
              </a:rPr>
              <a:t>yes</a:t>
            </a:r>
            <a:r>
              <a:rPr kumimoji="1" lang="ja-JP" altLang="en-US" sz="1600" dirty="0" err="1">
                <a:latin typeface="メイリオ" panose="020B0604030504040204" pitchFamily="50" charset="-128"/>
                <a:ea typeface="メイリオ" panose="020B0604030504040204" pitchFamily="50" charset="-128"/>
              </a:rPr>
              <a:t>，</a:t>
            </a:r>
            <a:r>
              <a:rPr kumimoji="1" lang="en-US" altLang="ja-JP" sz="1600" dirty="0">
                <a:latin typeface="メイリオ" panose="020B0604030504040204" pitchFamily="50" charset="-128"/>
                <a:ea typeface="メイリオ" panose="020B0604030504040204" pitchFamily="50" charset="-128"/>
              </a:rPr>
              <a:t>no</a:t>
            </a:r>
            <a:r>
              <a:rPr kumimoji="1" lang="ja-JP" altLang="en-US" sz="1600" dirty="0">
                <a:latin typeface="メイリオ" panose="020B0604030504040204" pitchFamily="50" charset="-128"/>
                <a:ea typeface="メイリオ" panose="020B0604030504040204" pitchFamily="50" charset="-128"/>
              </a:rPr>
              <a:t>各ノード</a:t>
            </a:r>
            <a:endParaRPr kumimoji="1" lang="en-US" altLang="ja-JP" sz="1600" dirty="0">
              <a:latin typeface="メイリオ" panose="020B0604030504040204" pitchFamily="50" charset="-128"/>
              <a:ea typeface="メイリオ" panose="020B0604030504040204" pitchFamily="50" charset="-128"/>
            </a:endParaRPr>
          </a:p>
          <a:p>
            <a:r>
              <a:rPr kumimoji="1" lang="en-US" altLang="ja-JP" sz="1600" dirty="0">
                <a:latin typeface="メイリオ" panose="020B0604030504040204" pitchFamily="50" charset="-128"/>
                <a:ea typeface="メイリオ" panose="020B0604030504040204" pitchFamily="50" charset="-128"/>
              </a:rPr>
              <a:t>N</a:t>
            </a:r>
            <a:r>
              <a:rPr kumimoji="1" lang="ja-JP" altLang="en-US" sz="1600" dirty="0">
                <a:latin typeface="メイリオ" panose="020B0604030504040204" pitchFamily="50" charset="-128"/>
                <a:ea typeface="メイリオ" panose="020B0604030504040204" pitchFamily="50" charset="-128"/>
              </a:rPr>
              <a:t>：</a:t>
            </a:r>
            <a:r>
              <a:rPr kumimoji="1" lang="en-US" altLang="ja-JP" sz="1600" dirty="0">
                <a:latin typeface="メイリオ" panose="020B0604030504040204" pitchFamily="50" charset="-128"/>
                <a:ea typeface="メイリオ" panose="020B0604030504040204" pitchFamily="50" charset="-128"/>
              </a:rPr>
              <a:t>t</a:t>
            </a:r>
            <a:r>
              <a:rPr kumimoji="1" lang="ja-JP" altLang="en-US" sz="1600" dirty="0">
                <a:latin typeface="メイリオ" panose="020B0604030504040204" pitchFamily="50" charset="-128"/>
                <a:ea typeface="メイリオ" panose="020B0604030504040204" pitchFamily="50" charset="-128"/>
              </a:rPr>
              <a:t>の訓練データ数</a:t>
            </a:r>
            <a:endParaRPr kumimoji="1" lang="en-US" altLang="ja-JP" sz="1600" dirty="0">
              <a:latin typeface="メイリオ" panose="020B0604030504040204" pitchFamily="50" charset="-128"/>
              <a:ea typeface="メイリオ" panose="020B0604030504040204" pitchFamily="50" charset="-128"/>
            </a:endParaRPr>
          </a:p>
          <a:p>
            <a:r>
              <a:rPr kumimoji="1" lang="en-US" altLang="ja-JP" sz="1600" dirty="0" err="1">
                <a:latin typeface="メイリオ" panose="020B0604030504040204" pitchFamily="50" charset="-128"/>
                <a:ea typeface="メイリオ" panose="020B0604030504040204" pitchFamily="50" charset="-128"/>
              </a:rPr>
              <a:t>ni</a:t>
            </a:r>
            <a:r>
              <a:rPr kumimoji="1" lang="ja-JP" altLang="en-US" sz="1600" dirty="0">
                <a:latin typeface="メイリオ" panose="020B0604030504040204" pitchFamily="50" charset="-128"/>
                <a:ea typeface="メイリオ" panose="020B0604030504040204" pitchFamily="50" charset="-128"/>
              </a:rPr>
              <a:t>：</a:t>
            </a:r>
            <a:r>
              <a:rPr kumimoji="1" lang="en-US" altLang="ja-JP" sz="1600" dirty="0">
                <a:latin typeface="メイリオ" panose="020B0604030504040204" pitchFamily="50" charset="-128"/>
                <a:ea typeface="メイリオ" panose="020B0604030504040204" pitchFamily="50" charset="-128"/>
              </a:rPr>
              <a:t>t</a:t>
            </a:r>
            <a:r>
              <a:rPr kumimoji="1" lang="ja-JP" altLang="en-US" sz="1600" dirty="0">
                <a:latin typeface="メイリオ" panose="020B0604030504040204" pitchFamily="50" charset="-128"/>
                <a:ea typeface="メイリオ" panose="020B0604030504040204" pitchFamily="50" charset="-128"/>
              </a:rPr>
              <a:t>においてクラス</a:t>
            </a:r>
            <a:r>
              <a:rPr kumimoji="1" lang="en-US" altLang="ja-JP" sz="1600" dirty="0" err="1">
                <a:latin typeface="メイリオ" panose="020B0604030504040204" pitchFamily="50" charset="-128"/>
                <a:ea typeface="メイリオ" panose="020B0604030504040204" pitchFamily="50" charset="-128"/>
              </a:rPr>
              <a:t>i</a:t>
            </a:r>
            <a:r>
              <a:rPr kumimoji="1" lang="ja-JP" altLang="en-US" sz="1600" dirty="0">
                <a:latin typeface="メイリオ" panose="020B0604030504040204" pitchFamily="50" charset="-128"/>
                <a:ea typeface="メイリオ" panose="020B0604030504040204" pitchFamily="50" charset="-128"/>
              </a:rPr>
              <a:t>に属する訓練データの数</a:t>
            </a:r>
          </a:p>
        </p:txBody>
      </p:sp>
      <p:sp>
        <p:nvSpPr>
          <p:cNvPr id="6" name="正方形/長方形 5">
            <a:extLst>
              <a:ext uri="{FF2B5EF4-FFF2-40B4-BE49-F238E27FC236}">
                <a16:creationId xmlns:a16="http://schemas.microsoft.com/office/drawing/2014/main" id="{226537D9-2643-406C-A7C2-31C84E187601}"/>
              </a:ext>
            </a:extLst>
          </p:cNvPr>
          <p:cNvSpPr/>
          <p:nvPr/>
        </p:nvSpPr>
        <p:spPr>
          <a:xfrm>
            <a:off x="1931504" y="5123582"/>
            <a:ext cx="8169966" cy="1666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DF9ACBC-6E88-4FF5-BF8C-AC1AB37A6A8B}"/>
              </a:ext>
            </a:extLst>
          </p:cNvPr>
          <p:cNvSpPr txBox="1"/>
          <p:nvPr/>
        </p:nvSpPr>
        <p:spPr>
          <a:xfrm>
            <a:off x="4818476" y="1979381"/>
            <a:ext cx="3245862"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分類した各ノード毎に純度が測定されることに注意</a:t>
            </a:r>
          </a:p>
        </p:txBody>
      </p:sp>
      <p:sp>
        <p:nvSpPr>
          <p:cNvPr id="16" name="テキスト ボックス 15">
            <a:extLst>
              <a:ext uri="{FF2B5EF4-FFF2-40B4-BE49-F238E27FC236}">
                <a16:creationId xmlns:a16="http://schemas.microsoft.com/office/drawing/2014/main" id="{E9BC7244-4B3A-6202-57D9-EB075E23A4F0}"/>
              </a:ext>
            </a:extLst>
          </p:cNvPr>
          <p:cNvSpPr txBox="1"/>
          <p:nvPr/>
        </p:nvSpPr>
        <p:spPr>
          <a:xfrm>
            <a:off x="1720987" y="2603488"/>
            <a:ext cx="1968809" cy="461665"/>
          </a:xfrm>
          <a:prstGeom prst="rect">
            <a:avLst/>
          </a:prstGeom>
          <a:noFill/>
        </p:spPr>
        <p:txBody>
          <a:bodyPr wrap="none" rtlCol="0">
            <a:spAutoFit/>
          </a:bodyPr>
          <a:lstStyle/>
          <a:p>
            <a:pPr algn="l"/>
            <a:r>
              <a:rPr kumimoji="1" lang="en-US" altLang="ja-JP" sz="2400" dirty="0">
                <a:solidFill>
                  <a:schemeClr val="bg1"/>
                </a:solidFill>
                <a:latin typeface="メイリオ" panose="020B0604030504040204" pitchFamily="50" charset="-128"/>
                <a:ea typeface="メイリオ" panose="020B0604030504040204" pitchFamily="50" charset="-128"/>
              </a:rPr>
              <a:t>[p:50,h:50]</a:t>
            </a:r>
            <a:endParaRPr kumimoji="1" lang="ja-JP" altLang="en-US" sz="2400" dirty="0">
              <a:solidFill>
                <a:schemeClr val="bg1"/>
              </a:solidFill>
              <a:latin typeface="メイリオ" panose="020B0604030504040204" pitchFamily="50" charset="-128"/>
              <a:ea typeface="メイリオ" panose="020B0604030504040204" pitchFamily="50" charset="-128"/>
            </a:endParaRPr>
          </a:p>
        </p:txBody>
      </p:sp>
      <p:pic>
        <p:nvPicPr>
          <p:cNvPr id="15" name="図 14">
            <a:extLst>
              <a:ext uri="{FF2B5EF4-FFF2-40B4-BE49-F238E27FC236}">
                <a16:creationId xmlns:a16="http://schemas.microsoft.com/office/drawing/2014/main" id="{4EB02B94-B348-4BAF-8273-E4131CF97A39}"/>
              </a:ext>
            </a:extLst>
          </p:cNvPr>
          <p:cNvPicPr>
            <a:picLocks noChangeAspect="1"/>
          </p:cNvPicPr>
          <p:nvPr/>
        </p:nvPicPr>
        <p:blipFill>
          <a:blip r:embed="rId5"/>
          <a:stretch>
            <a:fillRect/>
          </a:stretch>
        </p:blipFill>
        <p:spPr>
          <a:xfrm>
            <a:off x="2158504" y="5263130"/>
            <a:ext cx="2659971" cy="1427899"/>
          </a:xfrm>
          <a:prstGeom prst="rect">
            <a:avLst/>
          </a:prstGeom>
        </p:spPr>
      </p:pic>
      <p:sp>
        <p:nvSpPr>
          <p:cNvPr id="18" name="四角形: 角を丸くする 17">
            <a:extLst>
              <a:ext uri="{FF2B5EF4-FFF2-40B4-BE49-F238E27FC236}">
                <a16:creationId xmlns:a16="http://schemas.microsoft.com/office/drawing/2014/main" id="{8D2595CD-43D9-3E53-433A-9F5A4823E28C}"/>
              </a:ext>
            </a:extLst>
          </p:cNvPr>
          <p:cNvSpPr/>
          <p:nvPr/>
        </p:nvSpPr>
        <p:spPr>
          <a:xfrm>
            <a:off x="559739" y="3744315"/>
            <a:ext cx="2022038" cy="78390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36102876-2F89-6622-787F-2C84DDEAFB00}"/>
              </a:ext>
            </a:extLst>
          </p:cNvPr>
          <p:cNvSpPr/>
          <p:nvPr/>
        </p:nvSpPr>
        <p:spPr>
          <a:xfrm>
            <a:off x="2927687" y="3724957"/>
            <a:ext cx="2022038" cy="78390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7F42B1B7-7751-EE90-F880-6C0624F51C7E}"/>
                  </a:ext>
                </a:extLst>
              </p:cNvPr>
              <p:cNvSpPr txBox="1"/>
              <p:nvPr/>
            </p:nvSpPr>
            <p:spPr>
              <a:xfrm>
                <a:off x="241243" y="3345021"/>
                <a:ext cx="1297663"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latin typeface="Cambria Math" panose="02040503050406030204" pitchFamily="18" charset="0"/>
                          <a:ea typeface="メイリオ" panose="020B0604030504040204" pitchFamily="50" charset="-128"/>
                        </a:rPr>
                        <m:t>𝑡</m:t>
                      </m:r>
                      <m:r>
                        <a:rPr kumimoji="1" lang="en-US" altLang="ja-JP" sz="2400" b="0" i="1" smtClean="0">
                          <a:latin typeface="Cambria Math" panose="02040503050406030204" pitchFamily="18" charset="0"/>
                          <a:ea typeface="メイリオ" panose="020B0604030504040204" pitchFamily="50" charset="-128"/>
                        </a:rPr>
                        <m:t>=</m:t>
                      </m:r>
                      <m:r>
                        <a:rPr kumimoji="1" lang="en-US" altLang="ja-JP" sz="2400" b="0" i="1" smtClean="0">
                          <a:latin typeface="Cambria Math" panose="02040503050406030204" pitchFamily="18" charset="0"/>
                          <a:ea typeface="メイリオ" panose="020B0604030504040204" pitchFamily="50" charset="-128"/>
                        </a:rPr>
                        <m:t>𝑇𝑟𝑢𝑒</m:t>
                      </m:r>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33" name="テキスト ボックス 32">
                <a:extLst>
                  <a:ext uri="{FF2B5EF4-FFF2-40B4-BE49-F238E27FC236}">
                    <a16:creationId xmlns:a16="http://schemas.microsoft.com/office/drawing/2014/main" id="{7F42B1B7-7751-EE90-F880-6C0624F51C7E}"/>
                  </a:ext>
                </a:extLst>
              </p:cNvPr>
              <p:cNvSpPr txBox="1">
                <a:spLocks noRot="1" noChangeAspect="1" noMove="1" noResize="1" noEditPoints="1" noAdjustHandles="1" noChangeArrowheads="1" noChangeShapeType="1" noTextEdit="1"/>
              </p:cNvSpPr>
              <p:nvPr/>
            </p:nvSpPr>
            <p:spPr>
              <a:xfrm>
                <a:off x="241243" y="3345021"/>
                <a:ext cx="1297663" cy="369332"/>
              </a:xfrm>
              <a:prstGeom prst="rect">
                <a:avLst/>
              </a:prstGeom>
              <a:blipFill>
                <a:blip r:embed="rId6"/>
                <a:stretch>
                  <a:fillRect l="-3302" r="-3774" b="-1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A2DAA519-9967-998A-D4E9-D1AFABCAC6E8}"/>
                  </a:ext>
                </a:extLst>
              </p:cNvPr>
              <p:cNvSpPr txBox="1"/>
              <p:nvPr/>
            </p:nvSpPr>
            <p:spPr>
              <a:xfrm>
                <a:off x="3865029" y="3387461"/>
                <a:ext cx="1392241"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latin typeface="Cambria Math" panose="02040503050406030204" pitchFamily="18" charset="0"/>
                          <a:ea typeface="メイリオ" panose="020B0604030504040204" pitchFamily="50" charset="-128"/>
                        </a:rPr>
                        <m:t>𝑡</m:t>
                      </m:r>
                      <m:r>
                        <a:rPr kumimoji="1" lang="en-US" altLang="ja-JP" sz="2400" b="0" i="1" smtClean="0">
                          <a:latin typeface="Cambria Math" panose="02040503050406030204" pitchFamily="18" charset="0"/>
                          <a:ea typeface="メイリオ" panose="020B0604030504040204" pitchFamily="50" charset="-128"/>
                        </a:rPr>
                        <m:t>=</m:t>
                      </m:r>
                      <m:r>
                        <a:rPr kumimoji="1" lang="en-US" altLang="ja-JP" sz="2400" b="0" i="1" smtClean="0">
                          <a:latin typeface="Cambria Math" panose="02040503050406030204" pitchFamily="18" charset="0"/>
                          <a:ea typeface="メイリオ" panose="020B0604030504040204" pitchFamily="50" charset="-128"/>
                        </a:rPr>
                        <m:t>𝐹𝑎𝑙𝑠𝑒</m:t>
                      </m:r>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34" name="テキスト ボックス 33">
                <a:extLst>
                  <a:ext uri="{FF2B5EF4-FFF2-40B4-BE49-F238E27FC236}">
                    <a16:creationId xmlns:a16="http://schemas.microsoft.com/office/drawing/2014/main" id="{A2DAA519-9967-998A-D4E9-D1AFABCAC6E8}"/>
                  </a:ext>
                </a:extLst>
              </p:cNvPr>
              <p:cNvSpPr txBox="1">
                <a:spLocks noRot="1" noChangeAspect="1" noMove="1" noResize="1" noEditPoints="1" noAdjustHandles="1" noChangeArrowheads="1" noChangeShapeType="1" noTextEdit="1"/>
              </p:cNvSpPr>
              <p:nvPr/>
            </p:nvSpPr>
            <p:spPr>
              <a:xfrm>
                <a:off x="3865029" y="3387461"/>
                <a:ext cx="1392241" cy="369332"/>
              </a:xfrm>
              <a:prstGeom prst="rect">
                <a:avLst/>
              </a:prstGeom>
              <a:blipFill>
                <a:blip r:embed="rId7"/>
                <a:stretch>
                  <a:fillRect l="-2193" t="-1667" r="-3947" b="-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60BE198D-78CC-65B3-0BBC-369672BB530C}"/>
                  </a:ext>
                </a:extLst>
              </p:cNvPr>
              <p:cNvSpPr txBox="1"/>
              <p:nvPr/>
            </p:nvSpPr>
            <p:spPr>
              <a:xfrm>
                <a:off x="8340329" y="2115228"/>
                <a:ext cx="1656286"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latin typeface="Cambria Math" panose="02040503050406030204" pitchFamily="18" charset="0"/>
                          <a:ea typeface="メイリオ" panose="020B0604030504040204" pitchFamily="50" charset="-128"/>
                        </a:rPr>
                        <m:t>𝑝</m:t>
                      </m:r>
                      <m:r>
                        <a:rPr kumimoji="1" lang="en-US" altLang="ja-JP" sz="2400" b="0" i="1" smtClean="0">
                          <a:latin typeface="Cambria Math" panose="02040503050406030204" pitchFamily="18" charset="0"/>
                          <a:ea typeface="メイリオ" panose="020B0604030504040204" pitchFamily="50" charset="-128"/>
                        </a:rPr>
                        <m:t>(</m:t>
                      </m:r>
                      <m:r>
                        <a:rPr kumimoji="1" lang="en-US" altLang="ja-JP" sz="2400" b="0" i="1" smtClean="0">
                          <a:latin typeface="Cambria Math" panose="02040503050406030204" pitchFamily="18" charset="0"/>
                          <a:ea typeface="メイリオ" panose="020B0604030504040204" pitchFamily="50" charset="-128"/>
                        </a:rPr>
                        <m:t>𝑝𝑘</m:t>
                      </m:r>
                      <m:r>
                        <a:rPr kumimoji="1" lang="en-US" altLang="ja-JP" sz="2400" b="0" i="1" smtClean="0">
                          <a:latin typeface="Cambria Math" panose="02040503050406030204" pitchFamily="18" charset="0"/>
                          <a:ea typeface="メイリオ" panose="020B0604030504040204" pitchFamily="50" charset="-128"/>
                        </a:rPr>
                        <m:t>|</m:t>
                      </m:r>
                      <m:sSub>
                        <m:sSubPr>
                          <m:ctrlPr>
                            <a:rPr kumimoji="1" lang="en-US" altLang="ja-JP" sz="2400" b="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𝑡</m:t>
                          </m:r>
                        </m:e>
                        <m:sub>
                          <m:r>
                            <a:rPr kumimoji="1" lang="en-US" altLang="ja-JP" sz="2400" b="0" i="1" smtClean="0">
                              <a:latin typeface="Cambria Math" panose="02040503050406030204" pitchFamily="18" charset="0"/>
                              <a:ea typeface="メイリオ" panose="020B0604030504040204" pitchFamily="50" charset="-128"/>
                            </a:rPr>
                            <m:t>𝑇𝑟𝑢𝑒</m:t>
                          </m:r>
                        </m:sub>
                      </m:sSub>
                      <m:r>
                        <a:rPr kumimoji="1" lang="en-US" altLang="ja-JP" sz="2400" b="0" i="1" smtClean="0">
                          <a:latin typeface="Cambria Math" panose="02040503050406030204" pitchFamily="18" charset="0"/>
                          <a:ea typeface="メイリオ" panose="020B0604030504040204" pitchFamily="50" charset="-128"/>
                        </a:rPr>
                        <m:t>)</m:t>
                      </m:r>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35" name="テキスト ボックス 34">
                <a:extLst>
                  <a:ext uri="{FF2B5EF4-FFF2-40B4-BE49-F238E27FC236}">
                    <a16:creationId xmlns:a16="http://schemas.microsoft.com/office/drawing/2014/main" id="{60BE198D-78CC-65B3-0BBC-369672BB530C}"/>
                  </a:ext>
                </a:extLst>
              </p:cNvPr>
              <p:cNvSpPr txBox="1">
                <a:spLocks noRot="1" noChangeAspect="1" noMove="1" noResize="1" noEditPoints="1" noAdjustHandles="1" noChangeArrowheads="1" noChangeShapeType="1" noTextEdit="1"/>
              </p:cNvSpPr>
              <p:nvPr/>
            </p:nvSpPr>
            <p:spPr>
              <a:xfrm>
                <a:off x="8340329" y="2115228"/>
                <a:ext cx="1656286" cy="369332"/>
              </a:xfrm>
              <a:prstGeom prst="rect">
                <a:avLst/>
              </a:prstGeom>
              <a:blipFill>
                <a:blip r:embed="rId8"/>
                <a:stretch>
                  <a:fillRect l="-2941" t="-4918" r="-5515" b="-2786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9BE2F399-892A-C57E-4CE0-68D0BFA0A13A}"/>
                  </a:ext>
                </a:extLst>
              </p:cNvPr>
              <p:cNvSpPr txBox="1"/>
              <p:nvPr/>
            </p:nvSpPr>
            <p:spPr>
              <a:xfrm>
                <a:off x="9996615" y="2121314"/>
                <a:ext cx="1656286"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latin typeface="Cambria Math" panose="02040503050406030204" pitchFamily="18" charset="0"/>
                          <a:ea typeface="メイリオ" panose="020B0604030504040204" pitchFamily="50" charset="-128"/>
                        </a:rPr>
                        <m:t>𝑝</m:t>
                      </m:r>
                      <m:r>
                        <a:rPr kumimoji="1" lang="en-US" altLang="ja-JP" sz="2400" b="0" i="1" smtClean="0">
                          <a:latin typeface="Cambria Math" panose="02040503050406030204" pitchFamily="18" charset="0"/>
                          <a:ea typeface="メイリオ" panose="020B0604030504040204" pitchFamily="50" charset="-128"/>
                        </a:rPr>
                        <m:t>(</m:t>
                      </m:r>
                      <m:r>
                        <a:rPr kumimoji="1" lang="en-US" altLang="ja-JP" sz="2400" b="0" i="1" smtClean="0">
                          <a:latin typeface="Cambria Math" panose="02040503050406030204" pitchFamily="18" charset="0"/>
                          <a:ea typeface="メイリオ" panose="020B0604030504040204" pitchFamily="50" charset="-128"/>
                        </a:rPr>
                        <m:t>ℎ𝑘</m:t>
                      </m:r>
                      <m:r>
                        <a:rPr kumimoji="1" lang="en-US" altLang="ja-JP" sz="2400" b="0" i="1" smtClean="0">
                          <a:latin typeface="Cambria Math" panose="02040503050406030204" pitchFamily="18" charset="0"/>
                          <a:ea typeface="メイリオ" panose="020B0604030504040204" pitchFamily="50" charset="-128"/>
                        </a:rPr>
                        <m:t>|</m:t>
                      </m:r>
                      <m:sSub>
                        <m:sSubPr>
                          <m:ctrlPr>
                            <a:rPr kumimoji="1" lang="en-US" altLang="ja-JP" sz="2400" b="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𝑡</m:t>
                          </m:r>
                        </m:e>
                        <m:sub>
                          <m:r>
                            <a:rPr kumimoji="1" lang="en-US" altLang="ja-JP" sz="2400" b="0" i="1" smtClean="0">
                              <a:latin typeface="Cambria Math" panose="02040503050406030204" pitchFamily="18" charset="0"/>
                              <a:ea typeface="メイリオ" panose="020B0604030504040204" pitchFamily="50" charset="-128"/>
                            </a:rPr>
                            <m:t>𝑇𝑟𝑢𝑒</m:t>
                          </m:r>
                        </m:sub>
                      </m:sSub>
                      <m:r>
                        <a:rPr kumimoji="1" lang="en-US" altLang="ja-JP" sz="2400" b="0" i="1" smtClean="0">
                          <a:latin typeface="Cambria Math" panose="02040503050406030204" pitchFamily="18" charset="0"/>
                          <a:ea typeface="メイリオ" panose="020B0604030504040204" pitchFamily="50" charset="-128"/>
                        </a:rPr>
                        <m:t>)</m:t>
                      </m:r>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36" name="テキスト ボックス 35">
                <a:extLst>
                  <a:ext uri="{FF2B5EF4-FFF2-40B4-BE49-F238E27FC236}">
                    <a16:creationId xmlns:a16="http://schemas.microsoft.com/office/drawing/2014/main" id="{9BE2F399-892A-C57E-4CE0-68D0BFA0A13A}"/>
                  </a:ext>
                </a:extLst>
              </p:cNvPr>
              <p:cNvSpPr txBox="1">
                <a:spLocks noRot="1" noChangeAspect="1" noMove="1" noResize="1" noEditPoints="1" noAdjustHandles="1" noChangeArrowheads="1" noChangeShapeType="1" noTextEdit="1"/>
              </p:cNvSpPr>
              <p:nvPr/>
            </p:nvSpPr>
            <p:spPr>
              <a:xfrm>
                <a:off x="9996615" y="2121314"/>
                <a:ext cx="1656286" cy="369332"/>
              </a:xfrm>
              <a:prstGeom prst="rect">
                <a:avLst/>
              </a:prstGeom>
              <a:blipFill>
                <a:blip r:embed="rId9"/>
                <a:stretch>
                  <a:fillRect l="-2941" t="-4918" r="-5147" b="-27869"/>
                </a:stretch>
              </a:blipFill>
            </p:spPr>
            <p:txBody>
              <a:bodyPr/>
              <a:lstStyle/>
              <a:p>
                <a:r>
                  <a:rPr lang="ja-JP" altLang="en-US">
                    <a:noFill/>
                  </a:rPr>
                  <a:t> </a:t>
                </a:r>
              </a:p>
            </p:txBody>
          </p:sp>
        </mc:Fallback>
      </mc:AlternateContent>
      <p:sp>
        <p:nvSpPr>
          <p:cNvPr id="37" name="矢印: 下 36">
            <a:extLst>
              <a:ext uri="{FF2B5EF4-FFF2-40B4-BE49-F238E27FC236}">
                <a16:creationId xmlns:a16="http://schemas.microsoft.com/office/drawing/2014/main" id="{D69CBA9E-DC66-5F4A-55C6-BD034761DBBC}"/>
              </a:ext>
            </a:extLst>
          </p:cNvPr>
          <p:cNvSpPr/>
          <p:nvPr/>
        </p:nvSpPr>
        <p:spPr>
          <a:xfrm>
            <a:off x="9349273" y="2546389"/>
            <a:ext cx="329089" cy="1408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下 37">
            <a:extLst>
              <a:ext uri="{FF2B5EF4-FFF2-40B4-BE49-F238E27FC236}">
                <a16:creationId xmlns:a16="http://schemas.microsoft.com/office/drawing/2014/main" id="{45A283D0-182D-6F52-5A98-ED16A81AA873}"/>
              </a:ext>
            </a:extLst>
          </p:cNvPr>
          <p:cNvSpPr/>
          <p:nvPr/>
        </p:nvSpPr>
        <p:spPr>
          <a:xfrm>
            <a:off x="10444225" y="2560213"/>
            <a:ext cx="329089" cy="1408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5A493E06-BA44-B367-F053-1AD4431CBBBE}"/>
                  </a:ext>
                </a:extLst>
              </p:cNvPr>
              <p:cNvSpPr txBox="1"/>
              <p:nvPr/>
            </p:nvSpPr>
            <p:spPr>
              <a:xfrm>
                <a:off x="8638909" y="4096176"/>
                <a:ext cx="1712648"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latin typeface="Cambria Math" panose="02040503050406030204" pitchFamily="18" charset="0"/>
                          <a:ea typeface="メイリオ" panose="020B0604030504040204" pitchFamily="50" charset="-128"/>
                        </a:rPr>
                        <m:t>𝑝</m:t>
                      </m:r>
                      <m:r>
                        <a:rPr kumimoji="1" lang="en-US" altLang="ja-JP" sz="2400" b="0" i="1" smtClean="0">
                          <a:latin typeface="Cambria Math" panose="02040503050406030204" pitchFamily="18" charset="0"/>
                          <a:ea typeface="メイリオ" panose="020B0604030504040204" pitchFamily="50" charset="-128"/>
                        </a:rPr>
                        <m:t>(</m:t>
                      </m:r>
                      <m:r>
                        <a:rPr kumimoji="1" lang="en-US" altLang="ja-JP" sz="2400" b="0" i="1" smtClean="0">
                          <a:latin typeface="Cambria Math" panose="02040503050406030204" pitchFamily="18" charset="0"/>
                          <a:ea typeface="メイリオ" panose="020B0604030504040204" pitchFamily="50" charset="-128"/>
                        </a:rPr>
                        <m:t>𝑝𝑘</m:t>
                      </m:r>
                      <m:r>
                        <a:rPr kumimoji="1" lang="en-US" altLang="ja-JP" sz="2400" b="0" i="1" smtClean="0">
                          <a:latin typeface="Cambria Math" panose="02040503050406030204" pitchFamily="18" charset="0"/>
                          <a:ea typeface="メイリオ" panose="020B0604030504040204" pitchFamily="50" charset="-128"/>
                        </a:rPr>
                        <m:t>|</m:t>
                      </m:r>
                      <m:sSub>
                        <m:sSubPr>
                          <m:ctrlPr>
                            <a:rPr kumimoji="1" lang="en-US" altLang="ja-JP" sz="2400" b="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𝑡</m:t>
                          </m:r>
                        </m:e>
                        <m:sub>
                          <m:r>
                            <a:rPr kumimoji="1" lang="en-US" altLang="ja-JP" sz="2400" b="0" i="1" smtClean="0">
                              <a:latin typeface="Cambria Math" panose="02040503050406030204" pitchFamily="18" charset="0"/>
                              <a:ea typeface="メイリオ" panose="020B0604030504040204" pitchFamily="50" charset="-128"/>
                            </a:rPr>
                            <m:t>𝐹𝑎𝑙𝑠𝑒</m:t>
                          </m:r>
                        </m:sub>
                      </m:sSub>
                      <m:r>
                        <a:rPr kumimoji="1" lang="en-US" altLang="ja-JP" sz="2400" b="0" i="1" smtClean="0">
                          <a:latin typeface="Cambria Math" panose="02040503050406030204" pitchFamily="18" charset="0"/>
                          <a:ea typeface="メイリオ" panose="020B0604030504040204" pitchFamily="50" charset="-128"/>
                        </a:rPr>
                        <m:t>)</m:t>
                      </m:r>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39" name="テキスト ボックス 38">
                <a:extLst>
                  <a:ext uri="{FF2B5EF4-FFF2-40B4-BE49-F238E27FC236}">
                    <a16:creationId xmlns:a16="http://schemas.microsoft.com/office/drawing/2014/main" id="{5A493E06-BA44-B367-F053-1AD4431CBBBE}"/>
                  </a:ext>
                </a:extLst>
              </p:cNvPr>
              <p:cNvSpPr txBox="1">
                <a:spLocks noRot="1" noChangeAspect="1" noMove="1" noResize="1" noEditPoints="1" noAdjustHandles="1" noChangeArrowheads="1" noChangeShapeType="1" noTextEdit="1"/>
              </p:cNvSpPr>
              <p:nvPr/>
            </p:nvSpPr>
            <p:spPr>
              <a:xfrm>
                <a:off x="8638909" y="4096176"/>
                <a:ext cx="1712648" cy="369332"/>
              </a:xfrm>
              <a:prstGeom prst="rect">
                <a:avLst/>
              </a:prstGeom>
              <a:blipFill>
                <a:blip r:embed="rId10"/>
                <a:stretch>
                  <a:fillRect l="-2847" t="-4918" r="-5338" b="-2786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3175F626-6F83-2B27-85E2-816BAF3D4AE3}"/>
                  </a:ext>
                </a:extLst>
              </p:cNvPr>
              <p:cNvSpPr txBox="1"/>
              <p:nvPr/>
            </p:nvSpPr>
            <p:spPr>
              <a:xfrm>
                <a:off x="10295195" y="4102262"/>
                <a:ext cx="1712648"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latin typeface="Cambria Math" panose="02040503050406030204" pitchFamily="18" charset="0"/>
                          <a:ea typeface="メイリオ" panose="020B0604030504040204" pitchFamily="50" charset="-128"/>
                        </a:rPr>
                        <m:t>𝑝</m:t>
                      </m:r>
                      <m:r>
                        <a:rPr kumimoji="1" lang="en-US" altLang="ja-JP" sz="2400" b="0" i="1" smtClean="0">
                          <a:latin typeface="Cambria Math" panose="02040503050406030204" pitchFamily="18" charset="0"/>
                          <a:ea typeface="メイリオ" panose="020B0604030504040204" pitchFamily="50" charset="-128"/>
                        </a:rPr>
                        <m:t>(</m:t>
                      </m:r>
                      <m:r>
                        <a:rPr kumimoji="1" lang="en-US" altLang="ja-JP" sz="2400" b="0" i="1" smtClean="0">
                          <a:latin typeface="Cambria Math" panose="02040503050406030204" pitchFamily="18" charset="0"/>
                          <a:ea typeface="メイリオ" panose="020B0604030504040204" pitchFamily="50" charset="-128"/>
                        </a:rPr>
                        <m:t>ℎ𝑘</m:t>
                      </m:r>
                      <m:r>
                        <a:rPr kumimoji="1" lang="en-US" altLang="ja-JP" sz="2400" b="0" i="1" smtClean="0">
                          <a:latin typeface="Cambria Math" panose="02040503050406030204" pitchFamily="18" charset="0"/>
                          <a:ea typeface="メイリオ" panose="020B0604030504040204" pitchFamily="50" charset="-128"/>
                        </a:rPr>
                        <m:t>|</m:t>
                      </m:r>
                      <m:sSub>
                        <m:sSubPr>
                          <m:ctrlPr>
                            <a:rPr kumimoji="1" lang="en-US" altLang="ja-JP" sz="2400" b="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𝑡</m:t>
                          </m:r>
                        </m:e>
                        <m:sub>
                          <m:r>
                            <a:rPr kumimoji="1" lang="en-US" altLang="ja-JP" sz="2400" b="0" i="1" smtClean="0">
                              <a:latin typeface="Cambria Math" panose="02040503050406030204" pitchFamily="18" charset="0"/>
                              <a:ea typeface="メイリオ" panose="020B0604030504040204" pitchFamily="50" charset="-128"/>
                            </a:rPr>
                            <m:t>𝐹𝑎𝑙𝑠𝑒</m:t>
                          </m:r>
                        </m:sub>
                      </m:sSub>
                      <m:r>
                        <a:rPr kumimoji="1" lang="en-US" altLang="ja-JP" sz="2400" b="0" i="1" smtClean="0">
                          <a:latin typeface="Cambria Math" panose="02040503050406030204" pitchFamily="18" charset="0"/>
                          <a:ea typeface="メイリオ" panose="020B0604030504040204" pitchFamily="50" charset="-128"/>
                        </a:rPr>
                        <m:t>)</m:t>
                      </m:r>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40" name="テキスト ボックス 39">
                <a:extLst>
                  <a:ext uri="{FF2B5EF4-FFF2-40B4-BE49-F238E27FC236}">
                    <a16:creationId xmlns:a16="http://schemas.microsoft.com/office/drawing/2014/main" id="{3175F626-6F83-2B27-85E2-816BAF3D4AE3}"/>
                  </a:ext>
                </a:extLst>
              </p:cNvPr>
              <p:cNvSpPr txBox="1">
                <a:spLocks noRot="1" noChangeAspect="1" noMove="1" noResize="1" noEditPoints="1" noAdjustHandles="1" noChangeArrowheads="1" noChangeShapeType="1" noTextEdit="1"/>
              </p:cNvSpPr>
              <p:nvPr/>
            </p:nvSpPr>
            <p:spPr>
              <a:xfrm>
                <a:off x="10295195" y="4102262"/>
                <a:ext cx="1712648" cy="369332"/>
              </a:xfrm>
              <a:prstGeom prst="rect">
                <a:avLst/>
              </a:prstGeom>
              <a:blipFill>
                <a:blip r:embed="rId11"/>
                <a:stretch>
                  <a:fillRect l="-2847" t="-4918" r="-4982" b="-27869"/>
                </a:stretch>
              </a:blipFill>
            </p:spPr>
            <p:txBody>
              <a:bodyPr/>
              <a:lstStyle/>
              <a:p>
                <a:r>
                  <a:rPr lang="ja-JP" altLang="en-US">
                    <a:noFill/>
                  </a:rPr>
                  <a:t> </a:t>
                </a:r>
              </a:p>
            </p:txBody>
          </p:sp>
        </mc:Fallback>
      </mc:AlternateContent>
      <p:sp>
        <p:nvSpPr>
          <p:cNvPr id="41" name="矢印: 下 40">
            <a:extLst>
              <a:ext uri="{FF2B5EF4-FFF2-40B4-BE49-F238E27FC236}">
                <a16:creationId xmlns:a16="http://schemas.microsoft.com/office/drawing/2014/main" id="{7B57BB03-13D0-E311-4CB6-1FE534B98E4F}"/>
              </a:ext>
            </a:extLst>
          </p:cNvPr>
          <p:cNvSpPr/>
          <p:nvPr/>
        </p:nvSpPr>
        <p:spPr>
          <a:xfrm flipV="1">
            <a:off x="9442579" y="3958691"/>
            <a:ext cx="329089" cy="1408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A0E8F555-B0D5-BA36-EBF3-B3FDD2267AE9}"/>
              </a:ext>
            </a:extLst>
          </p:cNvPr>
          <p:cNvSpPr/>
          <p:nvPr/>
        </p:nvSpPr>
        <p:spPr>
          <a:xfrm flipV="1">
            <a:off x="10537531" y="3972515"/>
            <a:ext cx="329089" cy="1408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83479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吹き出し: 四角形 13">
            <a:extLst>
              <a:ext uri="{FF2B5EF4-FFF2-40B4-BE49-F238E27FC236}">
                <a16:creationId xmlns:a16="http://schemas.microsoft.com/office/drawing/2014/main" id="{F55CC9C2-C4D4-4F63-88E4-118BADDCDE51}"/>
              </a:ext>
            </a:extLst>
          </p:cNvPr>
          <p:cNvSpPr/>
          <p:nvPr/>
        </p:nvSpPr>
        <p:spPr>
          <a:xfrm>
            <a:off x="5504136" y="2743644"/>
            <a:ext cx="2443206" cy="1082686"/>
          </a:xfrm>
          <a:prstGeom prst="wedgeRectCallout">
            <a:avLst>
              <a:gd name="adj1" fmla="val -16765"/>
              <a:gd name="adj2" fmla="val -5867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33698A85-69E5-4D68-88D3-DEFF49E466B7}"/>
              </a:ext>
            </a:extLst>
          </p:cNvPr>
          <p:cNvSpPr txBox="1"/>
          <p:nvPr/>
        </p:nvSpPr>
        <p:spPr>
          <a:xfrm>
            <a:off x="283294" y="272053"/>
            <a:ext cx="3493264" cy="584775"/>
          </a:xfrm>
          <a:prstGeom prst="rect">
            <a:avLst/>
          </a:prstGeom>
          <a:noFill/>
        </p:spPr>
        <p:txBody>
          <a:bodyPr wrap="none" rtlCol="0">
            <a:spAutoFit/>
          </a:bodyPr>
          <a:lstStyle/>
          <a:p>
            <a:pPr algn="l"/>
            <a:r>
              <a:rPr kumimoji="1" lang="en-US" altLang="ja-JP" sz="3200" b="1" dirty="0">
                <a:latin typeface="メイリオ" panose="020B0604030504040204" pitchFamily="50" charset="-128"/>
                <a:ea typeface="メイリオ" panose="020B0604030504040204" pitchFamily="50" charset="-128"/>
              </a:rPr>
              <a:t>Gini</a:t>
            </a:r>
            <a:r>
              <a:rPr kumimoji="1" lang="ja-JP" altLang="en-US" sz="3200" b="1" dirty="0">
                <a:latin typeface="メイリオ" panose="020B0604030504040204" pitchFamily="50" charset="-128"/>
                <a:ea typeface="メイリオ" panose="020B0604030504040204" pitchFamily="50" charset="-128"/>
              </a:rPr>
              <a:t>係数の計算例</a:t>
            </a:r>
          </a:p>
        </p:txBody>
      </p:sp>
      <p:sp>
        <p:nvSpPr>
          <p:cNvPr id="3" name="テキスト ボックス 2">
            <a:extLst>
              <a:ext uri="{FF2B5EF4-FFF2-40B4-BE49-F238E27FC236}">
                <a16:creationId xmlns:a16="http://schemas.microsoft.com/office/drawing/2014/main" id="{72136D65-E4D4-4E9B-8872-3D569BD82056}"/>
              </a:ext>
            </a:extLst>
          </p:cNvPr>
          <p:cNvSpPr txBox="1"/>
          <p:nvPr/>
        </p:nvSpPr>
        <p:spPr>
          <a:xfrm>
            <a:off x="587829" y="975688"/>
            <a:ext cx="11234057" cy="461665"/>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完全純度なら</a:t>
            </a:r>
            <a:endParaRPr kumimoji="1" lang="en-US" altLang="ja-JP" sz="2400" dirty="0">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75FA429F-2DCF-4EA0-B15A-EB26E367A951}"/>
              </a:ext>
            </a:extLst>
          </p:cNvPr>
          <p:cNvSpPr/>
          <p:nvPr/>
        </p:nvSpPr>
        <p:spPr>
          <a:xfrm>
            <a:off x="2875367" y="2558194"/>
            <a:ext cx="1580237" cy="6261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薄力粉</a:t>
            </a:r>
          </a:p>
        </p:txBody>
      </p:sp>
      <p:cxnSp>
        <p:nvCxnSpPr>
          <p:cNvPr id="7" name="直線矢印コネクタ 6">
            <a:extLst>
              <a:ext uri="{FF2B5EF4-FFF2-40B4-BE49-F238E27FC236}">
                <a16:creationId xmlns:a16="http://schemas.microsoft.com/office/drawing/2014/main" id="{477904EE-EEEA-4AC7-95CD-BDDDB2E6F5B7}"/>
              </a:ext>
            </a:extLst>
          </p:cNvPr>
          <p:cNvCxnSpPr>
            <a:cxnSpLocks/>
            <a:stCxn id="4" idx="2"/>
          </p:cNvCxnSpPr>
          <p:nvPr/>
        </p:nvCxnSpPr>
        <p:spPr>
          <a:xfrm flipH="1">
            <a:off x="2746159" y="3184358"/>
            <a:ext cx="919326" cy="112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599B6AB9-63B9-49A6-B201-D93FCACB98CA}"/>
              </a:ext>
            </a:extLst>
          </p:cNvPr>
          <p:cNvCxnSpPr>
            <a:cxnSpLocks/>
            <a:stCxn id="4" idx="2"/>
          </p:cNvCxnSpPr>
          <p:nvPr/>
        </p:nvCxnSpPr>
        <p:spPr>
          <a:xfrm>
            <a:off x="3665486" y="3184358"/>
            <a:ext cx="919325" cy="1053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0F6363DE-82CB-4450-81C8-F6F81A681DB6}"/>
              </a:ext>
            </a:extLst>
          </p:cNvPr>
          <p:cNvSpPr txBox="1"/>
          <p:nvPr/>
        </p:nvSpPr>
        <p:spPr>
          <a:xfrm>
            <a:off x="2568020" y="3670803"/>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08A26148-E9EE-4ED2-AD79-14DA6DC8CD2C}"/>
              </a:ext>
            </a:extLst>
          </p:cNvPr>
          <p:cNvSpPr txBox="1"/>
          <p:nvPr/>
        </p:nvSpPr>
        <p:spPr>
          <a:xfrm>
            <a:off x="1666230" y="4295236"/>
            <a:ext cx="177805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[p:50,h:0]</a:t>
            </a:r>
            <a:endParaRPr kumimoji="1" lang="ja-JP" altLang="en-US" sz="24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4E2DB1CC-BA61-434E-B44E-AEB5CB92BC21}"/>
              </a:ext>
            </a:extLst>
          </p:cNvPr>
          <p:cNvSpPr txBox="1"/>
          <p:nvPr/>
        </p:nvSpPr>
        <p:spPr>
          <a:xfrm>
            <a:off x="3922413" y="4295236"/>
            <a:ext cx="177805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[p:0,h:50]</a:t>
            </a:r>
            <a:endParaRPr kumimoji="1" lang="ja-JP" altLang="en-US" sz="240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AD03DE02-87AA-430E-8874-1D10E364D271}"/>
              </a:ext>
            </a:extLst>
          </p:cNvPr>
          <p:cNvSpPr txBox="1"/>
          <p:nvPr/>
        </p:nvSpPr>
        <p:spPr>
          <a:xfrm>
            <a:off x="4007597" y="3651297"/>
            <a:ext cx="9387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a:t>
            </a:r>
            <a:endParaRPr kumimoji="1" lang="ja-JP" altLang="en-US" sz="24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C0E5ADCE-F997-4928-BC2F-264F8BB2CD77}"/>
                  </a:ext>
                </a:extLst>
              </p:cNvPr>
              <p:cNvSpPr txBox="1"/>
              <p:nvPr/>
            </p:nvSpPr>
            <p:spPr>
              <a:xfrm>
                <a:off x="5504136" y="2650985"/>
                <a:ext cx="4745530" cy="561564"/>
              </a:xfrm>
              <a:prstGeom prst="rect">
                <a:avLst/>
              </a:prstGeom>
              <a:noFill/>
            </p:spPr>
            <p:txBody>
              <a:bodyPr wrap="none" rtlCol="0">
                <a:spAutoFit/>
              </a:bodyPr>
              <a:lstStyle/>
              <a:p>
                <a:r>
                  <a:rPr kumimoji="1" lang="ja-JP" altLang="en-US" dirty="0">
                    <a:latin typeface="メイリオ" panose="020B0604030504040204" pitchFamily="50" charset="-128"/>
                    <a:ea typeface="メイリオ" panose="020B0604030504040204" pitchFamily="50" charset="-128"/>
                  </a:rPr>
                  <a:t>ノード</a:t>
                </a:r>
                <a:r>
                  <a:rPr kumimoji="1" lang="en-US" altLang="ja-JP" dirty="0">
                    <a:latin typeface="メイリオ" panose="020B0604030504040204" pitchFamily="50" charset="-128"/>
                    <a:ea typeface="メイリオ" panose="020B0604030504040204" pitchFamily="50" charset="-128"/>
                  </a:rPr>
                  <a:t>yes</a:t>
                </a:r>
                <a:r>
                  <a:rPr kumimoji="1" lang="ja-JP" altLang="en-US" dirty="0">
                    <a:latin typeface="メイリオ" panose="020B0604030504040204" pitchFamily="50" charset="-128"/>
                    <a:ea typeface="メイリオ" panose="020B0604030504040204" pitchFamily="50" charset="-128"/>
                  </a:rPr>
                  <a:t>の</a:t>
                </a:r>
                <a:r>
                  <a:rPr kumimoji="1" lang="en-US" altLang="ja-JP" dirty="0" err="1">
                    <a:latin typeface="メイリオ" panose="020B0604030504040204" pitchFamily="50" charset="-128"/>
                    <a:ea typeface="メイリオ" panose="020B0604030504040204" pitchFamily="50" charset="-128"/>
                  </a:rPr>
                  <a:t>gini</a:t>
                </a:r>
                <a:r>
                  <a:rPr kumimoji="1" lang="ja-JP" altLang="en-US" dirty="0">
                    <a:latin typeface="メイリオ" panose="020B0604030504040204" pitchFamily="50" charset="-128"/>
                    <a:ea typeface="メイリオ" panose="020B0604030504040204" pitchFamily="50" charset="-128"/>
                  </a:rPr>
                  <a:t>係数：</a:t>
                </a:r>
                <a14:m>
                  <m:oMath xmlns:m="http://schemas.openxmlformats.org/officeDocument/2006/math">
                    <m:r>
                      <a:rPr kumimoji="1" lang="en-US" altLang="ja-JP" i="1">
                        <a:latin typeface="Cambria Math" panose="02040503050406030204" pitchFamily="18" charset="0"/>
                        <a:ea typeface="メイリオ" panose="020B0604030504040204" pitchFamily="50" charset="-128"/>
                      </a:rPr>
                      <m:t>1−</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b="0" i="1" smtClean="0">
                                    <a:latin typeface="Cambria Math" panose="02040503050406030204" pitchFamily="18" charset="0"/>
                                    <a:ea typeface="メイリオ" panose="020B0604030504040204" pitchFamily="50" charset="-128"/>
                                  </a:rPr>
                                </m:ctrlPr>
                              </m:fPr>
                              <m:num>
                                <m:r>
                                  <a:rPr kumimoji="1" lang="en-US" altLang="ja-JP" b="0" i="1" smtClean="0">
                                    <a:latin typeface="Cambria Math" panose="02040503050406030204" pitchFamily="18" charset="0"/>
                                    <a:ea typeface="メイリオ" panose="020B0604030504040204" pitchFamily="50" charset="-128"/>
                                  </a:rPr>
                                  <m:t>50</m:t>
                                </m:r>
                              </m:num>
                              <m:den>
                                <m:r>
                                  <a:rPr kumimoji="1" lang="en-US" altLang="ja-JP" i="1">
                                    <a:latin typeface="Cambria Math" panose="02040503050406030204" pitchFamily="18" charset="0"/>
                                    <a:ea typeface="メイリオ" panose="020B0604030504040204" pitchFamily="50" charset="-128"/>
                                  </a:rPr>
                                  <m:t>5</m:t>
                                </m:r>
                                <m:r>
                                  <a:rPr kumimoji="1" lang="en-US" altLang="ja-JP" b="0" i="1" smtClean="0">
                                    <a:latin typeface="Cambria Math" panose="02040503050406030204" pitchFamily="18" charset="0"/>
                                    <a:ea typeface="メイリオ" panose="020B0604030504040204" pitchFamily="50" charset="-128"/>
                                  </a:rPr>
                                  <m:t>0</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0</m:t>
                                </m:r>
                              </m:num>
                              <m:den>
                                <m:r>
                                  <a:rPr kumimoji="1" lang="en-US" altLang="ja-JP" i="1">
                                    <a:latin typeface="Cambria Math" panose="02040503050406030204" pitchFamily="18" charset="0"/>
                                    <a:ea typeface="メイリオ" panose="020B0604030504040204" pitchFamily="50" charset="-128"/>
                                  </a:rPr>
                                  <m:t>55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=0</m:t>
                    </m:r>
                  </m:oMath>
                </a14:m>
                <a:endParaRPr kumimoji="1" lang="ja-JP" altLang="en-US" dirty="0">
                  <a:latin typeface="メイリオ" panose="020B0604030504040204" pitchFamily="50" charset="-128"/>
                  <a:ea typeface="メイリオ" panose="020B0604030504040204" pitchFamily="50" charset="-128"/>
                </a:endParaRPr>
              </a:p>
            </p:txBody>
          </p:sp>
        </mc:Choice>
        <mc:Fallback xmlns="">
          <p:sp>
            <p:nvSpPr>
              <p:cNvPr id="28" name="テキスト ボックス 27">
                <a:extLst>
                  <a:ext uri="{FF2B5EF4-FFF2-40B4-BE49-F238E27FC236}">
                    <a16:creationId xmlns:a16="http://schemas.microsoft.com/office/drawing/2014/main" id="{C0E5ADCE-F997-4928-BC2F-264F8BB2CD77}"/>
                  </a:ext>
                </a:extLst>
              </p:cNvPr>
              <p:cNvSpPr txBox="1">
                <a:spLocks noRot="1" noChangeAspect="1" noMove="1" noResize="1" noEditPoints="1" noAdjustHandles="1" noChangeArrowheads="1" noChangeShapeType="1" noTextEdit="1"/>
              </p:cNvSpPr>
              <p:nvPr/>
            </p:nvSpPr>
            <p:spPr>
              <a:xfrm>
                <a:off x="5504136" y="2650985"/>
                <a:ext cx="4745530" cy="561564"/>
              </a:xfrm>
              <a:prstGeom prst="rect">
                <a:avLst/>
              </a:prstGeom>
              <a:blipFill>
                <a:blip r:embed="rId2"/>
                <a:stretch>
                  <a:fillRect l="-1157" b="-97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11AAC15B-BD1B-4315-B0E0-4B2EF119A52A}"/>
                  </a:ext>
                </a:extLst>
              </p:cNvPr>
              <p:cNvSpPr txBox="1"/>
              <p:nvPr/>
            </p:nvSpPr>
            <p:spPr>
              <a:xfrm>
                <a:off x="5600124" y="3279735"/>
                <a:ext cx="4649543" cy="561564"/>
              </a:xfrm>
              <a:prstGeom prst="rect">
                <a:avLst/>
              </a:prstGeom>
              <a:noFill/>
            </p:spPr>
            <p:txBody>
              <a:bodyPr wrap="none" rtlCol="0">
                <a:spAutoFit/>
              </a:bodyPr>
              <a:lstStyle/>
              <a:p>
                <a:r>
                  <a:rPr kumimoji="1" lang="ja-JP" altLang="en-US" dirty="0">
                    <a:latin typeface="メイリオ" panose="020B0604030504040204" pitchFamily="50" charset="-128"/>
                    <a:ea typeface="メイリオ" panose="020B0604030504040204" pitchFamily="50" charset="-128"/>
                  </a:rPr>
                  <a:t>ノード</a:t>
                </a:r>
                <a:r>
                  <a:rPr kumimoji="1" lang="en-US" altLang="ja-JP" dirty="0">
                    <a:latin typeface="メイリオ" panose="020B0604030504040204" pitchFamily="50" charset="-128"/>
                    <a:ea typeface="メイリオ" panose="020B0604030504040204" pitchFamily="50" charset="-128"/>
                  </a:rPr>
                  <a:t>no</a:t>
                </a:r>
                <a:r>
                  <a:rPr kumimoji="1" lang="ja-JP" altLang="en-US" dirty="0">
                    <a:latin typeface="メイリオ" panose="020B0604030504040204" pitchFamily="50" charset="-128"/>
                    <a:ea typeface="メイリオ" panose="020B0604030504040204" pitchFamily="50" charset="-128"/>
                  </a:rPr>
                  <a:t>の</a:t>
                </a:r>
                <a:r>
                  <a:rPr kumimoji="1" lang="en-US" altLang="ja-JP" dirty="0" err="1">
                    <a:latin typeface="メイリオ" panose="020B0604030504040204" pitchFamily="50" charset="-128"/>
                    <a:ea typeface="メイリオ" panose="020B0604030504040204" pitchFamily="50" charset="-128"/>
                  </a:rPr>
                  <a:t>gini</a:t>
                </a:r>
                <a:r>
                  <a:rPr kumimoji="1" lang="ja-JP" altLang="en-US" dirty="0">
                    <a:latin typeface="メイリオ" panose="020B0604030504040204" pitchFamily="50" charset="-128"/>
                    <a:ea typeface="メイリオ" panose="020B0604030504040204" pitchFamily="50" charset="-128"/>
                  </a:rPr>
                  <a:t>係数：</a:t>
                </a:r>
                <a14:m>
                  <m:oMath xmlns:m="http://schemas.openxmlformats.org/officeDocument/2006/math">
                    <m:r>
                      <a:rPr kumimoji="1" lang="en-US" altLang="ja-JP" i="1">
                        <a:latin typeface="Cambria Math" panose="02040503050406030204" pitchFamily="18" charset="0"/>
                        <a:ea typeface="メイリオ" panose="020B0604030504040204" pitchFamily="50" charset="-128"/>
                      </a:rPr>
                      <m:t>1−</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b="0" i="1" smtClean="0">
                                    <a:latin typeface="Cambria Math" panose="02040503050406030204" pitchFamily="18" charset="0"/>
                                    <a:ea typeface="メイリオ" panose="020B0604030504040204" pitchFamily="50" charset="-128"/>
                                  </a:rPr>
                                </m:ctrlPr>
                              </m:fPr>
                              <m:num>
                                <m:r>
                                  <a:rPr kumimoji="1" lang="en-US" altLang="ja-JP" b="0" i="1" smtClean="0">
                                    <a:latin typeface="Cambria Math" panose="02040503050406030204" pitchFamily="18" charset="0"/>
                                    <a:ea typeface="メイリオ" panose="020B0604030504040204" pitchFamily="50" charset="-128"/>
                                  </a:rPr>
                                  <m:t>0</m:t>
                                </m:r>
                              </m:num>
                              <m:den>
                                <m:r>
                                  <a:rPr kumimoji="1" lang="en-US" altLang="ja-JP" b="0" i="1" smtClean="0">
                                    <a:latin typeface="Cambria Math" panose="02040503050406030204" pitchFamily="18" charset="0"/>
                                    <a:ea typeface="メイリオ" panose="020B0604030504040204" pitchFamily="50" charset="-128"/>
                                  </a:rPr>
                                  <m:t>50</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b="0" i="1" smtClean="0">
                                    <a:latin typeface="Cambria Math" panose="02040503050406030204" pitchFamily="18" charset="0"/>
                                    <a:ea typeface="メイリオ" panose="020B0604030504040204" pitchFamily="50" charset="-128"/>
                                  </a:rPr>
                                </m:ctrlPr>
                              </m:fPr>
                              <m:num>
                                <m:r>
                                  <a:rPr kumimoji="1" lang="en-US" altLang="ja-JP" b="0" i="1" smtClean="0">
                                    <a:latin typeface="Cambria Math" panose="02040503050406030204" pitchFamily="18" charset="0"/>
                                    <a:ea typeface="メイリオ" panose="020B0604030504040204" pitchFamily="50" charset="-128"/>
                                  </a:rPr>
                                  <m:t>50</m:t>
                                </m:r>
                              </m:num>
                              <m:den>
                                <m:r>
                                  <a:rPr kumimoji="1" lang="en-US" altLang="ja-JP" b="0" i="1" smtClean="0">
                                    <a:latin typeface="Cambria Math" panose="02040503050406030204" pitchFamily="18" charset="0"/>
                                    <a:ea typeface="メイリオ" panose="020B0604030504040204" pitchFamily="50" charset="-128"/>
                                  </a:rPr>
                                  <m:t>50</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=0</m:t>
                    </m:r>
                  </m:oMath>
                </a14:m>
                <a:endParaRPr kumimoji="1" lang="ja-JP" altLang="en-US" dirty="0">
                  <a:latin typeface="メイリオ" panose="020B0604030504040204" pitchFamily="50" charset="-128"/>
                  <a:ea typeface="メイリオ" panose="020B0604030504040204" pitchFamily="50" charset="-128"/>
                </a:endParaRPr>
              </a:p>
            </p:txBody>
          </p:sp>
        </mc:Choice>
        <mc:Fallback xmlns="">
          <p:sp>
            <p:nvSpPr>
              <p:cNvPr id="29" name="テキスト ボックス 28">
                <a:extLst>
                  <a:ext uri="{FF2B5EF4-FFF2-40B4-BE49-F238E27FC236}">
                    <a16:creationId xmlns:a16="http://schemas.microsoft.com/office/drawing/2014/main" id="{11AAC15B-BD1B-4315-B0E0-4B2EF119A52A}"/>
                  </a:ext>
                </a:extLst>
              </p:cNvPr>
              <p:cNvSpPr txBox="1">
                <a:spLocks noRot="1" noChangeAspect="1" noMove="1" noResize="1" noEditPoints="1" noAdjustHandles="1" noChangeArrowheads="1" noChangeShapeType="1" noTextEdit="1"/>
              </p:cNvSpPr>
              <p:nvPr/>
            </p:nvSpPr>
            <p:spPr>
              <a:xfrm>
                <a:off x="5600124" y="3279735"/>
                <a:ext cx="4649543" cy="561564"/>
              </a:xfrm>
              <a:prstGeom prst="rect">
                <a:avLst/>
              </a:prstGeom>
              <a:blipFill>
                <a:blip r:embed="rId3"/>
                <a:stretch>
                  <a:fillRect l="-1181" b="-97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E7E19FDA-C1C2-4035-BA3E-8EC43E2A408C}"/>
                  </a:ext>
                </a:extLst>
              </p:cNvPr>
              <p:cNvSpPr txBox="1"/>
              <p:nvPr/>
            </p:nvSpPr>
            <p:spPr>
              <a:xfrm>
                <a:off x="7306493" y="4593555"/>
                <a:ext cx="1441228" cy="307777"/>
              </a:xfrm>
              <a:prstGeom prst="rect">
                <a:avLst/>
              </a:prstGeom>
              <a:noFill/>
            </p:spPr>
            <p:txBody>
              <a:bodyPr wrap="none" lIns="0" tIns="0" rIns="0" bIns="0" rtlCol="0">
                <a:spAutoFit/>
              </a:bodyPr>
              <a:lstStyle/>
              <a:p>
                <a:pPr algn="l"/>
                <a14:m>
                  <m:oMath xmlns:m="http://schemas.openxmlformats.org/officeDocument/2006/math">
                    <m:r>
                      <a:rPr kumimoji="1" lang="en-US" altLang="ja-JP" sz="2000" i="1">
                        <a:latin typeface="Cambria Math" panose="02040503050406030204" pitchFamily="18" charset="0"/>
                        <a:ea typeface="メイリオ" panose="020B0604030504040204" pitchFamily="50" charset="-128"/>
                      </a:rPr>
                      <m:t>𝑔𝑖𝑛𝑖</m:t>
                    </m:r>
                  </m:oMath>
                </a14:m>
                <a:r>
                  <a:rPr kumimoji="1" lang="ja-JP" altLang="en-US" sz="2000" dirty="0">
                    <a:latin typeface="メイリオ" panose="020B0604030504040204" pitchFamily="50" charset="-128"/>
                    <a:ea typeface="メイリオ" panose="020B0604030504040204" pitchFamily="50" charset="-128"/>
                  </a:rPr>
                  <a:t>平均：</a:t>
                </a:r>
                <a14:m>
                  <m:oMath xmlns:m="http://schemas.openxmlformats.org/officeDocument/2006/math">
                    <m:r>
                      <a:rPr kumimoji="1" lang="en-US" altLang="ja-JP" sz="2000" i="1">
                        <a:latin typeface="Cambria Math" panose="02040503050406030204" pitchFamily="18" charset="0"/>
                        <a:ea typeface="Cambria Math" panose="02040503050406030204" pitchFamily="18" charset="0"/>
                      </a:rPr>
                      <m:t>0.</m:t>
                    </m:r>
                  </m:oMath>
                </a14:m>
                <a:endParaRPr kumimoji="1" lang="ja-JP" altLang="en-US" sz="2000" dirty="0">
                  <a:latin typeface="メイリオ" panose="020B0604030504040204" pitchFamily="50" charset="-128"/>
                  <a:ea typeface="メイリオ" panose="020B0604030504040204" pitchFamily="50" charset="-128"/>
                </a:endParaRPr>
              </a:p>
            </p:txBody>
          </p:sp>
        </mc:Choice>
        <mc:Fallback xmlns="">
          <p:sp>
            <p:nvSpPr>
              <p:cNvPr id="32" name="テキスト ボックス 31">
                <a:extLst>
                  <a:ext uri="{FF2B5EF4-FFF2-40B4-BE49-F238E27FC236}">
                    <a16:creationId xmlns:a16="http://schemas.microsoft.com/office/drawing/2014/main" id="{E7E19FDA-C1C2-4035-BA3E-8EC43E2A408C}"/>
                  </a:ext>
                </a:extLst>
              </p:cNvPr>
              <p:cNvSpPr txBox="1">
                <a:spLocks noRot="1" noChangeAspect="1" noMove="1" noResize="1" noEditPoints="1" noAdjustHandles="1" noChangeArrowheads="1" noChangeShapeType="1" noTextEdit="1"/>
              </p:cNvSpPr>
              <p:nvPr/>
            </p:nvSpPr>
            <p:spPr>
              <a:xfrm>
                <a:off x="7306493" y="4593555"/>
                <a:ext cx="1441228" cy="307777"/>
              </a:xfrm>
              <a:prstGeom prst="rect">
                <a:avLst/>
              </a:prstGeom>
              <a:blipFill>
                <a:blip r:embed="rId4"/>
                <a:stretch>
                  <a:fillRect l="-8051" t="-26000" r="-1695" b="-50000"/>
                </a:stretch>
              </a:blipFill>
            </p:spPr>
            <p:txBody>
              <a:bodyPr/>
              <a:lstStyle/>
              <a:p>
                <a:r>
                  <a:rPr lang="ja-JP" altLang="en-US">
                    <a:noFill/>
                  </a:rPr>
                  <a:t> </a:t>
                </a:r>
              </a:p>
            </p:txBody>
          </p:sp>
        </mc:Fallback>
      </mc:AlternateContent>
      <p:sp>
        <p:nvSpPr>
          <p:cNvPr id="5" name="矢印: 下 4">
            <a:extLst>
              <a:ext uri="{FF2B5EF4-FFF2-40B4-BE49-F238E27FC236}">
                <a16:creationId xmlns:a16="http://schemas.microsoft.com/office/drawing/2014/main" id="{E0F5D285-B213-4A0B-AD83-D9EBD9A04846}"/>
              </a:ext>
            </a:extLst>
          </p:cNvPr>
          <p:cNvSpPr/>
          <p:nvPr/>
        </p:nvSpPr>
        <p:spPr>
          <a:xfrm>
            <a:off x="7606749" y="4104455"/>
            <a:ext cx="1272617" cy="4415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DF9ACBC-6E88-4FF5-BF8C-AC1AB37A6A8B}"/>
              </a:ext>
            </a:extLst>
          </p:cNvPr>
          <p:cNvSpPr txBox="1"/>
          <p:nvPr/>
        </p:nvSpPr>
        <p:spPr>
          <a:xfrm>
            <a:off x="5374930" y="2097314"/>
            <a:ext cx="2830903" cy="646331"/>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分類した各領域毎に純度が測定されることに注意</a:t>
            </a:r>
          </a:p>
        </p:txBody>
      </p:sp>
      <p:sp>
        <p:nvSpPr>
          <p:cNvPr id="16" name="テキスト ボックス 15">
            <a:extLst>
              <a:ext uri="{FF2B5EF4-FFF2-40B4-BE49-F238E27FC236}">
                <a16:creationId xmlns:a16="http://schemas.microsoft.com/office/drawing/2014/main" id="{E9BC7244-4B3A-6202-57D9-EB075E23A4F0}"/>
              </a:ext>
            </a:extLst>
          </p:cNvPr>
          <p:cNvSpPr txBox="1"/>
          <p:nvPr/>
        </p:nvSpPr>
        <p:spPr>
          <a:xfrm>
            <a:off x="2746159" y="3173767"/>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[p:50,h:50]</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535290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3698A85-69E5-4D68-88D3-DEFF49E466B7}"/>
              </a:ext>
            </a:extLst>
          </p:cNvPr>
          <p:cNvSpPr txBox="1"/>
          <p:nvPr/>
        </p:nvSpPr>
        <p:spPr>
          <a:xfrm>
            <a:off x="339279" y="113032"/>
            <a:ext cx="4314001"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演習：</a:t>
            </a:r>
            <a:r>
              <a:rPr kumimoji="1" lang="en-US" altLang="ja-JP" sz="3200" b="1" dirty="0">
                <a:latin typeface="メイリオ" panose="020B0604030504040204" pitchFamily="50" charset="-128"/>
                <a:ea typeface="メイリオ" panose="020B0604030504040204" pitchFamily="50" charset="-128"/>
              </a:rPr>
              <a:t>Gini</a:t>
            </a:r>
            <a:r>
              <a:rPr kumimoji="1" lang="ja-JP" altLang="en-US" sz="3200" b="1" dirty="0">
                <a:latin typeface="メイリオ" panose="020B0604030504040204" pitchFamily="50" charset="-128"/>
                <a:ea typeface="メイリオ" panose="020B0604030504040204" pitchFamily="50" charset="-128"/>
              </a:rPr>
              <a:t>係数の計算</a:t>
            </a:r>
          </a:p>
        </p:txBody>
      </p:sp>
      <p:sp>
        <p:nvSpPr>
          <p:cNvPr id="3" name="テキスト ボックス 2">
            <a:extLst>
              <a:ext uri="{FF2B5EF4-FFF2-40B4-BE49-F238E27FC236}">
                <a16:creationId xmlns:a16="http://schemas.microsoft.com/office/drawing/2014/main" id="{72136D65-E4D4-4E9B-8872-3D569BD82056}"/>
              </a:ext>
            </a:extLst>
          </p:cNvPr>
          <p:cNvSpPr txBox="1"/>
          <p:nvPr/>
        </p:nvSpPr>
        <p:spPr>
          <a:xfrm>
            <a:off x="436813" y="791173"/>
            <a:ext cx="10433350" cy="1938992"/>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前例の訓練データに対して、レシピ中に卵のあるなしで判別してみたときに、以下のようになったとする。</a:t>
            </a:r>
            <a:endParaRPr kumimoji="1" lang="en-US" altLang="ja-JP" sz="2400"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・この場合、</a:t>
            </a:r>
            <a:r>
              <a:rPr kumimoji="1" lang="en-US" altLang="ja-JP" sz="2400" dirty="0" err="1">
                <a:latin typeface="メイリオ" panose="020B0604030504040204" pitchFamily="50" charset="-128"/>
                <a:ea typeface="メイリオ" panose="020B0604030504040204" pitchFamily="50" charset="-128"/>
              </a:rPr>
              <a:t>gini</a:t>
            </a:r>
            <a:r>
              <a:rPr kumimoji="1" lang="ja-JP" altLang="en-US" sz="2400" dirty="0">
                <a:latin typeface="メイリオ" panose="020B0604030504040204" pitchFamily="50" charset="-128"/>
                <a:ea typeface="メイリオ" panose="020B0604030504040204" pitchFamily="50" charset="-128"/>
              </a:rPr>
              <a:t>平均の値を求めよ。</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・薄力粉と卵でどちらが高い純度の決定境界を生成できるか？</a:t>
            </a:r>
            <a:endParaRPr kumimoji="1" lang="en-US" altLang="ja-JP" sz="24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881FF7D4-F77E-4548-B435-4FD2FF75941C}"/>
              </a:ext>
            </a:extLst>
          </p:cNvPr>
          <p:cNvSpPr txBox="1"/>
          <p:nvPr/>
        </p:nvSpPr>
        <p:spPr>
          <a:xfrm>
            <a:off x="3853614" y="4950047"/>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[p:40,h:15]</a:t>
            </a:r>
            <a:endParaRPr kumimoji="1" lang="ja-JP" altLang="en-US" sz="2400"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91889E86-6302-444D-BDCC-030130764905}"/>
              </a:ext>
            </a:extLst>
          </p:cNvPr>
          <p:cNvSpPr txBox="1"/>
          <p:nvPr/>
        </p:nvSpPr>
        <p:spPr>
          <a:xfrm>
            <a:off x="6109797" y="4950047"/>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[p:10,h:35]</a:t>
            </a:r>
            <a:endParaRPr kumimoji="1" lang="ja-JP" altLang="en-US" sz="2400" dirty="0">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75F4DD92-D881-4BC4-92D6-904825793EDE}"/>
              </a:ext>
            </a:extLst>
          </p:cNvPr>
          <p:cNvSpPr/>
          <p:nvPr/>
        </p:nvSpPr>
        <p:spPr>
          <a:xfrm>
            <a:off x="5124924" y="3115918"/>
            <a:ext cx="1580237" cy="6261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卵</a:t>
            </a:r>
          </a:p>
        </p:txBody>
      </p:sp>
      <p:cxnSp>
        <p:nvCxnSpPr>
          <p:cNvPr id="24" name="直線矢印コネクタ 23">
            <a:extLst>
              <a:ext uri="{FF2B5EF4-FFF2-40B4-BE49-F238E27FC236}">
                <a16:creationId xmlns:a16="http://schemas.microsoft.com/office/drawing/2014/main" id="{DCC6C2C8-7693-4D47-9FA1-F05EB2092B7B}"/>
              </a:ext>
            </a:extLst>
          </p:cNvPr>
          <p:cNvCxnSpPr>
            <a:cxnSpLocks/>
            <a:stCxn id="23" idx="2"/>
          </p:cNvCxnSpPr>
          <p:nvPr/>
        </p:nvCxnSpPr>
        <p:spPr>
          <a:xfrm flipH="1">
            <a:off x="4995716" y="3742082"/>
            <a:ext cx="919326" cy="112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330D6671-C740-4F24-839E-3854DC2B6901}"/>
              </a:ext>
            </a:extLst>
          </p:cNvPr>
          <p:cNvCxnSpPr>
            <a:cxnSpLocks/>
            <a:stCxn id="23" idx="2"/>
          </p:cNvCxnSpPr>
          <p:nvPr/>
        </p:nvCxnSpPr>
        <p:spPr>
          <a:xfrm>
            <a:off x="5915043" y="3742082"/>
            <a:ext cx="919325" cy="1053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BAAFBDFC-624D-C01C-CACD-819843D81814}"/>
              </a:ext>
            </a:extLst>
          </p:cNvPr>
          <p:cNvSpPr txBox="1"/>
          <p:nvPr/>
        </p:nvSpPr>
        <p:spPr>
          <a:xfrm>
            <a:off x="4779375" y="4097085"/>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7AAEE80-160F-D66D-ABDE-FF5F409C61A0}"/>
              </a:ext>
            </a:extLst>
          </p:cNvPr>
          <p:cNvSpPr txBox="1"/>
          <p:nvPr/>
        </p:nvSpPr>
        <p:spPr>
          <a:xfrm>
            <a:off x="6218952" y="4077579"/>
            <a:ext cx="9387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842555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3698A85-69E5-4D68-88D3-DEFF49E466B7}"/>
              </a:ext>
            </a:extLst>
          </p:cNvPr>
          <p:cNvSpPr txBox="1"/>
          <p:nvPr/>
        </p:nvSpPr>
        <p:spPr>
          <a:xfrm>
            <a:off x="379283" y="233490"/>
            <a:ext cx="5955476"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演習の答え：</a:t>
            </a:r>
            <a:r>
              <a:rPr kumimoji="1" lang="en-US" altLang="ja-JP" sz="3200" b="1" dirty="0">
                <a:latin typeface="メイリオ" panose="020B0604030504040204" pitchFamily="50" charset="-128"/>
                <a:ea typeface="メイリオ" panose="020B0604030504040204" pitchFamily="50" charset="-128"/>
              </a:rPr>
              <a:t>Gini</a:t>
            </a:r>
            <a:r>
              <a:rPr kumimoji="1" lang="ja-JP" altLang="en-US" sz="3200" b="1" dirty="0">
                <a:latin typeface="メイリオ" panose="020B0604030504040204" pitchFamily="50" charset="-128"/>
                <a:ea typeface="メイリオ" panose="020B0604030504040204" pitchFamily="50" charset="-128"/>
              </a:rPr>
              <a:t>係数の計算例</a:t>
            </a:r>
          </a:p>
        </p:txBody>
      </p:sp>
      <p:sp>
        <p:nvSpPr>
          <p:cNvPr id="3" name="テキスト ボックス 2">
            <a:extLst>
              <a:ext uri="{FF2B5EF4-FFF2-40B4-BE49-F238E27FC236}">
                <a16:creationId xmlns:a16="http://schemas.microsoft.com/office/drawing/2014/main" id="{72136D65-E4D4-4E9B-8872-3D569BD82056}"/>
              </a:ext>
            </a:extLst>
          </p:cNvPr>
          <p:cNvSpPr txBox="1"/>
          <p:nvPr/>
        </p:nvSpPr>
        <p:spPr>
          <a:xfrm>
            <a:off x="432318" y="866450"/>
            <a:ext cx="11327364"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ホットケーキ、パンケーキのレシピデータがそれぞれ</a:t>
            </a:r>
            <a:r>
              <a:rPr kumimoji="1" lang="en-US" altLang="ja-JP" sz="2400" dirty="0">
                <a:latin typeface="メイリオ" panose="020B0604030504040204" pitchFamily="50" charset="-128"/>
                <a:ea typeface="メイリオ" panose="020B0604030504040204" pitchFamily="50" charset="-128"/>
              </a:rPr>
              <a:t>50</a:t>
            </a:r>
            <a:r>
              <a:rPr kumimoji="1" lang="ja-JP" altLang="en-US" sz="2400" dirty="0">
                <a:latin typeface="メイリオ" panose="020B0604030504040204" pitchFamily="50" charset="-128"/>
                <a:ea typeface="メイリオ" panose="020B0604030504040204" pitchFamily="50" charset="-128"/>
              </a:rPr>
              <a:t>個づつあるとして、レシピ中に薄力粉と卵のあるなしで判別してみたときに、以下のようになったとする。</a:t>
            </a:r>
            <a:endParaRPr kumimoji="1" lang="en-US" altLang="ja-JP" sz="2400" dirty="0">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75FA429F-2DCF-4EA0-B15A-EB26E367A951}"/>
              </a:ext>
            </a:extLst>
          </p:cNvPr>
          <p:cNvSpPr/>
          <p:nvPr/>
        </p:nvSpPr>
        <p:spPr>
          <a:xfrm>
            <a:off x="2954880" y="2039828"/>
            <a:ext cx="1580237" cy="6261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薄力粉</a:t>
            </a:r>
          </a:p>
        </p:txBody>
      </p:sp>
      <p:cxnSp>
        <p:nvCxnSpPr>
          <p:cNvPr id="7" name="直線矢印コネクタ 6">
            <a:extLst>
              <a:ext uri="{FF2B5EF4-FFF2-40B4-BE49-F238E27FC236}">
                <a16:creationId xmlns:a16="http://schemas.microsoft.com/office/drawing/2014/main" id="{477904EE-EEEA-4AC7-95CD-BDDDB2E6F5B7}"/>
              </a:ext>
            </a:extLst>
          </p:cNvPr>
          <p:cNvCxnSpPr>
            <a:cxnSpLocks/>
            <a:stCxn id="4" idx="2"/>
          </p:cNvCxnSpPr>
          <p:nvPr/>
        </p:nvCxnSpPr>
        <p:spPr>
          <a:xfrm flipH="1">
            <a:off x="2825672" y="2665992"/>
            <a:ext cx="919326" cy="112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599B6AB9-63B9-49A6-B201-D93FCACB98CA}"/>
              </a:ext>
            </a:extLst>
          </p:cNvPr>
          <p:cNvCxnSpPr>
            <a:cxnSpLocks/>
            <a:stCxn id="4" idx="2"/>
          </p:cNvCxnSpPr>
          <p:nvPr/>
        </p:nvCxnSpPr>
        <p:spPr>
          <a:xfrm>
            <a:off x="3744999" y="2665992"/>
            <a:ext cx="919325" cy="1053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08A26148-E9EE-4ED2-AD79-14DA6DC8CD2C}"/>
              </a:ext>
            </a:extLst>
          </p:cNvPr>
          <p:cNvSpPr txBox="1"/>
          <p:nvPr/>
        </p:nvSpPr>
        <p:spPr>
          <a:xfrm>
            <a:off x="1745743" y="3776870"/>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[p:35,h:20]</a:t>
            </a:r>
            <a:endParaRPr kumimoji="1" lang="ja-JP" altLang="en-US" sz="24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4E2DB1CC-BA61-434E-B44E-AEB5CB92BC21}"/>
              </a:ext>
            </a:extLst>
          </p:cNvPr>
          <p:cNvSpPr txBox="1"/>
          <p:nvPr/>
        </p:nvSpPr>
        <p:spPr>
          <a:xfrm>
            <a:off x="4001926" y="3776870"/>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[p:15,h:30]</a:t>
            </a:r>
            <a:endParaRPr kumimoji="1" lang="ja-JP" altLang="en-US" sz="24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881FF7D4-F77E-4548-B435-4FD2FF75941C}"/>
              </a:ext>
            </a:extLst>
          </p:cNvPr>
          <p:cNvSpPr txBox="1"/>
          <p:nvPr/>
        </p:nvSpPr>
        <p:spPr>
          <a:xfrm>
            <a:off x="6368214" y="3776870"/>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[p:40,h:15]</a:t>
            </a:r>
            <a:endParaRPr kumimoji="1" lang="ja-JP" altLang="en-US" sz="2400"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91889E86-6302-444D-BDCC-030130764905}"/>
              </a:ext>
            </a:extLst>
          </p:cNvPr>
          <p:cNvSpPr txBox="1"/>
          <p:nvPr/>
        </p:nvSpPr>
        <p:spPr>
          <a:xfrm>
            <a:off x="8624397" y="3776870"/>
            <a:ext cx="1968809"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[p:10,h:35]</a:t>
            </a:r>
            <a:endParaRPr kumimoji="1" lang="ja-JP" altLang="en-US" sz="2400" dirty="0">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75F4DD92-D881-4BC4-92D6-904825793EDE}"/>
              </a:ext>
            </a:extLst>
          </p:cNvPr>
          <p:cNvSpPr/>
          <p:nvPr/>
        </p:nvSpPr>
        <p:spPr>
          <a:xfrm>
            <a:off x="7639524" y="1942741"/>
            <a:ext cx="1580237" cy="6261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卵</a:t>
            </a:r>
          </a:p>
        </p:txBody>
      </p:sp>
      <p:cxnSp>
        <p:nvCxnSpPr>
          <p:cNvPr id="24" name="直線矢印コネクタ 23">
            <a:extLst>
              <a:ext uri="{FF2B5EF4-FFF2-40B4-BE49-F238E27FC236}">
                <a16:creationId xmlns:a16="http://schemas.microsoft.com/office/drawing/2014/main" id="{DCC6C2C8-7693-4D47-9FA1-F05EB2092B7B}"/>
              </a:ext>
            </a:extLst>
          </p:cNvPr>
          <p:cNvCxnSpPr>
            <a:cxnSpLocks/>
            <a:stCxn id="23" idx="2"/>
          </p:cNvCxnSpPr>
          <p:nvPr/>
        </p:nvCxnSpPr>
        <p:spPr>
          <a:xfrm flipH="1">
            <a:off x="7510316" y="2568905"/>
            <a:ext cx="919326" cy="112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330D6671-C740-4F24-839E-3854DC2B6901}"/>
              </a:ext>
            </a:extLst>
          </p:cNvPr>
          <p:cNvCxnSpPr>
            <a:cxnSpLocks/>
            <a:stCxn id="23" idx="2"/>
          </p:cNvCxnSpPr>
          <p:nvPr/>
        </p:nvCxnSpPr>
        <p:spPr>
          <a:xfrm>
            <a:off x="8429643" y="2568905"/>
            <a:ext cx="919325" cy="1053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C0E5ADCE-F997-4928-BC2F-264F8BB2CD77}"/>
                  </a:ext>
                </a:extLst>
              </p:cNvPr>
              <p:cNvSpPr txBox="1"/>
              <p:nvPr/>
            </p:nvSpPr>
            <p:spPr>
              <a:xfrm>
                <a:off x="1703253" y="4415279"/>
                <a:ext cx="4591834" cy="561564"/>
              </a:xfrm>
              <a:prstGeom prst="rect">
                <a:avLst/>
              </a:prstGeom>
              <a:noFill/>
            </p:spPr>
            <p:txBody>
              <a:bodyPr wrap="none" rtlCol="0">
                <a:spAutoFit/>
              </a:bodyPr>
              <a:lstStyle/>
              <a:p>
                <a:r>
                  <a:rPr kumimoji="1" lang="en-US" altLang="ja-JP" dirty="0">
                    <a:latin typeface="メイリオ" panose="020B0604030504040204" pitchFamily="50" charset="-128"/>
                    <a:ea typeface="メイリオ" panose="020B0604030504040204" pitchFamily="50" charset="-128"/>
                  </a:rPr>
                  <a:t>True</a:t>
                </a:r>
                <a:r>
                  <a:rPr kumimoji="1" lang="ja-JP" altLang="en-US" dirty="0">
                    <a:latin typeface="メイリオ" panose="020B0604030504040204" pitchFamily="50" charset="-128"/>
                    <a:ea typeface="メイリオ" panose="020B0604030504040204" pitchFamily="50" charset="-128"/>
                  </a:rPr>
                  <a:t>の</a:t>
                </a:r>
                <a:r>
                  <a:rPr kumimoji="1" lang="en-US" altLang="ja-JP" dirty="0" err="1">
                    <a:latin typeface="メイリオ" panose="020B0604030504040204" pitchFamily="50" charset="-128"/>
                    <a:ea typeface="メイリオ" panose="020B0604030504040204" pitchFamily="50" charset="-128"/>
                  </a:rPr>
                  <a:t>gini</a:t>
                </a:r>
                <a:r>
                  <a:rPr kumimoji="1" lang="ja-JP" altLang="en-US" dirty="0">
                    <a:latin typeface="メイリオ" panose="020B0604030504040204" pitchFamily="50" charset="-128"/>
                    <a:ea typeface="メイリオ" panose="020B0604030504040204" pitchFamily="50" charset="-128"/>
                  </a:rPr>
                  <a:t>係数：</a:t>
                </a:r>
                <a14:m>
                  <m:oMath xmlns:m="http://schemas.openxmlformats.org/officeDocument/2006/math">
                    <m:r>
                      <a:rPr kumimoji="1" lang="en-US" altLang="ja-JP" i="1">
                        <a:latin typeface="Cambria Math" panose="02040503050406030204" pitchFamily="18" charset="0"/>
                        <a:ea typeface="メイリオ" panose="020B0604030504040204" pitchFamily="50" charset="-128"/>
                      </a:rPr>
                      <m:t>1−</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35</m:t>
                                </m:r>
                              </m:num>
                              <m:den>
                                <m:r>
                                  <a:rPr kumimoji="1" lang="en-US" altLang="ja-JP" i="1">
                                    <a:latin typeface="Cambria Math" panose="02040503050406030204" pitchFamily="18" charset="0"/>
                                    <a:ea typeface="メイリオ" panose="020B0604030504040204" pitchFamily="50" charset="-128"/>
                                  </a:rPr>
                                  <m:t>55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20</m:t>
                                </m:r>
                              </m:num>
                              <m:den>
                                <m:r>
                                  <a:rPr kumimoji="1" lang="en-US" altLang="ja-JP" i="1">
                                    <a:latin typeface="Cambria Math" panose="02040503050406030204" pitchFamily="18" charset="0"/>
                                    <a:ea typeface="メイリオ" panose="020B0604030504040204" pitchFamily="50" charset="-128"/>
                                  </a:rPr>
                                  <m:t>55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=0.46</m:t>
                    </m:r>
                  </m:oMath>
                </a14:m>
                <a:endParaRPr kumimoji="1" lang="ja-JP" altLang="en-US" dirty="0">
                  <a:latin typeface="メイリオ" panose="020B0604030504040204" pitchFamily="50" charset="-128"/>
                  <a:ea typeface="メイリオ" panose="020B0604030504040204" pitchFamily="50" charset="-128"/>
                </a:endParaRPr>
              </a:p>
            </p:txBody>
          </p:sp>
        </mc:Choice>
        <mc:Fallback xmlns="">
          <p:sp>
            <p:nvSpPr>
              <p:cNvPr id="28" name="テキスト ボックス 27">
                <a:extLst>
                  <a:ext uri="{FF2B5EF4-FFF2-40B4-BE49-F238E27FC236}">
                    <a16:creationId xmlns:a16="http://schemas.microsoft.com/office/drawing/2014/main" id="{C0E5ADCE-F997-4928-BC2F-264F8BB2CD77}"/>
                  </a:ext>
                </a:extLst>
              </p:cNvPr>
              <p:cNvSpPr txBox="1">
                <a:spLocks noRot="1" noChangeAspect="1" noMove="1" noResize="1" noEditPoints="1" noAdjustHandles="1" noChangeArrowheads="1" noChangeShapeType="1" noTextEdit="1"/>
              </p:cNvSpPr>
              <p:nvPr/>
            </p:nvSpPr>
            <p:spPr>
              <a:xfrm>
                <a:off x="1703253" y="4415279"/>
                <a:ext cx="4591834" cy="561564"/>
              </a:xfrm>
              <a:prstGeom prst="rect">
                <a:avLst/>
              </a:prstGeom>
              <a:blipFill>
                <a:blip r:embed="rId2"/>
                <a:stretch>
                  <a:fillRect l="-1061" b="-97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11AAC15B-BD1B-4315-B0E0-4B2EF119A52A}"/>
                  </a:ext>
                </a:extLst>
              </p:cNvPr>
              <p:cNvSpPr txBox="1"/>
              <p:nvPr/>
            </p:nvSpPr>
            <p:spPr>
              <a:xfrm>
                <a:off x="1745742" y="4997994"/>
                <a:ext cx="4547079" cy="561564"/>
              </a:xfrm>
              <a:prstGeom prst="rect">
                <a:avLst/>
              </a:prstGeom>
              <a:noFill/>
            </p:spPr>
            <p:txBody>
              <a:bodyPr wrap="none" rtlCol="0">
                <a:spAutoFit/>
              </a:bodyPr>
              <a:lstStyle/>
              <a:p>
                <a:r>
                  <a:rPr kumimoji="1" lang="en-US" altLang="ja-JP" dirty="0">
                    <a:latin typeface="メイリオ" panose="020B0604030504040204" pitchFamily="50" charset="-128"/>
                    <a:ea typeface="メイリオ" panose="020B0604030504040204" pitchFamily="50" charset="-128"/>
                  </a:rPr>
                  <a:t>False</a:t>
                </a:r>
                <a:r>
                  <a:rPr kumimoji="1" lang="ja-JP" altLang="en-US" dirty="0">
                    <a:latin typeface="メイリオ" panose="020B0604030504040204" pitchFamily="50" charset="-128"/>
                    <a:ea typeface="メイリオ" panose="020B0604030504040204" pitchFamily="50" charset="-128"/>
                  </a:rPr>
                  <a:t>の</a:t>
                </a:r>
                <a:r>
                  <a:rPr kumimoji="1" lang="en-US" altLang="ja-JP" dirty="0" err="1">
                    <a:latin typeface="メイリオ" panose="020B0604030504040204" pitchFamily="50" charset="-128"/>
                    <a:ea typeface="メイリオ" panose="020B0604030504040204" pitchFamily="50" charset="-128"/>
                  </a:rPr>
                  <a:t>gini</a:t>
                </a:r>
                <a:r>
                  <a:rPr kumimoji="1" lang="ja-JP" altLang="en-US" dirty="0">
                    <a:latin typeface="メイリオ" panose="020B0604030504040204" pitchFamily="50" charset="-128"/>
                    <a:ea typeface="メイリオ" panose="020B0604030504040204" pitchFamily="50" charset="-128"/>
                  </a:rPr>
                  <a:t>係数：</a:t>
                </a:r>
                <a14:m>
                  <m:oMath xmlns:m="http://schemas.openxmlformats.org/officeDocument/2006/math">
                    <m:r>
                      <a:rPr kumimoji="1" lang="en-US" altLang="ja-JP" i="1">
                        <a:latin typeface="Cambria Math" panose="02040503050406030204" pitchFamily="18" charset="0"/>
                        <a:ea typeface="メイリオ" panose="020B0604030504040204" pitchFamily="50" charset="-128"/>
                      </a:rPr>
                      <m:t>1−</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15</m:t>
                                </m:r>
                              </m:num>
                              <m:den>
                                <m:r>
                                  <a:rPr kumimoji="1" lang="en-US" altLang="ja-JP" i="1">
                                    <a:latin typeface="Cambria Math" panose="02040503050406030204" pitchFamily="18" charset="0"/>
                                    <a:ea typeface="メイリオ" panose="020B0604030504040204" pitchFamily="50" charset="-128"/>
                                  </a:rPr>
                                  <m:t>45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30</m:t>
                                </m:r>
                              </m:num>
                              <m:den>
                                <m:r>
                                  <a:rPr kumimoji="1" lang="en-US" altLang="ja-JP" i="1">
                                    <a:latin typeface="Cambria Math" panose="02040503050406030204" pitchFamily="18" charset="0"/>
                                    <a:ea typeface="メイリオ" panose="020B0604030504040204" pitchFamily="50" charset="-128"/>
                                  </a:rPr>
                                  <m:t>45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=0.44</m:t>
                    </m:r>
                  </m:oMath>
                </a14:m>
                <a:endParaRPr kumimoji="1" lang="ja-JP" altLang="en-US" dirty="0">
                  <a:latin typeface="メイリオ" panose="020B0604030504040204" pitchFamily="50" charset="-128"/>
                  <a:ea typeface="メイリオ" panose="020B0604030504040204" pitchFamily="50" charset="-128"/>
                </a:endParaRPr>
              </a:p>
            </p:txBody>
          </p:sp>
        </mc:Choice>
        <mc:Fallback xmlns="">
          <p:sp>
            <p:nvSpPr>
              <p:cNvPr id="29" name="テキスト ボックス 28">
                <a:extLst>
                  <a:ext uri="{FF2B5EF4-FFF2-40B4-BE49-F238E27FC236}">
                    <a16:creationId xmlns:a16="http://schemas.microsoft.com/office/drawing/2014/main" id="{11AAC15B-BD1B-4315-B0E0-4B2EF119A52A}"/>
                  </a:ext>
                </a:extLst>
              </p:cNvPr>
              <p:cNvSpPr txBox="1">
                <a:spLocks noRot="1" noChangeAspect="1" noMove="1" noResize="1" noEditPoints="1" noAdjustHandles="1" noChangeArrowheads="1" noChangeShapeType="1" noTextEdit="1"/>
              </p:cNvSpPr>
              <p:nvPr/>
            </p:nvSpPr>
            <p:spPr>
              <a:xfrm>
                <a:off x="1745742" y="4997994"/>
                <a:ext cx="4547079" cy="561564"/>
              </a:xfrm>
              <a:prstGeom prst="rect">
                <a:avLst/>
              </a:prstGeom>
              <a:blipFill>
                <a:blip r:embed="rId3"/>
                <a:stretch>
                  <a:fillRect l="-1072" b="-97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E7E19FDA-C1C2-4035-BA3E-8EC43E2A408C}"/>
                  </a:ext>
                </a:extLst>
              </p:cNvPr>
              <p:cNvSpPr txBox="1"/>
              <p:nvPr/>
            </p:nvSpPr>
            <p:spPr>
              <a:xfrm>
                <a:off x="1851722" y="5713087"/>
                <a:ext cx="4119013" cy="397353"/>
              </a:xfrm>
              <a:prstGeom prst="rect">
                <a:avLst/>
              </a:prstGeom>
              <a:noFill/>
            </p:spPr>
            <p:txBody>
              <a:bodyPr wrap="none" lIns="0" tIns="0" rIns="0" bIns="0" rtlCol="0">
                <a:spAutoFit/>
              </a:bodyPr>
              <a:lstStyle/>
              <a:p>
                <a:pPr algn="l"/>
                <a14:m>
                  <m:oMath xmlns:m="http://schemas.openxmlformats.org/officeDocument/2006/math">
                    <m:r>
                      <a:rPr kumimoji="1" lang="en-US" altLang="ja-JP" i="1">
                        <a:latin typeface="Cambria Math" panose="02040503050406030204" pitchFamily="18" charset="0"/>
                        <a:ea typeface="メイリオ" panose="020B0604030504040204" pitchFamily="50" charset="-128"/>
                      </a:rPr>
                      <m:t>𝑔𝑖𝑛𝑖</m:t>
                    </m:r>
                  </m:oMath>
                </a14:m>
                <a:r>
                  <a:rPr kumimoji="1" lang="ja-JP" altLang="en-US" dirty="0">
                    <a:latin typeface="メイリオ" panose="020B0604030504040204" pitchFamily="50" charset="-128"/>
                    <a:ea typeface="メイリオ" panose="020B0604030504040204" pitchFamily="50" charset="-128"/>
                  </a:rPr>
                  <a:t>平均：</a:t>
                </a:r>
                <a14:m>
                  <m:oMath xmlns:m="http://schemas.openxmlformats.org/officeDocument/2006/math">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55</m:t>
                        </m:r>
                      </m:num>
                      <m:den>
                        <m:r>
                          <a:rPr kumimoji="1" lang="en-US" altLang="ja-JP" i="1">
                            <a:latin typeface="Cambria Math" panose="02040503050406030204" pitchFamily="18" charset="0"/>
                            <a:ea typeface="メイリオ" panose="020B0604030504040204" pitchFamily="50" charset="-128"/>
                          </a:rPr>
                          <m:t>100</m:t>
                        </m:r>
                      </m:den>
                    </m:f>
                    <m:r>
                      <a:rPr kumimoji="1" lang="en-US" altLang="ja-JP" i="1">
                        <a:latin typeface="Cambria Math" panose="02040503050406030204" pitchFamily="18" charset="0"/>
                        <a:ea typeface="Cambria Math" panose="02040503050406030204" pitchFamily="18" charset="0"/>
                      </a:rPr>
                      <m:t>×0.46+</m:t>
                    </m:r>
                    <m:f>
                      <m:fPr>
                        <m:ctrlPr>
                          <a:rPr kumimoji="1" lang="en-US" altLang="ja-JP" i="1">
                            <a:latin typeface="Cambria Math" panose="02040503050406030204" pitchFamily="18" charset="0"/>
                            <a:ea typeface="Cambria Math" panose="02040503050406030204" pitchFamily="18" charset="0"/>
                          </a:rPr>
                        </m:ctrlPr>
                      </m:fPr>
                      <m:num>
                        <m:r>
                          <a:rPr kumimoji="1" lang="en-US" altLang="ja-JP" i="1">
                            <a:latin typeface="Cambria Math" panose="02040503050406030204" pitchFamily="18" charset="0"/>
                            <a:ea typeface="Cambria Math" panose="02040503050406030204" pitchFamily="18" charset="0"/>
                          </a:rPr>
                          <m:t>45</m:t>
                        </m:r>
                      </m:num>
                      <m:den>
                        <m:r>
                          <a:rPr kumimoji="1" lang="en-US" altLang="ja-JP" i="1">
                            <a:latin typeface="Cambria Math" panose="02040503050406030204" pitchFamily="18" charset="0"/>
                            <a:ea typeface="Cambria Math" panose="02040503050406030204" pitchFamily="18" charset="0"/>
                          </a:rPr>
                          <m:t>100</m:t>
                        </m:r>
                      </m:den>
                    </m:f>
                    <m:r>
                      <a:rPr kumimoji="1" lang="en-US" altLang="ja-JP" i="1">
                        <a:latin typeface="Cambria Math" panose="02040503050406030204" pitchFamily="18" charset="0"/>
                        <a:ea typeface="Cambria Math" panose="02040503050406030204" pitchFamily="18" charset="0"/>
                      </a:rPr>
                      <m:t>×0.44=0.45</m:t>
                    </m:r>
                  </m:oMath>
                </a14:m>
                <a:endParaRPr kumimoji="1" lang="ja-JP" altLang="en-US" dirty="0">
                  <a:latin typeface="メイリオ" panose="020B0604030504040204" pitchFamily="50" charset="-128"/>
                  <a:ea typeface="メイリオ" panose="020B0604030504040204" pitchFamily="50" charset="-128"/>
                </a:endParaRPr>
              </a:p>
            </p:txBody>
          </p:sp>
        </mc:Choice>
        <mc:Fallback xmlns="">
          <p:sp>
            <p:nvSpPr>
              <p:cNvPr id="32" name="テキスト ボックス 31">
                <a:extLst>
                  <a:ext uri="{FF2B5EF4-FFF2-40B4-BE49-F238E27FC236}">
                    <a16:creationId xmlns:a16="http://schemas.microsoft.com/office/drawing/2014/main" id="{E7E19FDA-C1C2-4035-BA3E-8EC43E2A408C}"/>
                  </a:ext>
                </a:extLst>
              </p:cNvPr>
              <p:cNvSpPr txBox="1">
                <a:spLocks noRot="1" noChangeAspect="1" noMove="1" noResize="1" noEditPoints="1" noAdjustHandles="1" noChangeArrowheads="1" noChangeShapeType="1" noTextEdit="1"/>
              </p:cNvSpPr>
              <p:nvPr/>
            </p:nvSpPr>
            <p:spPr>
              <a:xfrm>
                <a:off x="1851722" y="5713087"/>
                <a:ext cx="4119013" cy="397353"/>
              </a:xfrm>
              <a:prstGeom prst="rect">
                <a:avLst/>
              </a:prstGeom>
              <a:blipFill>
                <a:blip r:embed="rId4"/>
                <a:stretch>
                  <a:fillRect l="-2667" t="-1538" r="-1630" b="-2769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BC945BAE-583A-4AC8-8F90-24541E5FC46F}"/>
                  </a:ext>
                </a:extLst>
              </p:cNvPr>
              <p:cNvSpPr txBox="1"/>
              <p:nvPr/>
            </p:nvSpPr>
            <p:spPr>
              <a:xfrm>
                <a:off x="6158221" y="4392802"/>
                <a:ext cx="4476418" cy="561564"/>
              </a:xfrm>
              <a:prstGeom prst="rect">
                <a:avLst/>
              </a:prstGeom>
              <a:noFill/>
            </p:spPr>
            <p:txBody>
              <a:bodyPr wrap="none" rtlCol="0">
                <a:spAutoFit/>
              </a:bodyPr>
              <a:lstStyle/>
              <a:p>
                <a:r>
                  <a:rPr kumimoji="1" lang="en-US" altLang="ja-JP" dirty="0">
                    <a:latin typeface="メイリオ" panose="020B0604030504040204" pitchFamily="50" charset="-128"/>
                    <a:ea typeface="メイリオ" panose="020B0604030504040204" pitchFamily="50" charset="-128"/>
                  </a:rPr>
                  <a:t>True</a:t>
                </a:r>
                <a:r>
                  <a:rPr kumimoji="1" lang="ja-JP" altLang="en-US" dirty="0">
                    <a:latin typeface="メイリオ" panose="020B0604030504040204" pitchFamily="50" charset="-128"/>
                    <a:ea typeface="メイリオ" panose="020B0604030504040204" pitchFamily="50" charset="-128"/>
                  </a:rPr>
                  <a:t>の</a:t>
                </a:r>
                <a:r>
                  <a:rPr kumimoji="1" lang="en-US" altLang="ja-JP" dirty="0" err="1">
                    <a:latin typeface="メイリオ" panose="020B0604030504040204" pitchFamily="50" charset="-128"/>
                    <a:ea typeface="メイリオ" panose="020B0604030504040204" pitchFamily="50" charset="-128"/>
                  </a:rPr>
                  <a:t>gini</a:t>
                </a:r>
                <a:r>
                  <a:rPr kumimoji="1" lang="ja-JP" altLang="en-US" dirty="0">
                    <a:latin typeface="メイリオ" panose="020B0604030504040204" pitchFamily="50" charset="-128"/>
                    <a:ea typeface="メイリオ" panose="020B0604030504040204" pitchFamily="50" charset="-128"/>
                  </a:rPr>
                  <a:t>係数：</a:t>
                </a:r>
                <a14:m>
                  <m:oMath xmlns:m="http://schemas.openxmlformats.org/officeDocument/2006/math">
                    <m:r>
                      <a:rPr kumimoji="1" lang="en-US" altLang="ja-JP" i="1">
                        <a:latin typeface="Cambria Math" panose="02040503050406030204" pitchFamily="18" charset="0"/>
                        <a:ea typeface="メイリオ" panose="020B0604030504040204" pitchFamily="50" charset="-128"/>
                      </a:rPr>
                      <m:t>1−</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40</m:t>
                                </m:r>
                              </m:num>
                              <m:den>
                                <m:r>
                                  <a:rPr kumimoji="1" lang="en-US" altLang="ja-JP" i="1">
                                    <a:latin typeface="Cambria Math" panose="02040503050406030204" pitchFamily="18" charset="0"/>
                                    <a:ea typeface="メイリオ" panose="020B0604030504040204" pitchFamily="50" charset="-128"/>
                                  </a:rPr>
                                  <m:t>55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15</m:t>
                                </m:r>
                              </m:num>
                              <m:den>
                                <m:r>
                                  <a:rPr kumimoji="1" lang="en-US" altLang="ja-JP" i="1">
                                    <a:latin typeface="Cambria Math" panose="02040503050406030204" pitchFamily="18" charset="0"/>
                                    <a:ea typeface="メイリオ" panose="020B0604030504040204" pitchFamily="50" charset="-128"/>
                                  </a:rPr>
                                  <m:t>55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=0.40</m:t>
                    </m:r>
                  </m:oMath>
                </a14:m>
                <a:endParaRPr kumimoji="1" lang="ja-JP" altLang="en-US" dirty="0">
                  <a:latin typeface="メイリオ" panose="020B0604030504040204" pitchFamily="50" charset="-128"/>
                  <a:ea typeface="メイリオ" panose="020B0604030504040204" pitchFamily="50" charset="-128"/>
                </a:endParaRPr>
              </a:p>
            </p:txBody>
          </p:sp>
        </mc:Choice>
        <mc:Fallback xmlns="">
          <p:sp>
            <p:nvSpPr>
              <p:cNvPr id="33" name="テキスト ボックス 32">
                <a:extLst>
                  <a:ext uri="{FF2B5EF4-FFF2-40B4-BE49-F238E27FC236}">
                    <a16:creationId xmlns:a16="http://schemas.microsoft.com/office/drawing/2014/main" id="{BC945BAE-583A-4AC8-8F90-24541E5FC46F}"/>
                  </a:ext>
                </a:extLst>
              </p:cNvPr>
              <p:cNvSpPr txBox="1">
                <a:spLocks noRot="1" noChangeAspect="1" noMove="1" noResize="1" noEditPoints="1" noAdjustHandles="1" noChangeArrowheads="1" noChangeShapeType="1" noTextEdit="1"/>
              </p:cNvSpPr>
              <p:nvPr/>
            </p:nvSpPr>
            <p:spPr>
              <a:xfrm>
                <a:off x="6158221" y="4392802"/>
                <a:ext cx="4476418" cy="561564"/>
              </a:xfrm>
              <a:prstGeom prst="rect">
                <a:avLst/>
              </a:prstGeom>
              <a:blipFill>
                <a:blip r:embed="rId5"/>
                <a:stretch>
                  <a:fillRect l="-1088" b="-97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12FDAB42-FD0B-4EA9-A8B0-0D7F4D55B93E}"/>
                  </a:ext>
                </a:extLst>
              </p:cNvPr>
              <p:cNvSpPr txBox="1"/>
              <p:nvPr/>
            </p:nvSpPr>
            <p:spPr>
              <a:xfrm>
                <a:off x="6200710" y="4975517"/>
                <a:ext cx="4547079" cy="561564"/>
              </a:xfrm>
              <a:prstGeom prst="rect">
                <a:avLst/>
              </a:prstGeom>
              <a:noFill/>
            </p:spPr>
            <p:txBody>
              <a:bodyPr wrap="none" rtlCol="0">
                <a:spAutoFit/>
              </a:bodyPr>
              <a:lstStyle/>
              <a:p>
                <a:r>
                  <a:rPr kumimoji="1" lang="en-US" altLang="ja-JP" dirty="0">
                    <a:latin typeface="メイリオ" panose="020B0604030504040204" pitchFamily="50" charset="-128"/>
                    <a:ea typeface="メイリオ" panose="020B0604030504040204" pitchFamily="50" charset="-128"/>
                  </a:rPr>
                  <a:t>False</a:t>
                </a:r>
                <a:r>
                  <a:rPr kumimoji="1" lang="ja-JP" altLang="en-US" dirty="0">
                    <a:latin typeface="メイリオ" panose="020B0604030504040204" pitchFamily="50" charset="-128"/>
                    <a:ea typeface="メイリオ" panose="020B0604030504040204" pitchFamily="50" charset="-128"/>
                  </a:rPr>
                  <a:t>の</a:t>
                </a:r>
                <a:r>
                  <a:rPr kumimoji="1" lang="en-US" altLang="ja-JP" dirty="0" err="1">
                    <a:latin typeface="メイリオ" panose="020B0604030504040204" pitchFamily="50" charset="-128"/>
                    <a:ea typeface="メイリオ" panose="020B0604030504040204" pitchFamily="50" charset="-128"/>
                  </a:rPr>
                  <a:t>gini</a:t>
                </a:r>
                <a:r>
                  <a:rPr kumimoji="1" lang="ja-JP" altLang="en-US" dirty="0">
                    <a:latin typeface="メイリオ" panose="020B0604030504040204" pitchFamily="50" charset="-128"/>
                    <a:ea typeface="メイリオ" panose="020B0604030504040204" pitchFamily="50" charset="-128"/>
                  </a:rPr>
                  <a:t>係数：</a:t>
                </a:r>
                <a14:m>
                  <m:oMath xmlns:m="http://schemas.openxmlformats.org/officeDocument/2006/math">
                    <m:r>
                      <a:rPr kumimoji="1" lang="en-US" altLang="ja-JP" i="1">
                        <a:latin typeface="Cambria Math" panose="02040503050406030204" pitchFamily="18" charset="0"/>
                        <a:ea typeface="メイリオ" panose="020B0604030504040204" pitchFamily="50" charset="-128"/>
                      </a:rPr>
                      <m:t>1−</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10</m:t>
                                </m:r>
                              </m:num>
                              <m:den>
                                <m:r>
                                  <a:rPr kumimoji="1" lang="en-US" altLang="ja-JP" i="1">
                                    <a:latin typeface="Cambria Math" panose="02040503050406030204" pitchFamily="18" charset="0"/>
                                    <a:ea typeface="メイリオ" panose="020B0604030504040204" pitchFamily="50" charset="-128"/>
                                  </a:rPr>
                                  <m:t>45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m:t>
                    </m:r>
                    <m:sSup>
                      <m:sSupPr>
                        <m:ctrlPr>
                          <a:rPr kumimoji="1" lang="en-US" altLang="ja-JP" i="1">
                            <a:latin typeface="Cambria Math" panose="02040503050406030204" pitchFamily="18" charset="0"/>
                            <a:ea typeface="メイリオ" panose="020B0604030504040204" pitchFamily="50" charset="-128"/>
                          </a:rPr>
                        </m:ctrlPr>
                      </m:sSupPr>
                      <m:e>
                        <m:d>
                          <m:dPr>
                            <m:ctrlPr>
                              <a:rPr kumimoji="1" lang="en-US" altLang="ja-JP" i="1">
                                <a:latin typeface="Cambria Math" panose="02040503050406030204" pitchFamily="18" charset="0"/>
                                <a:ea typeface="メイリオ" panose="020B0604030504040204" pitchFamily="50" charset="-128"/>
                              </a:rPr>
                            </m:ctrlPr>
                          </m:dPr>
                          <m:e>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35</m:t>
                                </m:r>
                              </m:num>
                              <m:den>
                                <m:r>
                                  <a:rPr kumimoji="1" lang="en-US" altLang="ja-JP" i="1">
                                    <a:latin typeface="Cambria Math" panose="02040503050406030204" pitchFamily="18" charset="0"/>
                                    <a:ea typeface="メイリオ" panose="020B0604030504040204" pitchFamily="50" charset="-128"/>
                                  </a:rPr>
                                  <m:t>45</m:t>
                                </m:r>
                              </m:den>
                            </m:f>
                          </m:e>
                        </m:d>
                      </m:e>
                      <m:sup>
                        <m:r>
                          <a:rPr kumimoji="1" lang="en-US" altLang="ja-JP" i="1">
                            <a:latin typeface="Cambria Math" panose="02040503050406030204" pitchFamily="18" charset="0"/>
                            <a:ea typeface="メイリオ" panose="020B0604030504040204" pitchFamily="50" charset="-128"/>
                          </a:rPr>
                          <m:t>2</m:t>
                        </m:r>
                      </m:sup>
                    </m:sSup>
                    <m:r>
                      <a:rPr kumimoji="1" lang="en-US" altLang="ja-JP" i="1">
                        <a:latin typeface="Cambria Math" panose="02040503050406030204" pitchFamily="18" charset="0"/>
                        <a:ea typeface="メイリオ" panose="020B0604030504040204" pitchFamily="50" charset="-128"/>
                      </a:rPr>
                      <m:t>=0.35</m:t>
                    </m:r>
                  </m:oMath>
                </a14:m>
                <a:endParaRPr kumimoji="1" lang="ja-JP" altLang="en-US" dirty="0">
                  <a:latin typeface="メイリオ" panose="020B0604030504040204" pitchFamily="50" charset="-128"/>
                  <a:ea typeface="メイリオ" panose="020B0604030504040204" pitchFamily="50" charset="-128"/>
                </a:endParaRPr>
              </a:p>
            </p:txBody>
          </p:sp>
        </mc:Choice>
        <mc:Fallback xmlns="">
          <p:sp>
            <p:nvSpPr>
              <p:cNvPr id="34" name="テキスト ボックス 33">
                <a:extLst>
                  <a:ext uri="{FF2B5EF4-FFF2-40B4-BE49-F238E27FC236}">
                    <a16:creationId xmlns:a16="http://schemas.microsoft.com/office/drawing/2014/main" id="{12FDAB42-FD0B-4EA9-A8B0-0D7F4D55B93E}"/>
                  </a:ext>
                </a:extLst>
              </p:cNvPr>
              <p:cNvSpPr txBox="1">
                <a:spLocks noRot="1" noChangeAspect="1" noMove="1" noResize="1" noEditPoints="1" noAdjustHandles="1" noChangeArrowheads="1" noChangeShapeType="1" noTextEdit="1"/>
              </p:cNvSpPr>
              <p:nvPr/>
            </p:nvSpPr>
            <p:spPr>
              <a:xfrm>
                <a:off x="6200710" y="4975517"/>
                <a:ext cx="4547079" cy="561564"/>
              </a:xfrm>
              <a:prstGeom prst="rect">
                <a:avLst/>
              </a:prstGeom>
              <a:blipFill>
                <a:blip r:embed="rId6"/>
                <a:stretch>
                  <a:fillRect l="-1072" b="-97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0D93B495-6D60-4F09-9B1B-CFEE5EE130B1}"/>
                  </a:ext>
                </a:extLst>
              </p:cNvPr>
              <p:cNvSpPr txBox="1"/>
              <p:nvPr/>
            </p:nvSpPr>
            <p:spPr>
              <a:xfrm>
                <a:off x="6306690" y="5690610"/>
                <a:ext cx="4119013" cy="397353"/>
              </a:xfrm>
              <a:prstGeom prst="rect">
                <a:avLst/>
              </a:prstGeom>
              <a:noFill/>
            </p:spPr>
            <p:txBody>
              <a:bodyPr wrap="none" lIns="0" tIns="0" rIns="0" bIns="0" rtlCol="0">
                <a:spAutoFit/>
              </a:bodyPr>
              <a:lstStyle/>
              <a:p>
                <a:pPr algn="l"/>
                <a14:m>
                  <m:oMath xmlns:m="http://schemas.openxmlformats.org/officeDocument/2006/math">
                    <m:r>
                      <a:rPr kumimoji="1" lang="en-US" altLang="ja-JP" i="1">
                        <a:latin typeface="Cambria Math" panose="02040503050406030204" pitchFamily="18" charset="0"/>
                        <a:ea typeface="メイリオ" panose="020B0604030504040204" pitchFamily="50" charset="-128"/>
                      </a:rPr>
                      <m:t>𝑔𝑖𝑛𝑖</m:t>
                    </m:r>
                  </m:oMath>
                </a14:m>
                <a:r>
                  <a:rPr kumimoji="1" lang="ja-JP" altLang="en-US" dirty="0">
                    <a:latin typeface="メイリオ" panose="020B0604030504040204" pitchFamily="50" charset="-128"/>
                    <a:ea typeface="メイリオ" panose="020B0604030504040204" pitchFamily="50" charset="-128"/>
                  </a:rPr>
                  <a:t>平均：</a:t>
                </a:r>
                <a14:m>
                  <m:oMath xmlns:m="http://schemas.openxmlformats.org/officeDocument/2006/math">
                    <m:f>
                      <m:fPr>
                        <m:ctrlPr>
                          <a:rPr kumimoji="1" lang="en-US" altLang="ja-JP" i="1">
                            <a:latin typeface="Cambria Math" panose="02040503050406030204" pitchFamily="18" charset="0"/>
                            <a:ea typeface="メイリオ" panose="020B0604030504040204" pitchFamily="50" charset="-128"/>
                          </a:rPr>
                        </m:ctrlPr>
                      </m:fPr>
                      <m:num>
                        <m:r>
                          <a:rPr kumimoji="1" lang="en-US" altLang="ja-JP" i="1">
                            <a:latin typeface="Cambria Math" panose="02040503050406030204" pitchFamily="18" charset="0"/>
                            <a:ea typeface="メイリオ" panose="020B0604030504040204" pitchFamily="50" charset="-128"/>
                          </a:rPr>
                          <m:t>55</m:t>
                        </m:r>
                      </m:num>
                      <m:den>
                        <m:r>
                          <a:rPr kumimoji="1" lang="en-US" altLang="ja-JP" i="1">
                            <a:latin typeface="Cambria Math" panose="02040503050406030204" pitchFamily="18" charset="0"/>
                            <a:ea typeface="メイリオ" panose="020B0604030504040204" pitchFamily="50" charset="-128"/>
                          </a:rPr>
                          <m:t>100</m:t>
                        </m:r>
                      </m:den>
                    </m:f>
                    <m:r>
                      <a:rPr kumimoji="1" lang="en-US" altLang="ja-JP" i="1">
                        <a:latin typeface="Cambria Math" panose="02040503050406030204" pitchFamily="18" charset="0"/>
                        <a:ea typeface="Cambria Math" panose="02040503050406030204" pitchFamily="18" charset="0"/>
                      </a:rPr>
                      <m:t>×0.40+</m:t>
                    </m:r>
                    <m:f>
                      <m:fPr>
                        <m:ctrlPr>
                          <a:rPr kumimoji="1" lang="en-US" altLang="ja-JP" i="1">
                            <a:latin typeface="Cambria Math" panose="02040503050406030204" pitchFamily="18" charset="0"/>
                            <a:ea typeface="Cambria Math" panose="02040503050406030204" pitchFamily="18" charset="0"/>
                          </a:rPr>
                        </m:ctrlPr>
                      </m:fPr>
                      <m:num>
                        <m:r>
                          <a:rPr kumimoji="1" lang="en-US" altLang="ja-JP" i="1">
                            <a:latin typeface="Cambria Math" panose="02040503050406030204" pitchFamily="18" charset="0"/>
                            <a:ea typeface="Cambria Math" panose="02040503050406030204" pitchFamily="18" charset="0"/>
                          </a:rPr>
                          <m:t>45</m:t>
                        </m:r>
                      </m:num>
                      <m:den>
                        <m:r>
                          <a:rPr kumimoji="1" lang="en-US" altLang="ja-JP" i="1">
                            <a:latin typeface="Cambria Math" panose="02040503050406030204" pitchFamily="18" charset="0"/>
                            <a:ea typeface="Cambria Math" panose="02040503050406030204" pitchFamily="18" charset="0"/>
                          </a:rPr>
                          <m:t>100</m:t>
                        </m:r>
                      </m:den>
                    </m:f>
                    <m:r>
                      <a:rPr kumimoji="1" lang="en-US" altLang="ja-JP" i="1">
                        <a:latin typeface="Cambria Math" panose="02040503050406030204" pitchFamily="18" charset="0"/>
                        <a:ea typeface="Cambria Math" panose="02040503050406030204" pitchFamily="18" charset="0"/>
                      </a:rPr>
                      <m:t>×0.35=0.38</m:t>
                    </m:r>
                  </m:oMath>
                </a14:m>
                <a:endParaRPr kumimoji="1" lang="ja-JP" altLang="en-US" dirty="0">
                  <a:latin typeface="メイリオ" panose="020B0604030504040204" pitchFamily="50" charset="-128"/>
                  <a:ea typeface="メイリオ" panose="020B0604030504040204" pitchFamily="50" charset="-128"/>
                </a:endParaRPr>
              </a:p>
            </p:txBody>
          </p:sp>
        </mc:Choice>
        <mc:Fallback xmlns="">
          <p:sp>
            <p:nvSpPr>
              <p:cNvPr id="35" name="テキスト ボックス 34">
                <a:extLst>
                  <a:ext uri="{FF2B5EF4-FFF2-40B4-BE49-F238E27FC236}">
                    <a16:creationId xmlns:a16="http://schemas.microsoft.com/office/drawing/2014/main" id="{0D93B495-6D60-4F09-9B1B-CFEE5EE130B1}"/>
                  </a:ext>
                </a:extLst>
              </p:cNvPr>
              <p:cNvSpPr txBox="1">
                <a:spLocks noRot="1" noChangeAspect="1" noMove="1" noResize="1" noEditPoints="1" noAdjustHandles="1" noChangeArrowheads="1" noChangeShapeType="1" noTextEdit="1"/>
              </p:cNvSpPr>
              <p:nvPr/>
            </p:nvSpPr>
            <p:spPr>
              <a:xfrm>
                <a:off x="6306690" y="5690610"/>
                <a:ext cx="4119013" cy="397353"/>
              </a:xfrm>
              <a:prstGeom prst="rect">
                <a:avLst/>
              </a:prstGeom>
              <a:blipFill>
                <a:blip r:embed="rId7"/>
                <a:stretch>
                  <a:fillRect l="-2667" t="-1515" r="-1481" b="-25758"/>
                </a:stretch>
              </a:blipFill>
            </p:spPr>
            <p:txBody>
              <a:bodyPr/>
              <a:lstStyle/>
              <a:p>
                <a:r>
                  <a:rPr lang="ja-JP" altLang="en-US">
                    <a:noFill/>
                  </a:rPr>
                  <a:t> </a:t>
                </a:r>
              </a:p>
            </p:txBody>
          </p:sp>
        </mc:Fallback>
      </mc:AlternateContent>
      <p:sp>
        <p:nvSpPr>
          <p:cNvPr id="36" name="テキスト ボックス 35">
            <a:extLst>
              <a:ext uri="{FF2B5EF4-FFF2-40B4-BE49-F238E27FC236}">
                <a16:creationId xmlns:a16="http://schemas.microsoft.com/office/drawing/2014/main" id="{A293858D-E130-4021-98DE-6459645CFD04}"/>
              </a:ext>
            </a:extLst>
          </p:cNvPr>
          <p:cNvSpPr txBox="1"/>
          <p:nvPr/>
        </p:nvSpPr>
        <p:spPr>
          <a:xfrm>
            <a:off x="3780214" y="6309961"/>
            <a:ext cx="5109091"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卵で判別したほうが純度が高くなる</a:t>
            </a:r>
          </a:p>
        </p:txBody>
      </p:sp>
      <p:sp>
        <p:nvSpPr>
          <p:cNvPr id="5" name="テキスト ボックス 4">
            <a:extLst>
              <a:ext uri="{FF2B5EF4-FFF2-40B4-BE49-F238E27FC236}">
                <a16:creationId xmlns:a16="http://schemas.microsoft.com/office/drawing/2014/main" id="{1D5BA210-9A03-11C2-9AF7-9B12AE2A2717}"/>
              </a:ext>
            </a:extLst>
          </p:cNvPr>
          <p:cNvSpPr txBox="1"/>
          <p:nvPr/>
        </p:nvSpPr>
        <p:spPr>
          <a:xfrm>
            <a:off x="2624004" y="3069217"/>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A956CA31-11C2-1EA5-297C-006D2184A92D}"/>
              </a:ext>
            </a:extLst>
          </p:cNvPr>
          <p:cNvSpPr txBox="1"/>
          <p:nvPr/>
        </p:nvSpPr>
        <p:spPr>
          <a:xfrm>
            <a:off x="4063581" y="3049711"/>
            <a:ext cx="9387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a:t>
            </a:r>
            <a:endParaRPr kumimoji="1" lang="ja-JP" altLang="en-US"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5A879C4-7E98-A68B-43B5-E33133D11F3D}"/>
              </a:ext>
            </a:extLst>
          </p:cNvPr>
          <p:cNvSpPr txBox="1"/>
          <p:nvPr/>
        </p:nvSpPr>
        <p:spPr>
          <a:xfrm>
            <a:off x="7419939" y="2989777"/>
            <a:ext cx="84568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True</a:t>
            </a:r>
            <a:endParaRPr kumimoji="1" lang="ja-JP" altLang="en-US" sz="2400"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C7EFF37C-498B-CEE2-93D8-30219278561D}"/>
              </a:ext>
            </a:extLst>
          </p:cNvPr>
          <p:cNvSpPr txBox="1"/>
          <p:nvPr/>
        </p:nvSpPr>
        <p:spPr>
          <a:xfrm>
            <a:off x="8859516" y="2970271"/>
            <a:ext cx="9387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False</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109073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73B8368-050E-5188-6D5C-DA27BC0292EC}"/>
              </a:ext>
            </a:extLst>
          </p:cNvPr>
          <p:cNvSpPr txBox="1"/>
          <p:nvPr/>
        </p:nvSpPr>
        <p:spPr>
          <a:xfrm>
            <a:off x="718457" y="522514"/>
            <a:ext cx="1261884" cy="523220"/>
          </a:xfrm>
          <a:prstGeom prst="rect">
            <a:avLst/>
          </a:prstGeom>
          <a:noFill/>
        </p:spPr>
        <p:txBody>
          <a:bodyPr wrap="none" rtlCol="0">
            <a:spAutoFit/>
          </a:bodyPr>
          <a:lstStyle/>
          <a:p>
            <a:pPr algn="l"/>
            <a:r>
              <a:rPr kumimoji="1" lang="ja-JP" altLang="en-US" sz="2800" dirty="0">
                <a:latin typeface="メイリオ" panose="020B0604030504040204" pitchFamily="50" charset="-128"/>
                <a:ea typeface="メイリオ" panose="020B0604030504040204" pitchFamily="50" charset="-128"/>
              </a:rPr>
              <a:t>独り言</a:t>
            </a:r>
          </a:p>
        </p:txBody>
      </p:sp>
      <p:sp>
        <p:nvSpPr>
          <p:cNvPr id="3" name="テキスト ボックス 2">
            <a:extLst>
              <a:ext uri="{FF2B5EF4-FFF2-40B4-BE49-F238E27FC236}">
                <a16:creationId xmlns:a16="http://schemas.microsoft.com/office/drawing/2014/main" id="{CFD9396E-6FB5-1F6D-413F-8E9E9467878C}"/>
              </a:ext>
            </a:extLst>
          </p:cNvPr>
          <p:cNvSpPr txBox="1"/>
          <p:nvPr/>
        </p:nvSpPr>
        <p:spPr>
          <a:xfrm>
            <a:off x="1826453" y="2556015"/>
            <a:ext cx="8081865"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純度基準に基づく判別をニューラルネットワークの活性化関数に使うことはできるだろうか</a:t>
            </a:r>
          </a:p>
        </p:txBody>
      </p:sp>
    </p:spTree>
    <p:extLst>
      <p:ext uri="{BB962C8B-B14F-4D97-AF65-F5344CB8AC3E}">
        <p14:creationId xmlns:p14="http://schemas.microsoft.com/office/powerpoint/2010/main" val="3759424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kumimoji="1" sz="2400" dirty="0" smtClean="0">
            <a:latin typeface="メイリオ" panose="020B0604030504040204" pitchFamily="50" charset="-128"/>
            <a:ea typeface="メイリオ" panose="020B0604030504040204" pitchFamily="50" charset="-128"/>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34272</TotalTime>
  <Words>3828</Words>
  <Application>Microsoft Office PowerPoint</Application>
  <PresentationFormat>ワイド画面</PresentationFormat>
  <Paragraphs>851</Paragraphs>
  <Slides>49</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49</vt:i4>
      </vt:variant>
    </vt:vector>
  </HeadingPairs>
  <TitlesOfParts>
    <vt:vector size="57" baseType="lpstr">
      <vt:lpstr>メイリオ</vt:lpstr>
      <vt:lpstr>游ゴシック</vt:lpstr>
      <vt:lpstr>Arial</vt:lpstr>
      <vt:lpstr>Calibri</vt:lpstr>
      <vt:lpstr>Calibri Light</vt:lpstr>
      <vt:lpstr>Cambria Math</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hiroshi uehara</dc:creator>
  <cp:lastModifiedBy>Hiroshi Uehara</cp:lastModifiedBy>
  <cp:revision>944</cp:revision>
  <dcterms:created xsi:type="dcterms:W3CDTF">2017-07-18T05:09:25Z</dcterms:created>
  <dcterms:modified xsi:type="dcterms:W3CDTF">2026-10-07T14:16:25Z</dcterms:modified>
</cp:coreProperties>
</file>